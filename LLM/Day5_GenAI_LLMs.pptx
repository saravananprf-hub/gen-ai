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731520" y="2103120"/>
            <a:ext cx="10515600" cy="365760"/>
          </a:xfrm>
          <a:prstGeom prst="rect">
            <a:avLst/>
          </a:prstGeom>
          <a:noFill/>
          <a:ln/>
        </p:spPr>
        <p:txBody>
          <a:bodyPr wrap="square" lIns="0" tIns="0" rIns="0" bIns="0" rtlCol="0" anchor="ctr"/>
          <a:lstStyle/>
          <a:p>
            <a:pPr indent="0" marL="0">
              <a:buNone/>
            </a:pPr>
            <a:r>
              <a:rPr lang="en-US" sz="1400" b="1" spc="300" kern="0" dirty="0">
                <a:solidFill>
                  <a:srgbClr val="FFB627"/>
                </a:solidFill>
                <a:latin typeface="Calibri" pitchFamily="34" charset="0"/>
                <a:ea typeface="Calibri" pitchFamily="34" charset="-122"/>
                <a:cs typeface="Calibri" pitchFamily="34" charset="-120"/>
              </a:rPr>
              <a:t>DAY 5  ·  CAPGEMINI AI GROOMING</a:t>
            </a:r>
            <a:endParaRPr lang="en-US" sz="1400" dirty="0"/>
          </a:p>
        </p:txBody>
      </p:sp>
      <p:sp>
        <p:nvSpPr>
          <p:cNvPr id="3" name="Text 1"/>
          <p:cNvSpPr txBox="1"/>
          <p:nvPr/>
        </p:nvSpPr>
        <p:spPr>
          <a:xfrm>
            <a:off x="731520" y="2514600"/>
            <a:ext cx="1051560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GenAI &amp; LLMs</a:t>
            </a:r>
            <a:endParaRPr lang="en-US" sz="5400" dirty="0"/>
          </a:p>
        </p:txBody>
      </p:sp>
      <p:sp>
        <p:nvSpPr>
          <p:cNvPr id="4" name="Text 2"/>
          <p:cNvSpPr txBox="1"/>
          <p:nvPr/>
        </p:nvSpPr>
        <p:spPr>
          <a:xfrm>
            <a:off x="731520" y="3703320"/>
            <a:ext cx="8961120" cy="731520"/>
          </a:xfrm>
          <a:prstGeom prst="rect">
            <a:avLst/>
          </a:prstGeom>
          <a:noFill/>
          <a:ln/>
        </p:spPr>
        <p:txBody>
          <a:bodyPr wrap="square" lIns="0" tIns="0" rIns="0" bIns="0" rtlCol="0" anchor="ctr"/>
          <a:lstStyle/>
          <a:p>
            <a:pPr indent="0" marL="0">
              <a:lnSpc>
                <a:spcPct val="130000"/>
              </a:lnSpc>
              <a:buNone/>
            </a:pPr>
            <a:r>
              <a:rPr lang="en-US" sz="1500" i="1" dirty="0">
                <a:solidFill>
                  <a:srgbClr val="D8DEEA"/>
                </a:solidFill>
                <a:latin typeface="Calibri" pitchFamily="34" charset="0"/>
                <a:ea typeface="Calibri" pitchFamily="34" charset="-122"/>
                <a:cs typeface="Calibri" pitchFamily="34" charset="-120"/>
              </a:rPr>
              <a:t>How models like ChatGPT and Claude actually generate text — one word at a time — and where that approach breaks down.</a:t>
            </a:r>
            <a:endParaRPr lang="en-US" sz="1500" dirty="0"/>
          </a:p>
        </p:txBody>
      </p:sp>
      <p:sp>
        <p:nvSpPr>
          <p:cNvPr id="5" name="Text 3"/>
          <p:cNvSpPr txBox="1"/>
          <p:nvPr/>
        </p:nvSpPr>
        <p:spPr>
          <a:xfrm>
            <a:off x="731520" y="6035040"/>
            <a:ext cx="7315200" cy="365760"/>
          </a:xfrm>
          <a:prstGeom prst="rect">
            <a:avLst/>
          </a:prstGeom>
          <a:noFill/>
          <a:ln/>
        </p:spPr>
        <p:txBody>
          <a:bodyPr wrap="square" lIns="0" tIns="0" rIns="0" bIns="0" rtlCol="0" anchor="ctr"/>
          <a:lstStyle/>
          <a:p>
            <a:pPr indent="0" marL="0">
              <a:buNone/>
            </a:pPr>
            <a:r>
              <a:rPr lang="en-US" sz="1200" spc="100" kern="0" dirty="0">
                <a:solidFill>
                  <a:srgbClr val="D8DEEA"/>
                </a:solidFill>
                <a:latin typeface="Calibri" pitchFamily="34" charset="0"/>
                <a:ea typeface="Calibri" pitchFamily="34" charset="-122"/>
                <a:cs typeface="Calibri" pitchFamily="34" charset="-120"/>
              </a:rPr>
              <a:t>6 Hours · 3 Sessions · AI Literacy Track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1371600" cy="1097280"/>
          </a:xfrm>
          <a:prstGeom prst="rect">
            <a:avLst/>
          </a:prstGeom>
          <a:noFill/>
          <a:ln/>
        </p:spPr>
        <p:txBody>
          <a:bodyPr wrap="square" lIns="0" tIns="0" rIns="0" bIns="0" rtlCol="0" anchor="ctr"/>
          <a:lstStyle/>
          <a:p>
            <a:pPr indent="0" marL="0">
              <a:buNone/>
            </a:pPr>
            <a:r>
              <a:rPr lang="en-US" sz="6000" b="1" dirty="0">
                <a:solidFill>
                  <a:srgbClr val="D8DEEA"/>
                </a:solidFill>
                <a:latin typeface="Cambria" pitchFamily="34" charset="0"/>
                <a:ea typeface="Cambria" pitchFamily="34" charset="-122"/>
                <a:cs typeface="Cambria" pitchFamily="34" charset="-120"/>
              </a:rPr>
              <a:t>1</a:t>
            </a:r>
            <a:endParaRPr lang="en-US" sz="6000" dirty="0"/>
          </a:p>
        </p:txBody>
      </p:sp>
      <p:sp>
        <p:nvSpPr>
          <p:cNvPr id="3" name="Text 1"/>
          <p:cNvSpPr txBox="1"/>
          <p:nvPr/>
        </p:nvSpPr>
        <p:spPr>
          <a:xfrm>
            <a:off x="548640" y="1417320"/>
            <a:ext cx="8229600" cy="320040"/>
          </a:xfrm>
          <a:prstGeom prst="rect">
            <a:avLst/>
          </a:prstGeom>
          <a:noFill/>
          <a:ln/>
        </p:spPr>
        <p:txBody>
          <a:bodyPr wrap="square" lIns="0" tIns="0" rIns="0" bIns="0" rtlCol="0" anchor="ctr"/>
          <a:lstStyle/>
          <a:p>
            <a:pPr indent="0" marL="0">
              <a:buNone/>
            </a:pPr>
            <a:r>
              <a:rPr lang="en-US" sz="1300" b="1" spc="200" kern="0" dirty="0">
                <a:solidFill>
                  <a:srgbClr val="FFB627"/>
                </a:solidFill>
                <a:latin typeface="Calibri" pitchFamily="34" charset="0"/>
                <a:ea typeface="Calibri" pitchFamily="34" charset="-122"/>
                <a:cs typeface="Calibri" pitchFamily="34" charset="-120"/>
              </a:rPr>
              <a:t>SESSION 1  ·  2 Hours</a:t>
            </a:r>
            <a:endParaRPr lang="en-US" sz="1300" dirty="0"/>
          </a:p>
        </p:txBody>
      </p:sp>
      <p:sp>
        <p:nvSpPr>
          <p:cNvPr id="4" name="Text 2"/>
          <p:cNvSpPr txBox="1"/>
          <p:nvPr/>
        </p:nvSpPr>
        <p:spPr>
          <a:xfrm>
            <a:off x="548640" y="1783080"/>
            <a:ext cx="10058400" cy="822960"/>
          </a:xfrm>
          <a:prstGeom prst="rect">
            <a:avLst/>
          </a:prstGeom>
          <a:noFill/>
          <a:ln/>
        </p:spPr>
        <p:txBody>
          <a:bodyPr wrap="square" lIns="0" tIns="0" rIns="0" bIns="0"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What GenAI Actually Is</a:t>
            </a:r>
            <a:endParaRPr lang="en-US" sz="2800" dirty="0"/>
          </a:p>
        </p:txBody>
      </p:sp>
      <p:sp>
        <p:nvSpPr>
          <p:cNvPr id="5" name="Shape 3"/>
          <p:cNvSpPr/>
          <p:nvPr/>
        </p:nvSpPr>
        <p:spPr>
          <a:xfrm>
            <a:off x="548640" y="2834640"/>
            <a:ext cx="11091672" cy="2194560"/>
          </a:xfrm>
          <a:prstGeom prst="roundRect">
            <a:avLst>
              <a:gd name="adj" fmla="val 2500"/>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6" name="Text 4"/>
          <p:cNvSpPr txBox="1"/>
          <p:nvPr/>
        </p:nvSpPr>
        <p:spPr>
          <a:xfrm>
            <a:off x="868680" y="3063240"/>
            <a:ext cx="5486400" cy="320040"/>
          </a:xfrm>
          <a:prstGeom prst="rect">
            <a:avLst/>
          </a:prstGeom>
          <a:noFill/>
          <a:ln/>
        </p:spPr>
        <p:txBody>
          <a:bodyPr wrap="square" lIns="0" tIns="0" rIns="0" bIns="0" rtlCol="0" anchor="ctr"/>
          <a:lstStyle/>
          <a:p>
            <a:pPr indent="0" marL="0">
              <a:buNone/>
            </a:pPr>
            <a:r>
              <a:rPr lang="en-US" sz="1400" b="1" dirty="0">
                <a:solidFill>
                  <a:srgbClr val="FFB627"/>
                </a:solidFill>
                <a:latin typeface="Calibri" pitchFamily="34" charset="0"/>
                <a:ea typeface="Calibri" pitchFamily="34" charset="-122"/>
                <a:cs typeface="Calibri" pitchFamily="34" charset="-120"/>
              </a:rPr>
              <a:t>QUICK RECAP — WHERE WE LEFT OFF</a:t>
            </a:r>
            <a:endParaRPr lang="en-US" sz="1400" dirty="0"/>
          </a:p>
        </p:txBody>
      </p:sp>
      <p:sp>
        <p:nvSpPr>
          <p:cNvPr id="7" name="Text 5"/>
          <p:cNvSpPr txBox="1"/>
          <p:nvPr/>
        </p:nvSpPr>
        <p:spPr>
          <a:xfrm>
            <a:off x="868680" y="3520440"/>
            <a:ext cx="10424160" cy="548640"/>
          </a:xfrm>
          <a:prstGeom prst="rect">
            <a:avLst/>
          </a:prstGeom>
          <a:noFill/>
          <a:ln/>
        </p:spPr>
        <p:txBody>
          <a:bodyPr wrap="square" lIns="0" tIns="0" rIns="0" bIns="0" rtlCol="0" anchor="t"/>
          <a:lstStyle/>
          <a:p>
            <a:pPr algn="l" indent="0" marL="0">
              <a:lnSpc>
                <a:spcPct val="125000"/>
              </a:lnSpc>
              <a:buNone/>
            </a:pPr>
            <a:r>
              <a:rPr lang="en-US" sz="1400" dirty="0">
                <a:solidFill>
                  <a:srgbClr val="1B2A4A"/>
                </a:solidFill>
                <a:latin typeface="Calibri" pitchFamily="34" charset="0"/>
                <a:ea typeface="Calibri" pitchFamily="34" charset="-122"/>
                <a:cs typeface="Calibri" pitchFamily="34" charset="-120"/>
              </a:rPr>
              <a:t>Day 4 recap: ML learns from features and a label to predict ONE outcome — a category or a number, like approve/reject.</a:t>
            </a:r>
            <a:endParaRPr lang="en-US" sz="1400" dirty="0"/>
          </a:p>
        </p:txBody>
      </p:sp>
      <p:sp>
        <p:nvSpPr>
          <p:cNvPr id="8" name="Text 6"/>
          <p:cNvSpPr txBox="1"/>
          <p:nvPr/>
        </p:nvSpPr>
        <p:spPr>
          <a:xfrm>
            <a:off x="868680" y="4087368"/>
            <a:ext cx="10424160" cy="548640"/>
          </a:xfrm>
          <a:prstGeom prst="rect">
            <a:avLst/>
          </a:prstGeom>
          <a:noFill/>
          <a:ln/>
        </p:spPr>
        <p:txBody>
          <a:bodyPr wrap="square" lIns="0" tIns="0" rIns="0" bIns="0" rtlCol="0" anchor="t"/>
          <a:lstStyle/>
          <a:p>
            <a:pPr algn="l" indent="0" marL="0">
              <a:lnSpc>
                <a:spcPct val="125000"/>
              </a:lnSpc>
              <a:buNone/>
            </a:pPr>
            <a:r>
              <a:rPr lang="en-US" sz="1400" dirty="0">
                <a:solidFill>
                  <a:srgbClr val="1B2A4A"/>
                </a:solidFill>
                <a:latin typeface="Calibri" pitchFamily="34" charset="0"/>
                <a:ea typeface="Calibri" pitchFamily="34" charset="-122"/>
                <a:cs typeface="Calibri" pitchFamily="34" charset="-120"/>
              </a:rPr>
              <a:t>Today: what happens when the model generates brand-new text instead of picking one label? That's Generative AI.</a:t>
            </a:r>
            <a:endParaRPr lang="en-US" sz="1400" dirty="0"/>
          </a:p>
        </p:txBody>
      </p:sp>
      <p:sp>
        <p:nvSpPr>
          <p:cNvPr id="9" name="Text 7"/>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GenAI &amp; LLMs · Day 4 recap</a:t>
            </a:r>
            <a:endParaRPr lang="en-US" sz="900" dirty="0"/>
          </a:p>
        </p:txBody>
      </p:sp>
      <p:sp>
        <p:nvSpPr>
          <p:cNvPr id="10" name="Text 8"/>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GENAI VS. WHAT YOU LEARNED ON DAY 4</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One Prediction vs. New Text, Word By Word</a:t>
            </a:r>
            <a:endParaRPr lang="en-US" sz="3000" dirty="0"/>
          </a:p>
        </p:txBody>
      </p:sp>
      <p:sp>
        <p:nvSpPr>
          <p:cNvPr id="4" name="Shape 2"/>
          <p:cNvSpPr/>
          <p:nvPr/>
        </p:nvSpPr>
        <p:spPr>
          <a:xfrm>
            <a:off x="548640" y="1828800"/>
            <a:ext cx="5349240" cy="1737360"/>
          </a:xfrm>
          <a:prstGeom prst="roundRect">
            <a:avLst>
              <a:gd name="adj" fmla="val 3158"/>
            </a:avLst>
          </a:prstGeom>
          <a:solidFill>
            <a:srgbClr val="FFFFFF"/>
          </a:solidFill>
          <a:ln w="19050">
            <a:solidFill>
              <a:srgbClr val="5B6B87"/>
            </a:solidFill>
            <a:prstDash val="solid"/>
          </a:ln>
          <a:effectLst>
            <a:outerShdw sx="100000" sy="100000" kx="0" ky="0" algn="bl" rotWithShape="0" blurRad="50800" dist="19050" dir="5400000">
              <a:srgbClr val="1B2A4A">
                <a:alpha val="12000"/>
              </a:srgbClr>
            </a:outerShdw>
          </a:effectLst>
        </p:spPr>
      </p:sp>
      <p:sp>
        <p:nvSpPr>
          <p:cNvPr id="5" name="Text 3"/>
          <p:cNvSpPr txBox="1"/>
          <p:nvPr/>
        </p:nvSpPr>
        <p:spPr>
          <a:xfrm>
            <a:off x="822960" y="1965960"/>
            <a:ext cx="4572000" cy="320040"/>
          </a:xfrm>
          <a:prstGeom prst="rect">
            <a:avLst/>
          </a:prstGeom>
          <a:noFill/>
          <a:ln/>
        </p:spPr>
        <p:txBody>
          <a:bodyPr wrap="square" lIns="0" tIns="0" rIns="0" bIns="0" rtlCol="0" anchor="ctr"/>
          <a:lstStyle/>
          <a:p>
            <a:pPr indent="0" marL="0">
              <a:buNone/>
            </a:pPr>
            <a:r>
              <a:rPr lang="en-US" sz="1400" b="1" dirty="0">
                <a:solidFill>
                  <a:srgbClr val="5B6B87"/>
                </a:solidFill>
                <a:latin typeface="Calibri" pitchFamily="34" charset="0"/>
                <a:ea typeface="Calibri" pitchFamily="34" charset="-122"/>
                <a:cs typeface="Calibri" pitchFamily="34" charset="-120"/>
              </a:rPr>
              <a:t>DAY 4 · MACHINE LEARNING</a:t>
            </a:r>
            <a:endParaRPr lang="en-US" sz="1400" dirty="0"/>
          </a:p>
        </p:txBody>
      </p:sp>
      <p:sp>
        <p:nvSpPr>
          <p:cNvPr id="6" name="Text 4"/>
          <p:cNvSpPr txBox="1"/>
          <p:nvPr/>
        </p:nvSpPr>
        <p:spPr>
          <a:xfrm>
            <a:off x="822960" y="2377440"/>
            <a:ext cx="4846320" cy="1097280"/>
          </a:xfrm>
          <a:prstGeom prst="rect">
            <a:avLst/>
          </a:prstGeom>
          <a:noFill/>
          <a:ln/>
        </p:spPr>
        <p:txBody>
          <a:bodyPr wrap="square" lIns="0" tIns="0" rIns="0" bIns="0" rtlCol="0" anchor="t"/>
          <a:lstStyle/>
          <a:p>
            <a:pPr algn="l" indent="0" marL="0">
              <a:lnSpc>
                <a:spcPct val="140000"/>
              </a:lnSpc>
              <a:buNone/>
            </a:pPr>
            <a:r>
              <a:rPr lang="en-US" sz="1350" dirty="0">
                <a:solidFill>
                  <a:srgbClr val="1B2A4A"/>
                </a:solidFill>
                <a:latin typeface="Calibri" pitchFamily="34" charset="0"/>
                <a:ea typeface="Calibri" pitchFamily="34" charset="-122"/>
                <a:cs typeface="Calibri" pitchFamily="34" charset="-120"/>
              </a:rPr>
              <a:t>Features In  →  ONE Prediction Out</a:t>
            </a:r>
            <a:endParaRPr lang="en-US" sz="1350" dirty="0"/>
          </a:p>
          <a:p>
            <a:pPr algn="l" indent="0" marL="0">
              <a:lnSpc>
                <a:spcPct val="140000"/>
              </a:lnSpc>
              <a:buNone/>
            </a:pPr>
            <a:r>
              <a:rPr lang="en-US" sz="1350" dirty="0">
                <a:solidFill>
                  <a:srgbClr val="1B2A4A"/>
                </a:solidFill>
                <a:latin typeface="Calibri" pitchFamily="34" charset="0"/>
                <a:ea typeface="Calibri" pitchFamily="34" charset="-122"/>
                <a:cs typeface="Calibri" pitchFamily="34" charset="-120"/>
              </a:rPr>
              <a:t>(e.g. “Approve” or “Reject” — picks from a fixed set of answers)</a:t>
            </a:r>
            <a:endParaRPr lang="en-US" sz="1350" dirty="0"/>
          </a:p>
        </p:txBody>
      </p:sp>
      <p:sp>
        <p:nvSpPr>
          <p:cNvPr id="7" name="Shape 5"/>
          <p:cNvSpPr/>
          <p:nvPr/>
        </p:nvSpPr>
        <p:spPr>
          <a:xfrm>
            <a:off x="6126480" y="1828800"/>
            <a:ext cx="5349240" cy="1737360"/>
          </a:xfrm>
          <a:prstGeom prst="roundRect">
            <a:avLst>
              <a:gd name="adj" fmla="val 3158"/>
            </a:avLst>
          </a:prstGeom>
          <a:solidFill>
            <a:srgbClr val="FFFFFF"/>
          </a:solidFill>
          <a:ln w="19050">
            <a:solidFill>
              <a:srgbClr val="FFB627"/>
            </a:solidFill>
            <a:prstDash val="solid"/>
          </a:ln>
          <a:effectLst>
            <a:outerShdw sx="100000" sy="100000" kx="0" ky="0" algn="bl" rotWithShape="0" blurRad="50800" dist="19050" dir="5400000">
              <a:srgbClr val="1B2A4A">
                <a:alpha val="12000"/>
              </a:srgbClr>
            </a:outerShdw>
          </a:effectLst>
        </p:spPr>
      </p:sp>
      <p:sp>
        <p:nvSpPr>
          <p:cNvPr id="8" name="Text 6"/>
          <p:cNvSpPr txBox="1"/>
          <p:nvPr/>
        </p:nvSpPr>
        <p:spPr>
          <a:xfrm>
            <a:off x="6400800" y="1965960"/>
            <a:ext cx="4572000" cy="320040"/>
          </a:xfrm>
          <a:prstGeom prst="rect">
            <a:avLst/>
          </a:prstGeom>
          <a:noFill/>
          <a:ln/>
        </p:spPr>
        <p:txBody>
          <a:bodyPr wrap="square" lIns="0" tIns="0" rIns="0" bIns="0" rtlCol="0" anchor="ctr"/>
          <a:lstStyle/>
          <a:p>
            <a:pPr indent="0" marL="0">
              <a:buNone/>
            </a:pPr>
            <a:r>
              <a:rPr lang="en-US" sz="1400" b="1" dirty="0">
                <a:solidFill>
                  <a:srgbClr val="FFB627"/>
                </a:solidFill>
                <a:latin typeface="Calibri" pitchFamily="34" charset="0"/>
                <a:ea typeface="Calibri" pitchFamily="34" charset="-122"/>
                <a:cs typeface="Calibri" pitchFamily="34" charset="-120"/>
              </a:rPr>
              <a:t>TODAY · GENERATIVE AI</a:t>
            </a:r>
            <a:endParaRPr lang="en-US" sz="1400" dirty="0"/>
          </a:p>
        </p:txBody>
      </p:sp>
      <p:sp>
        <p:nvSpPr>
          <p:cNvPr id="9" name="Text 7"/>
          <p:cNvSpPr txBox="1"/>
          <p:nvPr/>
        </p:nvSpPr>
        <p:spPr>
          <a:xfrm>
            <a:off x="6400800" y="2377440"/>
            <a:ext cx="4846320" cy="1097280"/>
          </a:xfrm>
          <a:prstGeom prst="rect">
            <a:avLst/>
          </a:prstGeom>
          <a:noFill/>
          <a:ln/>
        </p:spPr>
        <p:txBody>
          <a:bodyPr wrap="square" lIns="0" tIns="0" rIns="0" bIns="0" rtlCol="0" anchor="t"/>
          <a:lstStyle/>
          <a:p>
            <a:pPr algn="l" indent="0" marL="0">
              <a:lnSpc>
                <a:spcPct val="140000"/>
              </a:lnSpc>
              <a:buNone/>
            </a:pPr>
            <a:r>
              <a:rPr lang="en-US" sz="1350" dirty="0">
                <a:solidFill>
                  <a:srgbClr val="1B2A4A"/>
                </a:solidFill>
                <a:latin typeface="Calibri" pitchFamily="34" charset="0"/>
                <a:ea typeface="Calibri" pitchFamily="34" charset="-122"/>
                <a:cs typeface="Calibri" pitchFamily="34" charset="-120"/>
              </a:rPr>
              <a:t>Prompt In  →  NEW Text Out, one word at a time</a:t>
            </a:r>
            <a:endParaRPr lang="en-US" sz="1350" dirty="0"/>
          </a:p>
          <a:p>
            <a:pPr algn="l" indent="0" marL="0">
              <a:lnSpc>
                <a:spcPct val="140000"/>
              </a:lnSpc>
              <a:buNone/>
            </a:pPr>
            <a:r>
              <a:rPr lang="en-US" sz="1350" dirty="0">
                <a:solidFill>
                  <a:srgbClr val="1B2A4A"/>
                </a:solidFill>
                <a:latin typeface="Calibri" pitchFamily="34" charset="0"/>
                <a:ea typeface="Calibri" pitchFamily="34" charset="-122"/>
                <a:cs typeface="Calibri" pitchFamily="34" charset="-120"/>
              </a:rPr>
              <a:t>(builds an answer that never existed before, word by word)</a:t>
            </a:r>
            <a:endParaRPr lang="en-US" sz="1350" dirty="0"/>
          </a:p>
        </p:txBody>
      </p:sp>
      <p:sp>
        <p:nvSpPr>
          <p:cNvPr id="10" name="Text 8"/>
          <p:cNvSpPr txBox="1"/>
          <p:nvPr/>
        </p:nvSpPr>
        <p:spPr>
          <a:xfrm>
            <a:off x="548640" y="3794760"/>
            <a:ext cx="7315200" cy="32004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SAME INPUT, TWO DIFFERENT JOBS</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11091672" cy="1371600"/>
        </p:xfrm>
        <a:graphic>
          <a:graphicData uri="http://schemas.openxmlformats.org/drawingml/2006/table">
            <a:tbl>
              <a:tblPr/>
              <a:tblGrid>
                <a:gridCol w="3697224"/>
                <a:gridCol w="3697224"/>
                <a:gridCol w="3697224"/>
              </a:tblGrid>
              <a:tr h="6858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Input</a:t>
                      </a:r>
                      <a:endParaRPr lang="en-US" sz="1300" dirty="0">
                        <a:latin typeface="Calibri" charset="0"/>
                        <a:ea typeface="Calibri" charset="0"/>
                        <a:cs typeface="Calibri" charset="0"/>
                      </a:endParaRPr>
                    </a:p>
                  </a:txBody>
                  <a:tcPr marL="91440" marR="91440" marT="45720" marB="45720" anchor="ctr">
                    <a:lnL w="12700" cap="flat" cmpd="sng" algn="ctr">
                      <a:solidFill>
                        <a:srgbClr val="D8DEEA"/>
                      </a:solidFill>
                      <a:prstDash val="solid"/>
                      <a:round/>
                      <a:headEnd type="none" w="med" len="med"/>
                      <a:tailEnd type="none" w="med" len="med"/>
                    </a:lnL>
                    <a:lnR w="12700" cap="flat" cmpd="sng" algn="ctr">
                      <a:solidFill>
                        <a:srgbClr val="D8DEEA"/>
                      </a:solidFill>
                      <a:prstDash val="solid"/>
                      <a:round/>
                      <a:headEnd type="none" w="med" len="med"/>
                      <a:tailEnd type="none" w="med" len="med"/>
                    </a:lnR>
                    <a:lnT w="12700" cap="flat" cmpd="sng" algn="ctr">
                      <a:solidFill>
                        <a:srgbClr val="D8DEEA"/>
                      </a:solidFill>
                      <a:prstDash val="solid"/>
                      <a:round/>
                      <a:headEnd type="none" w="med" len="med"/>
                      <a:tailEnd type="none" w="med" len="med"/>
                    </a:lnT>
                    <a:lnB w="12700" cap="flat" cmpd="sng" algn="ctr">
                      <a:solidFill>
                        <a:srgbClr val="D8DEEA"/>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ML Job (Day 4 style)</a:t>
                      </a:r>
                      <a:endParaRPr lang="en-US" sz="1300" dirty="0">
                        <a:latin typeface="Calibri" charset="0"/>
                        <a:ea typeface="Calibri" charset="0"/>
                        <a:cs typeface="Calibri" charset="0"/>
                      </a:endParaRPr>
                    </a:p>
                  </a:txBody>
                  <a:tcPr marL="91440" marR="91440" marT="45720" marB="45720" anchor="ctr">
                    <a:lnL w="12700" cap="flat" cmpd="sng" algn="ctr">
                      <a:solidFill>
                        <a:srgbClr val="D8DEEA"/>
                      </a:solidFill>
                      <a:prstDash val="solid"/>
                      <a:round/>
                      <a:headEnd type="none" w="med" len="med"/>
                      <a:tailEnd type="none" w="med" len="med"/>
                    </a:lnL>
                    <a:lnR w="12700" cap="flat" cmpd="sng" algn="ctr">
                      <a:solidFill>
                        <a:srgbClr val="D8DEEA"/>
                      </a:solidFill>
                      <a:prstDash val="solid"/>
                      <a:round/>
                      <a:headEnd type="none" w="med" len="med"/>
                      <a:tailEnd type="none" w="med" len="med"/>
                    </a:lnR>
                    <a:lnT w="12700" cap="flat" cmpd="sng" algn="ctr">
                      <a:solidFill>
                        <a:srgbClr val="D8DEEA"/>
                      </a:solidFill>
                      <a:prstDash val="solid"/>
                      <a:round/>
                      <a:headEnd type="none" w="med" len="med"/>
                      <a:tailEnd type="none" w="med" len="med"/>
                    </a:lnT>
                    <a:lnB w="12700" cap="flat" cmpd="sng" algn="ctr">
                      <a:solidFill>
                        <a:srgbClr val="D8DEEA"/>
                      </a:solidFill>
                      <a:prstDash val="solid"/>
                      <a:round/>
                      <a:headEnd type="none" w="med" len="med"/>
                      <a:tailEnd type="none" w="med" len="med"/>
                    </a:lnB>
                    <a:solidFill>
                      <a:srgbClr val="5B6B87"/>
                    </a:solidFill>
                  </a:tcPr>
                </a:tc>
                <a:tc>
                  <a:txBody>
                    <a:bodyPr/>
                    <a:lstStyle/>
                    <a:p>
                      <a:pPr algn="ctr" indent="0" marL="0">
                        <a:buNone/>
                      </a:pPr>
                      <a:r>
                        <a:rPr lang="en-US" sz="1300" b="1" dirty="0">
                          <a:solidFill>
                            <a:srgbClr val="1B2A4A"/>
                          </a:solidFill>
                          <a:latin typeface="Calibri" pitchFamily="34" charset="0"/>
                          <a:ea typeface="Calibri" pitchFamily="34" charset="-122"/>
                          <a:cs typeface="Calibri" pitchFamily="34" charset="-120"/>
                        </a:rPr>
                        <a:t>GenAI Job (Today)</a:t>
                      </a:r>
                      <a:endParaRPr lang="en-US" sz="1300" dirty="0">
                        <a:latin typeface="Calibri" charset="0"/>
                        <a:ea typeface="Calibri" charset="0"/>
                        <a:cs typeface="Calibri" charset="0"/>
                      </a:endParaRPr>
                    </a:p>
                  </a:txBody>
                  <a:tcPr marL="91440" marR="91440" marT="45720" marB="45720" anchor="ctr">
                    <a:lnL w="12700" cap="flat" cmpd="sng" algn="ctr">
                      <a:solidFill>
                        <a:srgbClr val="D8DEEA"/>
                      </a:solidFill>
                      <a:prstDash val="solid"/>
                      <a:round/>
                      <a:headEnd type="none" w="med" len="med"/>
                      <a:tailEnd type="none" w="med" len="med"/>
                    </a:lnL>
                    <a:lnR w="12700" cap="flat" cmpd="sng" algn="ctr">
                      <a:solidFill>
                        <a:srgbClr val="D8DEEA"/>
                      </a:solidFill>
                      <a:prstDash val="solid"/>
                      <a:round/>
                      <a:headEnd type="none" w="med" len="med"/>
                      <a:tailEnd type="none" w="med" len="med"/>
                    </a:lnR>
                    <a:lnT w="12700" cap="flat" cmpd="sng" algn="ctr">
                      <a:solidFill>
                        <a:srgbClr val="D8DEEA"/>
                      </a:solidFill>
                      <a:prstDash val="solid"/>
                      <a:round/>
                      <a:headEnd type="none" w="med" len="med"/>
                      <a:tailEnd type="none" w="med" len="med"/>
                    </a:lnT>
                    <a:lnB w="12700" cap="flat" cmpd="sng" algn="ctr">
                      <a:solidFill>
                        <a:srgbClr val="D8DEEA"/>
                      </a:solidFill>
                      <a:prstDash val="solid"/>
                      <a:round/>
                      <a:headEnd type="none" w="med" len="med"/>
                      <a:tailEnd type="none" w="med" len="med"/>
                    </a:lnB>
                    <a:solidFill>
                      <a:srgbClr val="FFB627"/>
                    </a:solidFill>
                  </a:tcPr>
                </a:tc>
              </a:tr>
              <a:tr h="685800">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An email arrives</a:t>
                      </a:r>
                      <a:endParaRPr lang="en-US" sz="1300" dirty="0">
                        <a:latin typeface="Calibri" charset="0"/>
                        <a:ea typeface="Calibri" charset="0"/>
                        <a:cs typeface="Calibri" charset="0"/>
                      </a:endParaRPr>
                    </a:p>
                  </a:txBody>
                  <a:tcPr marL="91440" marR="91440" marT="45720" marB="45720" anchor="ctr">
                    <a:lnL w="12700" cap="flat" cmpd="sng" algn="ctr">
                      <a:solidFill>
                        <a:srgbClr val="D8DEEA"/>
                      </a:solidFill>
                      <a:prstDash val="solid"/>
                      <a:round/>
                      <a:headEnd type="none" w="med" len="med"/>
                      <a:tailEnd type="none" w="med" len="med"/>
                    </a:lnL>
                    <a:lnR w="12700" cap="flat" cmpd="sng" algn="ctr">
                      <a:solidFill>
                        <a:srgbClr val="D8DEEA"/>
                      </a:solidFill>
                      <a:prstDash val="solid"/>
                      <a:round/>
                      <a:headEnd type="none" w="med" len="med"/>
                      <a:tailEnd type="none" w="med" len="med"/>
                    </a:lnR>
                    <a:lnT w="12700" cap="flat" cmpd="sng" algn="ctr">
                      <a:solidFill>
                        <a:srgbClr val="D8DEEA"/>
                      </a:solidFill>
                      <a:prstDash val="solid"/>
                      <a:round/>
                      <a:headEnd type="none" w="med" len="med"/>
                      <a:tailEnd type="none" w="med" len="med"/>
                    </a:lnT>
                    <a:lnB w="12700" cap="flat" cmpd="sng" algn="ctr">
                      <a:solidFill>
                        <a:srgbClr val="D8DEEA"/>
                      </a:solidFill>
                      <a:prstDash val="solid"/>
                      <a:round/>
                      <a:headEnd type="none" w="med" len="med"/>
                      <a:tailEnd type="none" w="med" len="med"/>
                    </a:lnB>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Predict: Spam / Not Spam</a:t>
                      </a:r>
                      <a:endParaRPr lang="en-US" sz="1300" dirty="0">
                        <a:latin typeface="Calibri" charset="0"/>
                        <a:ea typeface="Calibri" charset="0"/>
                        <a:cs typeface="Calibri" charset="0"/>
                      </a:endParaRPr>
                    </a:p>
                    <a:p>
                      <a:pPr algn="ctr" indent="0" marL="0">
                        <a:buNone/>
                      </a:pPr>
                      <a:r>
                        <a:rPr lang="en-US" sz="1300" dirty="0">
                          <a:solidFill>
                            <a:srgbClr val="1B2A4A"/>
                          </a:solidFill>
                          <a:latin typeface="Calibri" pitchFamily="34" charset="0"/>
                          <a:ea typeface="Calibri" pitchFamily="34" charset="-122"/>
                          <a:cs typeface="Calibri" pitchFamily="34" charset="-120"/>
                        </a:rPr>
                        <a:t>(one of 2 fixed labels)</a:t>
                      </a:r>
                      <a:endParaRPr lang="en-US" sz="1300" dirty="0">
                        <a:latin typeface="Calibri" charset="0"/>
                        <a:ea typeface="Calibri" charset="0"/>
                        <a:cs typeface="Calibri" charset="0"/>
                      </a:endParaRPr>
                    </a:p>
                  </a:txBody>
                  <a:tcPr marL="91440" marR="91440" marT="45720" marB="45720" anchor="ctr">
                    <a:lnL w="12700" cap="flat" cmpd="sng" algn="ctr">
                      <a:solidFill>
                        <a:srgbClr val="D8DEEA"/>
                      </a:solidFill>
                      <a:prstDash val="solid"/>
                      <a:round/>
                      <a:headEnd type="none" w="med" len="med"/>
                      <a:tailEnd type="none" w="med" len="med"/>
                    </a:lnL>
                    <a:lnR w="12700" cap="flat" cmpd="sng" algn="ctr">
                      <a:solidFill>
                        <a:srgbClr val="D8DEEA"/>
                      </a:solidFill>
                      <a:prstDash val="solid"/>
                      <a:round/>
                      <a:headEnd type="none" w="med" len="med"/>
                      <a:tailEnd type="none" w="med" len="med"/>
                    </a:lnR>
                    <a:lnT w="12700" cap="flat" cmpd="sng" algn="ctr">
                      <a:solidFill>
                        <a:srgbClr val="D8DEEA"/>
                      </a:solidFill>
                      <a:prstDash val="solid"/>
                      <a:round/>
                      <a:headEnd type="none" w="med" len="med"/>
                      <a:tailEnd type="none" w="med" len="med"/>
                    </a:lnT>
                    <a:lnB w="12700" cap="flat" cmpd="sng" algn="ctr">
                      <a:solidFill>
                        <a:srgbClr val="D8DEEA"/>
                      </a:solidFill>
                      <a:prstDash val="solid"/>
                      <a:round/>
                      <a:headEnd type="none" w="med" len="med"/>
                      <a:tailEnd type="none" w="med" len="med"/>
                    </a:lnB>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Write a reply to it</a:t>
                      </a:r>
                      <a:endParaRPr lang="en-US" sz="1300" dirty="0">
                        <a:latin typeface="Calibri" charset="0"/>
                        <a:ea typeface="Calibri" charset="0"/>
                        <a:cs typeface="Calibri" charset="0"/>
                      </a:endParaRPr>
                    </a:p>
                    <a:p>
                      <a:pPr algn="ctr" indent="0" marL="0">
                        <a:buNone/>
                      </a:pPr>
                      <a:r>
                        <a:rPr lang="en-US" sz="1300" dirty="0">
                          <a:solidFill>
                            <a:srgbClr val="1B2A4A"/>
                          </a:solidFill>
                          <a:latin typeface="Calibri" pitchFamily="34" charset="0"/>
                          <a:ea typeface="Calibri" pitchFamily="34" charset="-122"/>
                          <a:cs typeface="Calibri" pitchFamily="34" charset="-120"/>
                        </a:rPr>
                        <a:t>(new text, different every time)</a:t>
                      </a:r>
                      <a:endParaRPr lang="en-US" sz="1300" dirty="0">
                        <a:latin typeface="Calibri" charset="0"/>
                        <a:ea typeface="Calibri" charset="0"/>
                        <a:cs typeface="Calibri" charset="0"/>
                      </a:endParaRPr>
                    </a:p>
                  </a:txBody>
                  <a:tcPr marL="91440" marR="91440" marT="45720" marB="45720" anchor="ctr">
                    <a:lnL w="12700" cap="flat" cmpd="sng" algn="ctr">
                      <a:solidFill>
                        <a:srgbClr val="D8DEEA"/>
                      </a:solidFill>
                      <a:prstDash val="solid"/>
                      <a:round/>
                      <a:headEnd type="none" w="med" len="med"/>
                      <a:tailEnd type="none" w="med" len="med"/>
                    </a:lnL>
                    <a:lnR w="12700" cap="flat" cmpd="sng" algn="ctr">
                      <a:solidFill>
                        <a:srgbClr val="D8DEEA"/>
                      </a:solidFill>
                      <a:prstDash val="solid"/>
                      <a:round/>
                      <a:headEnd type="none" w="med" len="med"/>
                      <a:tailEnd type="none" w="med" len="med"/>
                    </a:lnR>
                    <a:lnT w="12700" cap="flat" cmpd="sng" algn="ctr">
                      <a:solidFill>
                        <a:srgbClr val="D8DEEA"/>
                      </a:solidFill>
                      <a:prstDash val="solid"/>
                      <a:round/>
                      <a:headEnd type="none" w="med" len="med"/>
                      <a:tailEnd type="none" w="med" len="med"/>
                    </a:lnT>
                    <a:lnB w="12700" cap="flat" cmpd="sng" algn="ctr">
                      <a:solidFill>
                        <a:srgbClr val="D8DEEA"/>
                      </a:solidFill>
                      <a:prstDash val="solid"/>
                      <a:round/>
                      <a:headEnd type="none" w="med" len="med"/>
                      <a:tailEnd type="none" w="med" len="med"/>
                    </a:lnB>
                  </a:tcPr>
                </a:tc>
              </a:tr>
            </a:tbl>
          </a:graphicData>
        </a:graphic>
      </p:graphicFrame>
      <p:sp>
        <p:nvSpPr>
          <p:cNvPr id="12" name="Shape 9"/>
          <p:cNvSpPr/>
          <p:nvPr/>
        </p:nvSpPr>
        <p:spPr>
          <a:xfrm>
            <a:off x="548640" y="5715000"/>
            <a:ext cx="11091672" cy="868680"/>
          </a:xfrm>
          <a:prstGeom prst="roundRect">
            <a:avLst>
              <a:gd name="adj" fmla="val 5263"/>
            </a:avLst>
          </a:prstGeom>
          <a:solidFill>
            <a:srgbClr val="142850"/>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13" name="Text 10"/>
          <p:cNvSpPr txBox="1"/>
          <p:nvPr/>
        </p:nvSpPr>
        <p:spPr>
          <a:xfrm>
            <a:off x="822960" y="5715000"/>
            <a:ext cx="10543032" cy="868680"/>
          </a:xfrm>
          <a:prstGeom prst="rect">
            <a:avLst/>
          </a:prstGeom>
          <a:noFill/>
          <a:ln/>
        </p:spPr>
        <p:txBody>
          <a:bodyPr wrap="square" lIns="0" tIns="0" rIns="0" bIns="0" rtlCol="0" anchor="ctr"/>
          <a:lstStyle/>
          <a:p>
            <a:pPr indent="0" marL="0">
              <a:lnSpc>
                <a:spcPct val="125000"/>
              </a:lnSpc>
              <a:buNone/>
            </a:pPr>
            <a:r>
              <a:rPr lang="en-US" sz="1300" i="1" dirty="0">
                <a:solidFill>
                  <a:srgbClr val="FFFFFF"/>
                </a:solidFill>
                <a:latin typeface="Calibri" pitchFamily="34" charset="0"/>
                <a:ea typeface="Calibri" pitchFamily="34" charset="-122"/>
                <a:cs typeface="Calibri" pitchFamily="34" charset="-120"/>
              </a:rPr>
              <a:t>Same starting point, completely different kind of output — that's the whole shift from Day 4 to today.</a:t>
            </a:r>
            <a:endParaRPr lang="en-US" sz="1300" dirty="0"/>
          </a:p>
        </p:txBody>
      </p:sp>
      <p:sp>
        <p:nvSpPr>
          <p:cNvPr id="14" name="Text 11"/>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1</a:t>
            </a:r>
            <a:endParaRPr lang="en-US" sz="900" dirty="0"/>
          </a:p>
        </p:txBody>
      </p:sp>
      <p:sp>
        <p:nvSpPr>
          <p:cNvPr id="15" name="Text 12"/>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SOMETHING YOU'VE ALREADY SEEN</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You've Been Using This Idea For Years</a:t>
            </a:r>
            <a:endParaRPr lang="en-US" sz="3000" dirty="0"/>
          </a:p>
        </p:txBody>
      </p:sp>
      <p:sp>
        <p:nvSpPr>
          <p:cNvPr id="4" name="Shape 2"/>
          <p:cNvSpPr/>
          <p:nvPr/>
        </p:nvSpPr>
        <p:spPr>
          <a:xfrm>
            <a:off x="3566160" y="1783080"/>
            <a:ext cx="5029200" cy="1005840"/>
          </a:xfrm>
          <a:prstGeom prst="roundRect">
            <a:avLst>
              <a:gd name="adj" fmla="val 5455"/>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5" name="Text 3"/>
          <p:cNvSpPr txBox="1"/>
          <p:nvPr/>
        </p:nvSpPr>
        <p:spPr>
          <a:xfrm>
            <a:off x="3794760" y="1783080"/>
            <a:ext cx="4572000" cy="1005840"/>
          </a:xfrm>
          <a:prstGeom prst="rect">
            <a:avLst/>
          </a:prstGeom>
          <a:noFill/>
          <a:ln/>
        </p:spPr>
        <p:txBody>
          <a:bodyPr wrap="square" lIns="0" tIns="0" rIns="0" bIns="0" rtlCol="0" anchor="ctr"/>
          <a:lstStyle/>
          <a:p>
            <a:pPr algn="l" indent="0" marL="0">
              <a:lnSpc>
                <a:spcPct val="125000"/>
              </a:lnSpc>
              <a:buNone/>
            </a:pPr>
            <a:r>
              <a:rPr lang="en-US" sz="1700" b="1" dirty="0">
                <a:solidFill>
                  <a:srgbClr val="1B2A4A"/>
                </a:solidFill>
                <a:latin typeface="Calibri" pitchFamily="34" charset="0"/>
                <a:ea typeface="Calibri" pitchFamily="34" charset="-122"/>
                <a:cs typeface="Calibri" pitchFamily="34" charset="-120"/>
              </a:rPr>
              <a:t>You're texting a friend:  “I am on my”</a:t>
            </a:r>
            <a:endParaRPr lang="en-US" sz="1700" dirty="0"/>
          </a:p>
        </p:txBody>
      </p:sp>
      <p:sp>
        <p:nvSpPr>
          <p:cNvPr id="6" name="Shape 4"/>
          <p:cNvSpPr/>
          <p:nvPr/>
        </p:nvSpPr>
        <p:spPr>
          <a:xfrm>
            <a:off x="3566160" y="2971800"/>
            <a:ext cx="1554480" cy="640080"/>
          </a:xfrm>
          <a:prstGeom prst="roundRect">
            <a:avLst>
              <a:gd name="adj" fmla="val 11429"/>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7" name="Text 5"/>
          <p:cNvSpPr txBox="1"/>
          <p:nvPr/>
        </p:nvSpPr>
        <p:spPr>
          <a:xfrm>
            <a:off x="3566160" y="2971800"/>
            <a:ext cx="1554480" cy="640080"/>
          </a:xfrm>
          <a:prstGeom prst="rect">
            <a:avLst/>
          </a:prstGeom>
          <a:noFill/>
          <a:ln/>
        </p:spPr>
        <p:txBody>
          <a:bodyPr wrap="square" lIns="0" tIns="0" rIns="0" bIns="0" rtlCol="0" anchor="ctr"/>
          <a:lstStyle/>
          <a:p>
            <a:pPr algn="ctr" indent="0" marL="0">
              <a:buNone/>
            </a:pPr>
            <a:r>
              <a:rPr lang="en-US" sz="1600" dirty="0">
                <a:solidFill>
                  <a:srgbClr val="5B6B87"/>
                </a:solidFill>
              </a:rPr>
              <a:t>the</a:t>
            </a:r>
            <a:endParaRPr lang="en-US" sz="1600" dirty="0"/>
          </a:p>
        </p:txBody>
      </p:sp>
      <p:sp>
        <p:nvSpPr>
          <p:cNvPr id="8" name="Shape 6"/>
          <p:cNvSpPr/>
          <p:nvPr/>
        </p:nvSpPr>
        <p:spPr>
          <a:xfrm>
            <a:off x="5257800" y="2971800"/>
            <a:ext cx="1554480" cy="640080"/>
          </a:xfrm>
          <a:prstGeom prst="roundRect">
            <a:avLst>
              <a:gd name="adj" fmla="val 11429"/>
            </a:avLst>
          </a:prstGeom>
          <a:solidFill>
            <a:srgbClr val="FFB627"/>
          </a:solidFill>
          <a:ln w="12700">
            <a:solidFill>
              <a:srgbClr val="FFB627"/>
            </a:solidFill>
            <a:prstDash val="solid"/>
          </a:ln>
          <a:effectLst>
            <a:outerShdw sx="100000" sy="100000" kx="0" ky="0" algn="bl" rotWithShape="0" blurRad="50800" dist="19050" dir="5400000">
              <a:srgbClr val="1B2A4A">
                <a:alpha val="12000"/>
              </a:srgbClr>
            </a:outerShdw>
          </a:effectLst>
        </p:spPr>
      </p:sp>
      <p:sp>
        <p:nvSpPr>
          <p:cNvPr id="9" name="Text 7"/>
          <p:cNvSpPr txBox="1"/>
          <p:nvPr/>
        </p:nvSpPr>
        <p:spPr>
          <a:xfrm>
            <a:off x="5257800" y="2971800"/>
            <a:ext cx="1554480" cy="640080"/>
          </a:xfrm>
          <a:prstGeom prst="rect">
            <a:avLst/>
          </a:prstGeom>
          <a:noFill/>
          <a:ln/>
        </p:spPr>
        <p:txBody>
          <a:bodyPr wrap="square" lIns="0" tIns="0" rIns="0" bIns="0" rtlCol="0" anchor="ctr"/>
          <a:lstStyle/>
          <a:p>
            <a:pPr algn="ctr" indent="0" marL="0">
              <a:buNone/>
            </a:pPr>
            <a:r>
              <a:rPr lang="en-US" sz="1600" b="1" dirty="0">
                <a:solidFill>
                  <a:srgbClr val="1B2A4A"/>
                </a:solidFill>
              </a:rPr>
              <a:t>way</a:t>
            </a:r>
            <a:endParaRPr lang="en-US" sz="1600" dirty="0"/>
          </a:p>
        </p:txBody>
      </p:sp>
      <p:sp>
        <p:nvSpPr>
          <p:cNvPr id="10" name="Shape 8"/>
          <p:cNvSpPr/>
          <p:nvPr/>
        </p:nvSpPr>
        <p:spPr>
          <a:xfrm>
            <a:off x="6949440" y="2971800"/>
            <a:ext cx="1554480" cy="640080"/>
          </a:xfrm>
          <a:prstGeom prst="roundRect">
            <a:avLst>
              <a:gd name="adj" fmla="val 11429"/>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11" name="Text 9"/>
          <p:cNvSpPr txBox="1"/>
          <p:nvPr/>
        </p:nvSpPr>
        <p:spPr>
          <a:xfrm>
            <a:off x="6949440" y="2971800"/>
            <a:ext cx="1554480" cy="640080"/>
          </a:xfrm>
          <a:prstGeom prst="rect">
            <a:avLst/>
          </a:prstGeom>
          <a:noFill/>
          <a:ln/>
        </p:spPr>
        <p:txBody>
          <a:bodyPr wrap="square" lIns="0" tIns="0" rIns="0" bIns="0" rtlCol="0" anchor="ctr"/>
          <a:lstStyle/>
          <a:p>
            <a:pPr algn="ctr" indent="0" marL="0">
              <a:buNone/>
            </a:pPr>
            <a:r>
              <a:rPr lang="en-US" sz="1600" dirty="0">
                <a:solidFill>
                  <a:srgbClr val="5B6B87"/>
                </a:solidFill>
              </a:rPr>
              <a:t>phone</a:t>
            </a:r>
            <a:endParaRPr lang="en-US" sz="1600" dirty="0"/>
          </a:p>
        </p:txBody>
      </p:sp>
      <p:sp>
        <p:nvSpPr>
          <p:cNvPr id="12" name="Text 10"/>
          <p:cNvSpPr txBox="1"/>
          <p:nvPr/>
        </p:nvSpPr>
        <p:spPr>
          <a:xfrm>
            <a:off x="3566160" y="3749040"/>
            <a:ext cx="5029200" cy="365760"/>
          </a:xfrm>
          <a:prstGeom prst="rect">
            <a:avLst/>
          </a:prstGeom>
          <a:noFill/>
          <a:ln/>
        </p:spPr>
        <p:txBody>
          <a:bodyPr wrap="square" lIns="0" tIns="0" rIns="0" bIns="0" rtlCol="0" anchor="t"/>
          <a:lstStyle/>
          <a:p>
            <a:pPr algn="ctr" indent="0" marL="0">
              <a:lnSpc>
                <a:spcPct val="125000"/>
              </a:lnSpc>
              <a:buNone/>
            </a:pPr>
            <a:r>
              <a:rPr lang="en-US" sz="1250" i="1" dirty="0">
                <a:solidFill>
                  <a:srgbClr val="5B6B87"/>
                </a:solidFill>
                <a:latin typeface="Calibri" pitchFamily="34" charset="0"/>
                <a:ea typeface="Calibri" pitchFamily="34" charset="-122"/>
                <a:cs typeface="Calibri" pitchFamily="34" charset="-120"/>
              </a:rPr>
              <a:t>your keyboard suggests the next word — that's it, that's the core idea</a:t>
            </a:r>
            <a:endParaRPr lang="en-US" sz="1250" dirty="0"/>
          </a:p>
        </p:txBody>
      </p:sp>
      <p:sp>
        <p:nvSpPr>
          <p:cNvPr id="13" name="Shape 11"/>
          <p:cNvSpPr/>
          <p:nvPr/>
        </p:nvSpPr>
        <p:spPr>
          <a:xfrm>
            <a:off x="548640" y="4206240"/>
            <a:ext cx="11091672" cy="1051560"/>
          </a:xfrm>
          <a:prstGeom prst="roundRect">
            <a:avLst>
              <a:gd name="adj" fmla="val 4348"/>
            </a:avLst>
          </a:prstGeom>
          <a:solidFill>
            <a:srgbClr val="142850"/>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14" name="Text 12"/>
          <p:cNvSpPr txBox="1"/>
          <p:nvPr/>
        </p:nvSpPr>
        <p:spPr>
          <a:xfrm>
            <a:off x="822960" y="4206240"/>
            <a:ext cx="10543032" cy="1051560"/>
          </a:xfrm>
          <a:prstGeom prst="rect">
            <a:avLst/>
          </a:prstGeom>
          <a:noFill/>
          <a:ln/>
        </p:spPr>
        <p:txBody>
          <a:bodyPr wrap="square" lIns="0" tIns="0" rIns="0" bIns="0" rtlCol="0" anchor="ctr"/>
          <a:lstStyle/>
          <a:p>
            <a:pPr indent="0" marL="0">
              <a:lnSpc>
                <a:spcPct val="125000"/>
              </a:lnSpc>
              <a:buNone/>
            </a:pPr>
            <a:r>
              <a:rPr lang="en-US" sz="1450" i="1" dirty="0">
                <a:solidFill>
                  <a:srgbClr val="FFFFFF"/>
                </a:solidFill>
                <a:latin typeface="Calibri" pitchFamily="34" charset="0"/>
                <a:ea typeface="Calibri" pitchFamily="34" charset="-122"/>
                <a:cs typeface="Calibri" pitchFamily="34" charset="-120"/>
              </a:rPr>
              <a:t>ChatGPT, Claude, Gemini — all of them do exactly this. Not smarter magic, just this same next-word-guessing trick, done at genius level, over and over, to write whole paragraphs.</a:t>
            </a:r>
            <a:endParaRPr lang="en-US" sz="1450" dirty="0"/>
          </a:p>
        </p:txBody>
      </p:sp>
      <p:sp>
        <p:nvSpPr>
          <p:cNvPr id="15" name="Shape 13"/>
          <p:cNvSpPr/>
          <p:nvPr/>
        </p:nvSpPr>
        <p:spPr>
          <a:xfrm>
            <a:off x="548640" y="5486400"/>
            <a:ext cx="11091672" cy="777240"/>
          </a:xfrm>
          <a:prstGeom prst="roundRect">
            <a:avLst>
              <a:gd name="adj" fmla="val 7059"/>
            </a:avLst>
          </a:prstGeom>
          <a:solidFill>
            <a:srgbClr val="FFFFFF"/>
          </a:solidFill>
          <a:ln w="19050">
            <a:solidFill>
              <a:srgbClr val="5B6B87"/>
            </a:solidFill>
            <a:prstDash val="solid"/>
          </a:ln>
          <a:effectLst>
            <a:outerShdw sx="100000" sy="100000" kx="0" ky="0" algn="bl" rotWithShape="0" blurRad="50800" dist="19050" dir="5400000">
              <a:srgbClr val="1B2A4A">
                <a:alpha val="12000"/>
              </a:srgbClr>
            </a:outerShdw>
          </a:effectLst>
        </p:spPr>
      </p:sp>
      <p:sp>
        <p:nvSpPr>
          <p:cNvPr id="16" name="Text 14"/>
          <p:cNvSpPr txBox="1"/>
          <p:nvPr/>
        </p:nvSpPr>
        <p:spPr>
          <a:xfrm>
            <a:off x="868680" y="5486400"/>
            <a:ext cx="10424160" cy="777240"/>
          </a:xfrm>
          <a:prstGeom prst="rect">
            <a:avLst/>
          </a:prstGeom>
          <a:noFill/>
          <a:ln/>
        </p:spPr>
        <p:txBody>
          <a:bodyPr wrap="square" lIns="0" tIns="0" rIns="0" bIns="0" rtlCol="0" anchor="ctr"/>
          <a:lstStyle/>
          <a:p>
            <a:pPr algn="l" indent="0" marL="0">
              <a:lnSpc>
                <a:spcPct val="125000"/>
              </a:lnSpc>
              <a:buNone/>
            </a:pPr>
            <a:r>
              <a:rPr lang="en-US" sz="1350" dirty="0">
                <a:solidFill>
                  <a:srgbClr val="5B6B87"/>
                </a:solidFill>
                <a:latin typeface="Calibri" pitchFamily="34" charset="0"/>
                <a:ea typeface="Calibri" pitchFamily="34" charset="-122"/>
                <a:cs typeface="Calibri" pitchFamily="34" charset="-120"/>
              </a:rPr>
              <a:t>Same idea, scaled up:   “The capital of France is”  →  predicts, one word:  “Paris”</a:t>
            </a:r>
            <a:endParaRPr lang="en-US" sz="1350" dirty="0"/>
          </a:p>
        </p:txBody>
      </p:sp>
      <p:sp>
        <p:nvSpPr>
          <p:cNvPr id="17" name="Text 15"/>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1</a:t>
            </a:r>
            <a:endParaRPr lang="en-US" sz="900" dirty="0"/>
          </a:p>
        </p:txBody>
      </p:sp>
      <p:sp>
        <p:nvSpPr>
          <p:cNvPr id="18" name="Text 16"/>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HOW TEXT GETS GENERATED</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One Word At A Time, In A Loop</a:t>
            </a:r>
            <a:endParaRPr lang="en-US" sz="3000" dirty="0"/>
          </a:p>
        </p:txBody>
      </p:sp>
      <p:sp>
        <p:nvSpPr>
          <p:cNvPr id="4" name="Shape 2"/>
          <p:cNvSpPr/>
          <p:nvPr/>
        </p:nvSpPr>
        <p:spPr>
          <a:xfrm>
            <a:off x="685800" y="2377440"/>
            <a:ext cx="2286000" cy="1371600"/>
          </a:xfrm>
          <a:prstGeom prst="roundRect">
            <a:avLst>
              <a:gd name="adj" fmla="val 5333"/>
            </a:avLst>
          </a:prstGeom>
          <a:solidFill>
            <a:srgbClr val="FFFFFF"/>
          </a:solidFill>
          <a:ln w="25400">
            <a:solidFill>
              <a:srgbClr val="1B2A4A"/>
            </a:solidFill>
            <a:prstDash val="solid"/>
          </a:ln>
          <a:effectLst>
            <a:outerShdw sx="100000" sy="100000" kx="0" ky="0" algn="bl" rotWithShape="0" blurRad="50800" dist="19050" dir="5400000">
              <a:srgbClr val="1B2A4A">
                <a:alpha val="12000"/>
              </a:srgbClr>
            </a:outerShdw>
          </a:effectLst>
        </p:spPr>
      </p:sp>
      <p:sp>
        <p:nvSpPr>
          <p:cNvPr id="5" name="Text 3"/>
          <p:cNvSpPr txBox="1"/>
          <p:nvPr/>
        </p:nvSpPr>
        <p:spPr>
          <a:xfrm>
            <a:off x="685800" y="2377440"/>
            <a:ext cx="2286000" cy="1371600"/>
          </a:xfrm>
          <a:prstGeom prst="rect">
            <a:avLst/>
          </a:prstGeom>
          <a:noFill/>
          <a:ln/>
        </p:spPr>
        <p:txBody>
          <a:bodyPr wrap="square" lIns="0" tIns="0" rIns="0" bIns="0" rtlCol="0" anchor="ctr"/>
          <a:lstStyle/>
          <a:p>
            <a:pPr algn="ctr" indent="0" marL="0">
              <a:buNone/>
            </a:pPr>
            <a:r>
              <a:rPr lang="en-US" sz="1500" b="1" dirty="0">
                <a:solidFill>
                  <a:srgbClr val="1B2A4A"/>
                </a:solidFill>
                <a:latin typeface="Cambria" pitchFamily="34" charset="0"/>
                <a:ea typeface="Cambria" pitchFamily="34" charset="-122"/>
                <a:cs typeface="Cambria" pitchFamily="34" charset="-120"/>
              </a:rPr>
              <a:t>Read The</a:t>
            </a:r>
            <a:endParaRPr lang="en-US" sz="1500" dirty="0"/>
          </a:p>
          <a:p>
            <a:pPr algn="ctr" indent="0" marL="0">
              <a:buNone/>
            </a:pPr>
            <a:r>
              <a:rPr lang="en-US" sz="1500" b="1" dirty="0">
                <a:solidFill>
                  <a:srgbClr val="1B2A4A"/>
                </a:solidFill>
                <a:latin typeface="Cambria" pitchFamily="34" charset="0"/>
                <a:ea typeface="Cambria" pitchFamily="34" charset="-122"/>
                <a:cs typeface="Cambria" pitchFamily="34" charset="-120"/>
              </a:rPr>
              <a:t>Prompt</a:t>
            </a:r>
            <a:endParaRPr lang="en-US" sz="1500" dirty="0"/>
          </a:p>
        </p:txBody>
      </p:sp>
      <p:sp>
        <p:nvSpPr>
          <p:cNvPr id="6" name="Text 4"/>
          <p:cNvSpPr txBox="1"/>
          <p:nvPr/>
        </p:nvSpPr>
        <p:spPr>
          <a:xfrm>
            <a:off x="2971800" y="2377440"/>
            <a:ext cx="502920" cy="1371600"/>
          </a:xfrm>
          <a:prstGeom prst="rect">
            <a:avLst/>
          </a:prstGeom>
          <a:noFill/>
          <a:ln/>
        </p:spPr>
        <p:txBody>
          <a:bodyPr wrap="square" lIns="0" tIns="0" rIns="0" bIns="0" rtlCol="0" anchor="ctr"/>
          <a:lstStyle/>
          <a:p>
            <a:pPr algn="ctr" indent="0" marL="0">
              <a:buNone/>
            </a:pPr>
            <a:r>
              <a:rPr lang="en-US" sz="2600" b="1" dirty="0">
                <a:solidFill>
                  <a:srgbClr val="5B6B87"/>
                </a:solidFill>
              </a:rPr>
              <a:t>→</a:t>
            </a:r>
            <a:endParaRPr lang="en-US" sz="2600" dirty="0"/>
          </a:p>
        </p:txBody>
      </p:sp>
      <p:sp>
        <p:nvSpPr>
          <p:cNvPr id="7" name="Shape 5"/>
          <p:cNvSpPr/>
          <p:nvPr/>
        </p:nvSpPr>
        <p:spPr>
          <a:xfrm>
            <a:off x="3474720" y="2377440"/>
            <a:ext cx="2286000" cy="1371600"/>
          </a:xfrm>
          <a:prstGeom prst="roundRect">
            <a:avLst>
              <a:gd name="adj" fmla="val 5333"/>
            </a:avLst>
          </a:prstGeom>
          <a:solidFill>
            <a:srgbClr val="FFFFFF"/>
          </a:solidFill>
          <a:ln w="25400">
            <a:solidFill>
              <a:srgbClr val="FFB627"/>
            </a:solidFill>
            <a:prstDash val="solid"/>
          </a:ln>
          <a:effectLst>
            <a:outerShdw sx="100000" sy="100000" kx="0" ky="0" algn="bl" rotWithShape="0" blurRad="50800" dist="19050" dir="5400000">
              <a:srgbClr val="1B2A4A">
                <a:alpha val="12000"/>
              </a:srgbClr>
            </a:outerShdw>
          </a:effectLst>
        </p:spPr>
      </p:sp>
      <p:sp>
        <p:nvSpPr>
          <p:cNvPr id="8" name="Text 6"/>
          <p:cNvSpPr txBox="1"/>
          <p:nvPr/>
        </p:nvSpPr>
        <p:spPr>
          <a:xfrm>
            <a:off x="3474720" y="2377440"/>
            <a:ext cx="2286000" cy="1371600"/>
          </a:xfrm>
          <a:prstGeom prst="rect">
            <a:avLst/>
          </a:prstGeom>
          <a:noFill/>
          <a:ln/>
        </p:spPr>
        <p:txBody>
          <a:bodyPr wrap="square" lIns="0" tIns="0" rIns="0" bIns="0" rtlCol="0" anchor="ctr"/>
          <a:lstStyle/>
          <a:p>
            <a:pPr algn="ctr" indent="0" marL="0">
              <a:buNone/>
            </a:pPr>
            <a:r>
              <a:rPr lang="en-US" sz="1500" b="1" dirty="0">
                <a:solidFill>
                  <a:srgbClr val="1B2A4A"/>
                </a:solidFill>
                <a:latin typeface="Cambria" pitchFamily="34" charset="0"/>
                <a:ea typeface="Cambria" pitchFamily="34" charset="-122"/>
                <a:cs typeface="Cambria" pitchFamily="34" charset="-120"/>
              </a:rPr>
              <a:t>Predict The</a:t>
            </a:r>
            <a:endParaRPr lang="en-US" sz="1500" dirty="0"/>
          </a:p>
          <a:p>
            <a:pPr algn="ctr" indent="0" marL="0">
              <a:buNone/>
            </a:pPr>
            <a:r>
              <a:rPr lang="en-US" sz="1500" b="1" dirty="0">
                <a:solidFill>
                  <a:srgbClr val="1B2A4A"/>
                </a:solidFill>
                <a:latin typeface="Cambria" pitchFamily="34" charset="0"/>
                <a:ea typeface="Cambria" pitchFamily="34" charset="-122"/>
                <a:cs typeface="Cambria" pitchFamily="34" charset="-120"/>
              </a:rPr>
              <a:t>Next Word</a:t>
            </a:r>
            <a:endParaRPr lang="en-US" sz="1500" dirty="0"/>
          </a:p>
        </p:txBody>
      </p:sp>
      <p:sp>
        <p:nvSpPr>
          <p:cNvPr id="9" name="Text 7"/>
          <p:cNvSpPr txBox="1"/>
          <p:nvPr/>
        </p:nvSpPr>
        <p:spPr>
          <a:xfrm>
            <a:off x="5760720" y="2377440"/>
            <a:ext cx="502920" cy="1371600"/>
          </a:xfrm>
          <a:prstGeom prst="rect">
            <a:avLst/>
          </a:prstGeom>
          <a:noFill/>
          <a:ln/>
        </p:spPr>
        <p:txBody>
          <a:bodyPr wrap="square" lIns="0" tIns="0" rIns="0" bIns="0" rtlCol="0" anchor="ctr"/>
          <a:lstStyle/>
          <a:p>
            <a:pPr algn="ctr" indent="0" marL="0">
              <a:buNone/>
            </a:pPr>
            <a:r>
              <a:rPr lang="en-US" sz="2600" b="1" dirty="0">
                <a:solidFill>
                  <a:srgbClr val="5B6B87"/>
                </a:solidFill>
              </a:rPr>
              <a:t>→</a:t>
            </a:r>
            <a:endParaRPr lang="en-US" sz="2600" dirty="0"/>
          </a:p>
        </p:txBody>
      </p:sp>
      <p:sp>
        <p:nvSpPr>
          <p:cNvPr id="10" name="Shape 8"/>
          <p:cNvSpPr/>
          <p:nvPr/>
        </p:nvSpPr>
        <p:spPr>
          <a:xfrm>
            <a:off x="6263640" y="2377440"/>
            <a:ext cx="2286000" cy="1371600"/>
          </a:xfrm>
          <a:prstGeom prst="roundRect">
            <a:avLst>
              <a:gd name="adj" fmla="val 5333"/>
            </a:avLst>
          </a:prstGeom>
          <a:solidFill>
            <a:srgbClr val="FFFFFF"/>
          </a:solidFill>
          <a:ln w="25400">
            <a:solidFill>
              <a:srgbClr val="1FAB65"/>
            </a:solidFill>
            <a:prstDash val="solid"/>
          </a:ln>
          <a:effectLst>
            <a:outerShdw sx="100000" sy="100000" kx="0" ky="0" algn="bl" rotWithShape="0" blurRad="50800" dist="19050" dir="5400000">
              <a:srgbClr val="1B2A4A">
                <a:alpha val="12000"/>
              </a:srgbClr>
            </a:outerShdw>
          </a:effectLst>
        </p:spPr>
      </p:sp>
      <p:sp>
        <p:nvSpPr>
          <p:cNvPr id="11" name="Text 9"/>
          <p:cNvSpPr txBox="1"/>
          <p:nvPr/>
        </p:nvSpPr>
        <p:spPr>
          <a:xfrm>
            <a:off x="6263640" y="2377440"/>
            <a:ext cx="2286000" cy="1371600"/>
          </a:xfrm>
          <a:prstGeom prst="rect">
            <a:avLst/>
          </a:prstGeom>
          <a:noFill/>
          <a:ln/>
        </p:spPr>
        <p:txBody>
          <a:bodyPr wrap="square" lIns="0" tIns="0" rIns="0" bIns="0" rtlCol="0" anchor="ctr"/>
          <a:lstStyle/>
          <a:p>
            <a:pPr algn="ctr" indent="0" marL="0">
              <a:buNone/>
            </a:pPr>
            <a:r>
              <a:rPr lang="en-US" sz="1500" b="1" dirty="0">
                <a:solidFill>
                  <a:srgbClr val="1B2A4A"/>
                </a:solidFill>
                <a:latin typeface="Cambria" pitchFamily="34" charset="0"/>
                <a:ea typeface="Cambria" pitchFamily="34" charset="-122"/>
                <a:cs typeface="Cambria" pitchFamily="34" charset="-120"/>
              </a:rPr>
              <a:t>Add It To</a:t>
            </a:r>
            <a:endParaRPr lang="en-US" sz="1500" dirty="0"/>
          </a:p>
          <a:p>
            <a:pPr algn="ctr" indent="0" marL="0">
              <a:buNone/>
            </a:pPr>
            <a:r>
              <a:rPr lang="en-US" sz="1500" b="1" dirty="0">
                <a:solidFill>
                  <a:srgbClr val="1B2A4A"/>
                </a:solidFill>
                <a:latin typeface="Cambria" pitchFamily="34" charset="0"/>
                <a:ea typeface="Cambria" pitchFamily="34" charset="-122"/>
                <a:cs typeface="Cambria" pitchFamily="34" charset="-120"/>
              </a:rPr>
              <a:t>The Text</a:t>
            </a:r>
            <a:endParaRPr lang="en-US" sz="1500" dirty="0"/>
          </a:p>
        </p:txBody>
      </p:sp>
      <p:sp>
        <p:nvSpPr>
          <p:cNvPr id="12" name="Text 10"/>
          <p:cNvSpPr txBox="1"/>
          <p:nvPr/>
        </p:nvSpPr>
        <p:spPr>
          <a:xfrm>
            <a:off x="8549640" y="2377440"/>
            <a:ext cx="502920" cy="1371600"/>
          </a:xfrm>
          <a:prstGeom prst="rect">
            <a:avLst/>
          </a:prstGeom>
          <a:noFill/>
          <a:ln/>
        </p:spPr>
        <p:txBody>
          <a:bodyPr wrap="square" lIns="0" tIns="0" rIns="0" bIns="0" rtlCol="0" anchor="ctr"/>
          <a:lstStyle/>
          <a:p>
            <a:pPr algn="ctr" indent="0" marL="0">
              <a:buNone/>
            </a:pPr>
            <a:r>
              <a:rPr lang="en-US" sz="2600" b="1" dirty="0">
                <a:solidFill>
                  <a:srgbClr val="5B6B87"/>
                </a:solidFill>
              </a:rPr>
              <a:t>→</a:t>
            </a:r>
            <a:endParaRPr lang="en-US" sz="2600" dirty="0"/>
          </a:p>
        </p:txBody>
      </p:sp>
      <p:sp>
        <p:nvSpPr>
          <p:cNvPr id="13" name="Shape 11"/>
          <p:cNvSpPr/>
          <p:nvPr/>
        </p:nvSpPr>
        <p:spPr>
          <a:xfrm>
            <a:off x="9052560" y="2377440"/>
            <a:ext cx="2286000" cy="1371600"/>
          </a:xfrm>
          <a:prstGeom prst="roundRect">
            <a:avLst>
              <a:gd name="adj" fmla="val 5333"/>
            </a:avLst>
          </a:prstGeom>
          <a:solidFill>
            <a:srgbClr val="FFFFFF"/>
          </a:solidFill>
          <a:ln w="25400">
            <a:solidFill>
              <a:srgbClr val="D64545"/>
            </a:solidFill>
            <a:prstDash val="solid"/>
          </a:ln>
          <a:effectLst>
            <a:outerShdw sx="100000" sy="100000" kx="0" ky="0" algn="bl" rotWithShape="0" blurRad="50800" dist="19050" dir="5400000">
              <a:srgbClr val="1B2A4A">
                <a:alpha val="12000"/>
              </a:srgbClr>
            </a:outerShdw>
          </a:effectLst>
        </p:spPr>
      </p:sp>
      <p:sp>
        <p:nvSpPr>
          <p:cNvPr id="14" name="Text 12"/>
          <p:cNvSpPr txBox="1"/>
          <p:nvPr/>
        </p:nvSpPr>
        <p:spPr>
          <a:xfrm>
            <a:off x="9052560" y="2377440"/>
            <a:ext cx="2286000" cy="1371600"/>
          </a:xfrm>
          <a:prstGeom prst="rect">
            <a:avLst/>
          </a:prstGeom>
          <a:noFill/>
          <a:ln/>
        </p:spPr>
        <p:txBody>
          <a:bodyPr wrap="square" lIns="0" tIns="0" rIns="0" bIns="0" rtlCol="0" anchor="ctr"/>
          <a:lstStyle/>
          <a:p>
            <a:pPr algn="ctr" indent="0" marL="0">
              <a:buNone/>
            </a:pPr>
            <a:r>
              <a:rPr lang="en-US" sz="1500" b="1" dirty="0">
                <a:solidFill>
                  <a:srgbClr val="1B2A4A"/>
                </a:solidFill>
                <a:latin typeface="Cambria" pitchFamily="34" charset="0"/>
                <a:ea typeface="Cambria" pitchFamily="34" charset="-122"/>
                <a:cs typeface="Cambria" pitchFamily="34" charset="-120"/>
              </a:rPr>
              <a:t>Repeat</a:t>
            </a:r>
            <a:endParaRPr lang="en-US" sz="1500" dirty="0"/>
          </a:p>
        </p:txBody>
      </p:sp>
      <p:sp>
        <p:nvSpPr>
          <p:cNvPr id="15" name="Text 13"/>
          <p:cNvSpPr txBox="1"/>
          <p:nvPr/>
        </p:nvSpPr>
        <p:spPr>
          <a:xfrm>
            <a:off x="685800" y="4114800"/>
            <a:ext cx="10652760" cy="457200"/>
          </a:xfrm>
          <a:prstGeom prst="rect">
            <a:avLst/>
          </a:prstGeom>
          <a:noFill/>
          <a:ln/>
        </p:spPr>
        <p:txBody>
          <a:bodyPr wrap="square" lIns="0" tIns="0" rIns="0" bIns="0" rtlCol="0" anchor="t"/>
          <a:lstStyle/>
          <a:p>
            <a:pPr algn="ctr" indent="0" marL="0">
              <a:lnSpc>
                <a:spcPct val="125000"/>
              </a:lnSpc>
              <a:buNone/>
            </a:pPr>
            <a:r>
              <a:rPr lang="en-US" sz="1300" i="1" dirty="0">
                <a:solidFill>
                  <a:srgbClr val="5B6B87"/>
                </a:solidFill>
                <a:latin typeface="Calibri" pitchFamily="34" charset="0"/>
                <a:ea typeface="Calibri" pitchFamily="34" charset="-122"/>
                <a:cs typeface="Calibri" pitchFamily="34" charset="-120"/>
              </a:rPr>
              <a:t>↺  “Repeat” loops back to predicting the NEXT word — using everything generated so far, including its own last word.</a:t>
            </a:r>
            <a:endParaRPr lang="en-US" sz="1300" dirty="0"/>
          </a:p>
        </p:txBody>
      </p:sp>
      <p:sp>
        <p:nvSpPr>
          <p:cNvPr id="16" name="Shape 14"/>
          <p:cNvSpPr/>
          <p:nvPr/>
        </p:nvSpPr>
        <p:spPr>
          <a:xfrm>
            <a:off x="548640" y="4937760"/>
            <a:ext cx="11091672" cy="1371600"/>
          </a:xfrm>
          <a:prstGeom prst="roundRect">
            <a:avLst>
              <a:gd name="adj" fmla="val 3333"/>
            </a:avLst>
          </a:prstGeom>
          <a:solidFill>
            <a:srgbClr val="142850"/>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17" name="Text 15"/>
          <p:cNvSpPr txBox="1"/>
          <p:nvPr/>
        </p:nvSpPr>
        <p:spPr>
          <a:xfrm>
            <a:off x="822960" y="4937760"/>
            <a:ext cx="10543032" cy="1371600"/>
          </a:xfrm>
          <a:prstGeom prst="rect">
            <a:avLst/>
          </a:prstGeom>
          <a:noFill/>
          <a:ln/>
        </p:spPr>
        <p:txBody>
          <a:bodyPr wrap="square" lIns="0" tIns="0" rIns="0" bIns="0" rtlCol="0" anchor="ctr"/>
          <a:lstStyle/>
          <a:p>
            <a:pPr indent="0" marL="0">
              <a:lnSpc>
                <a:spcPct val="125000"/>
              </a:lnSpc>
              <a:buNone/>
            </a:pPr>
            <a:r>
              <a:rPr lang="en-US" sz="1350" i="1" dirty="0">
                <a:solidFill>
                  <a:srgbClr val="FFFFFF"/>
                </a:solidFill>
                <a:latin typeface="Calibri" pitchFamily="34" charset="0"/>
                <a:ea typeface="Calibri" pitchFamily="34" charset="-122"/>
                <a:cs typeface="Calibri" pitchFamily="34" charset="-120"/>
              </a:rPr>
              <a:t>This is why a long AI answer is really thousands of tiny “what word comes next” guesses, chained together — not one big thought produced all at once.</a:t>
            </a:r>
            <a:endParaRPr lang="en-US" sz="1350" dirty="0"/>
          </a:p>
        </p:txBody>
      </p:sp>
      <p:sp>
        <p:nvSpPr>
          <p:cNvPr id="18" name="Text 16"/>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1</a:t>
            </a:r>
            <a:endParaRPr lang="en-US" sz="900" dirty="0"/>
          </a:p>
        </p:txBody>
      </p:sp>
      <p:sp>
        <p:nvSpPr>
          <p:cNvPr id="19" name="Text 17"/>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LIVE ACTIVITY · 10 MINUTES</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Sentence Relay — One Word At A Time</a:t>
            </a:r>
            <a:endParaRPr lang="en-US" sz="3000" dirty="0"/>
          </a:p>
        </p:txBody>
      </p:sp>
      <p:sp>
        <p:nvSpPr>
          <p:cNvPr id="4" name="Text 2"/>
          <p:cNvSpPr txBox="1"/>
          <p:nvPr/>
        </p:nvSpPr>
        <p:spPr>
          <a:xfrm>
            <a:off x="548640" y="1828800"/>
            <a:ext cx="11091672" cy="502920"/>
          </a:xfrm>
          <a:prstGeom prst="rect">
            <a:avLst/>
          </a:prstGeom>
          <a:noFill/>
          <a:ln/>
        </p:spPr>
        <p:txBody>
          <a:bodyPr wrap="square" lIns="0" tIns="0" rIns="0" bIns="0" rtlCol="0" anchor="t"/>
          <a:lstStyle/>
          <a:p>
            <a:pPr algn="l" indent="0" marL="0">
              <a:lnSpc>
                <a:spcPct val="125000"/>
              </a:lnSpc>
              <a:buNone/>
            </a:pPr>
            <a:r>
              <a:rPr lang="en-US" sz="1450" dirty="0">
                <a:solidFill>
                  <a:srgbClr val="1B2A4A"/>
                </a:solidFill>
                <a:latin typeface="Calibri" pitchFamily="34" charset="0"/>
                <a:ea typeface="Calibri" pitchFamily="34" charset="-122"/>
                <a:cs typeface="Calibri" pitchFamily="34" charset="-120"/>
              </a:rPr>
              <a:t>Start a sentence out loud. Going around the room, everyone adds exactly ONE next word — no planning ahead.</a:t>
            </a:r>
            <a:endParaRPr lang="en-US" sz="1450" dirty="0"/>
          </a:p>
        </p:txBody>
      </p:sp>
      <p:sp>
        <p:nvSpPr>
          <p:cNvPr id="5" name="Shape 3"/>
          <p:cNvSpPr/>
          <p:nvPr/>
        </p:nvSpPr>
        <p:spPr>
          <a:xfrm>
            <a:off x="548640" y="2606040"/>
            <a:ext cx="1234440" cy="822960"/>
          </a:xfrm>
          <a:prstGeom prst="roundRect">
            <a:avLst>
              <a:gd name="adj" fmla="val 6667"/>
            </a:avLst>
          </a:prstGeom>
          <a:solidFill>
            <a:srgbClr val="1B2A4A"/>
          </a:solidFill>
          <a:ln w="12700">
            <a:solidFill>
              <a:srgbClr val="1B2A4A"/>
            </a:solidFill>
            <a:prstDash val="solid"/>
          </a:ln>
          <a:effectLst>
            <a:outerShdw sx="100000" sy="100000" kx="0" ky="0" algn="bl" rotWithShape="0" blurRad="50800" dist="19050" dir="5400000">
              <a:srgbClr val="1B2A4A">
                <a:alpha val="12000"/>
              </a:srgbClr>
            </a:outerShdw>
          </a:effectLst>
        </p:spPr>
      </p:sp>
      <p:sp>
        <p:nvSpPr>
          <p:cNvPr id="6" name="Text 4"/>
          <p:cNvSpPr txBox="1"/>
          <p:nvPr/>
        </p:nvSpPr>
        <p:spPr>
          <a:xfrm>
            <a:off x="548640" y="2606040"/>
            <a:ext cx="123444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Yesterday</a:t>
            </a:r>
            <a:endParaRPr lang="en-US" sz="1500" dirty="0"/>
          </a:p>
        </p:txBody>
      </p:sp>
      <p:sp>
        <p:nvSpPr>
          <p:cNvPr id="7" name="Text 5"/>
          <p:cNvSpPr txBox="1"/>
          <p:nvPr/>
        </p:nvSpPr>
        <p:spPr>
          <a:xfrm>
            <a:off x="1783080" y="2606040"/>
            <a:ext cx="137160" cy="822960"/>
          </a:xfrm>
          <a:prstGeom prst="rect">
            <a:avLst/>
          </a:prstGeom>
          <a:noFill/>
          <a:ln/>
        </p:spPr>
        <p:txBody>
          <a:bodyPr wrap="square" lIns="0" tIns="0" rIns="0" bIns="0" rtlCol="0" anchor="ctr"/>
          <a:lstStyle/>
          <a:p>
            <a:pPr algn="ctr" indent="0" marL="0">
              <a:buNone/>
            </a:pPr>
            <a:r>
              <a:rPr lang="en-US" sz="1400" dirty="0">
                <a:solidFill>
                  <a:srgbClr val="5B6B87"/>
                </a:solidFill>
              </a:rPr>
              <a:t>→</a:t>
            </a:r>
            <a:endParaRPr lang="en-US" sz="1400" dirty="0"/>
          </a:p>
        </p:txBody>
      </p:sp>
      <p:sp>
        <p:nvSpPr>
          <p:cNvPr id="8" name="Shape 6"/>
          <p:cNvSpPr/>
          <p:nvPr/>
        </p:nvSpPr>
        <p:spPr>
          <a:xfrm>
            <a:off x="1920240" y="2606040"/>
            <a:ext cx="1234440" cy="822960"/>
          </a:xfrm>
          <a:prstGeom prst="roundRect">
            <a:avLst>
              <a:gd name="adj" fmla="val 6667"/>
            </a:avLst>
          </a:prstGeom>
          <a:solidFill>
            <a:srgbClr val="1B2A4A"/>
          </a:solidFill>
          <a:ln w="12700">
            <a:solidFill>
              <a:srgbClr val="1B2A4A"/>
            </a:solidFill>
            <a:prstDash val="solid"/>
          </a:ln>
          <a:effectLst>
            <a:outerShdw sx="100000" sy="100000" kx="0" ky="0" algn="bl" rotWithShape="0" blurRad="50800" dist="19050" dir="5400000">
              <a:srgbClr val="1B2A4A">
                <a:alpha val="12000"/>
              </a:srgbClr>
            </a:outerShdw>
          </a:effectLst>
        </p:spPr>
      </p:sp>
      <p:sp>
        <p:nvSpPr>
          <p:cNvPr id="9" name="Text 7"/>
          <p:cNvSpPr txBox="1"/>
          <p:nvPr/>
        </p:nvSpPr>
        <p:spPr>
          <a:xfrm>
            <a:off x="1920240" y="2606040"/>
            <a:ext cx="123444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a:t>
            </a:r>
            <a:endParaRPr lang="en-US" sz="1500" dirty="0"/>
          </a:p>
        </p:txBody>
      </p:sp>
      <p:sp>
        <p:nvSpPr>
          <p:cNvPr id="10" name="Text 8"/>
          <p:cNvSpPr txBox="1"/>
          <p:nvPr/>
        </p:nvSpPr>
        <p:spPr>
          <a:xfrm>
            <a:off x="3154680" y="2606040"/>
            <a:ext cx="137160" cy="822960"/>
          </a:xfrm>
          <a:prstGeom prst="rect">
            <a:avLst/>
          </a:prstGeom>
          <a:noFill/>
          <a:ln/>
        </p:spPr>
        <p:txBody>
          <a:bodyPr wrap="square" lIns="0" tIns="0" rIns="0" bIns="0" rtlCol="0" anchor="ctr"/>
          <a:lstStyle/>
          <a:p>
            <a:pPr algn="ctr" indent="0" marL="0">
              <a:buNone/>
            </a:pPr>
            <a:r>
              <a:rPr lang="en-US" sz="1400" dirty="0">
                <a:solidFill>
                  <a:srgbClr val="5B6B87"/>
                </a:solidFill>
              </a:rPr>
              <a:t>→</a:t>
            </a:r>
            <a:endParaRPr lang="en-US" sz="1400" dirty="0"/>
          </a:p>
        </p:txBody>
      </p:sp>
      <p:sp>
        <p:nvSpPr>
          <p:cNvPr id="11" name="Shape 9"/>
          <p:cNvSpPr/>
          <p:nvPr/>
        </p:nvSpPr>
        <p:spPr>
          <a:xfrm>
            <a:off x="3291840" y="2606040"/>
            <a:ext cx="1234440" cy="822960"/>
          </a:xfrm>
          <a:prstGeom prst="roundRect">
            <a:avLst>
              <a:gd name="adj" fmla="val 6667"/>
            </a:avLst>
          </a:prstGeom>
          <a:solidFill>
            <a:srgbClr val="1B2A4A"/>
          </a:solidFill>
          <a:ln w="12700">
            <a:solidFill>
              <a:srgbClr val="1B2A4A"/>
            </a:solidFill>
            <a:prstDash val="solid"/>
          </a:ln>
          <a:effectLst>
            <a:outerShdw sx="100000" sy="100000" kx="0" ky="0" algn="bl" rotWithShape="0" blurRad="50800" dist="19050" dir="5400000">
              <a:srgbClr val="1B2A4A">
                <a:alpha val="12000"/>
              </a:srgbClr>
            </a:outerShdw>
          </a:effectLst>
        </p:spPr>
      </p:sp>
      <p:sp>
        <p:nvSpPr>
          <p:cNvPr id="12" name="Text 10"/>
          <p:cNvSpPr txBox="1"/>
          <p:nvPr/>
        </p:nvSpPr>
        <p:spPr>
          <a:xfrm>
            <a:off x="3291840" y="2606040"/>
            <a:ext cx="123444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went</a:t>
            </a:r>
            <a:endParaRPr lang="en-US" sz="1500" dirty="0"/>
          </a:p>
        </p:txBody>
      </p:sp>
      <p:sp>
        <p:nvSpPr>
          <p:cNvPr id="13" name="Text 11"/>
          <p:cNvSpPr txBox="1"/>
          <p:nvPr/>
        </p:nvSpPr>
        <p:spPr>
          <a:xfrm>
            <a:off x="4526280" y="2606040"/>
            <a:ext cx="137160" cy="822960"/>
          </a:xfrm>
          <a:prstGeom prst="rect">
            <a:avLst/>
          </a:prstGeom>
          <a:noFill/>
          <a:ln/>
        </p:spPr>
        <p:txBody>
          <a:bodyPr wrap="square" lIns="0" tIns="0" rIns="0" bIns="0" rtlCol="0" anchor="ctr"/>
          <a:lstStyle/>
          <a:p>
            <a:pPr algn="ctr" indent="0" marL="0">
              <a:buNone/>
            </a:pPr>
            <a:r>
              <a:rPr lang="en-US" sz="1400" dirty="0">
                <a:solidFill>
                  <a:srgbClr val="5B6B87"/>
                </a:solidFill>
              </a:rPr>
              <a:t>→</a:t>
            </a:r>
            <a:endParaRPr lang="en-US" sz="1400" dirty="0"/>
          </a:p>
        </p:txBody>
      </p:sp>
      <p:sp>
        <p:nvSpPr>
          <p:cNvPr id="14" name="Shape 12"/>
          <p:cNvSpPr/>
          <p:nvPr/>
        </p:nvSpPr>
        <p:spPr>
          <a:xfrm>
            <a:off x="4663440" y="2606040"/>
            <a:ext cx="1234440" cy="822960"/>
          </a:xfrm>
          <a:prstGeom prst="roundRect">
            <a:avLst>
              <a:gd name="adj" fmla="val 6667"/>
            </a:avLst>
          </a:prstGeom>
          <a:solidFill>
            <a:srgbClr val="FFFFFF"/>
          </a:solidFill>
          <a:ln w="25400">
            <a:solidFill>
              <a:srgbClr val="FFB627"/>
            </a:solidFill>
            <a:prstDash val="dash"/>
          </a:ln>
          <a:effectLst>
            <a:outerShdw sx="100000" sy="100000" kx="0" ky="0" algn="bl" rotWithShape="0" blurRad="50800" dist="19050" dir="5400000">
              <a:srgbClr val="1B2A4A">
                <a:alpha val="12000"/>
              </a:srgbClr>
            </a:outerShdw>
          </a:effectLst>
        </p:spPr>
      </p:sp>
      <p:sp>
        <p:nvSpPr>
          <p:cNvPr id="15" name="Text 13"/>
          <p:cNvSpPr txBox="1"/>
          <p:nvPr/>
        </p:nvSpPr>
        <p:spPr>
          <a:xfrm>
            <a:off x="4663440" y="2606040"/>
            <a:ext cx="1234440" cy="822960"/>
          </a:xfrm>
          <a:prstGeom prst="rect">
            <a:avLst/>
          </a:prstGeom>
          <a:noFill/>
          <a:ln/>
        </p:spPr>
        <p:txBody>
          <a:bodyPr wrap="square" lIns="0" tIns="0" rIns="0" bIns="0" rtlCol="0" anchor="ctr"/>
          <a:lstStyle/>
          <a:p>
            <a:pPr algn="ctr" indent="0" marL="0">
              <a:buNone/>
            </a:pPr>
            <a:r>
              <a:rPr lang="en-US" sz="2000" b="1" dirty="0">
                <a:solidFill>
                  <a:srgbClr val="FFB627"/>
                </a:solidFill>
                <a:latin typeface="Cambria" pitchFamily="34" charset="0"/>
                <a:ea typeface="Cambria" pitchFamily="34" charset="-122"/>
                <a:cs typeface="Cambria" pitchFamily="34" charset="-120"/>
              </a:rPr>
              <a:t>?</a:t>
            </a:r>
            <a:endParaRPr lang="en-US" sz="2000" dirty="0"/>
          </a:p>
        </p:txBody>
      </p:sp>
      <p:sp>
        <p:nvSpPr>
          <p:cNvPr id="16" name="Text 14"/>
          <p:cNvSpPr txBox="1"/>
          <p:nvPr/>
        </p:nvSpPr>
        <p:spPr>
          <a:xfrm>
            <a:off x="5897880" y="2606040"/>
            <a:ext cx="137160" cy="822960"/>
          </a:xfrm>
          <a:prstGeom prst="rect">
            <a:avLst/>
          </a:prstGeom>
          <a:noFill/>
          <a:ln/>
        </p:spPr>
        <p:txBody>
          <a:bodyPr wrap="square" lIns="0" tIns="0" rIns="0" bIns="0" rtlCol="0" anchor="ctr"/>
          <a:lstStyle/>
          <a:p>
            <a:pPr algn="ctr" indent="0" marL="0">
              <a:buNone/>
            </a:pPr>
            <a:r>
              <a:rPr lang="en-US" sz="1400" dirty="0">
                <a:solidFill>
                  <a:srgbClr val="5B6B87"/>
                </a:solidFill>
              </a:rPr>
              <a:t>→</a:t>
            </a:r>
            <a:endParaRPr lang="en-US" sz="1400" dirty="0"/>
          </a:p>
        </p:txBody>
      </p:sp>
      <p:sp>
        <p:nvSpPr>
          <p:cNvPr id="17" name="Shape 15"/>
          <p:cNvSpPr/>
          <p:nvPr/>
        </p:nvSpPr>
        <p:spPr>
          <a:xfrm>
            <a:off x="6035040" y="2606040"/>
            <a:ext cx="1234440" cy="822960"/>
          </a:xfrm>
          <a:prstGeom prst="roundRect">
            <a:avLst>
              <a:gd name="adj" fmla="val 6667"/>
            </a:avLst>
          </a:prstGeom>
          <a:solidFill>
            <a:srgbClr val="FFFFFF"/>
          </a:solidFill>
          <a:ln w="25400">
            <a:solidFill>
              <a:srgbClr val="FFB627"/>
            </a:solidFill>
            <a:prstDash val="dash"/>
          </a:ln>
          <a:effectLst>
            <a:outerShdw sx="100000" sy="100000" kx="0" ky="0" algn="bl" rotWithShape="0" blurRad="50800" dist="19050" dir="5400000">
              <a:srgbClr val="1B2A4A">
                <a:alpha val="12000"/>
              </a:srgbClr>
            </a:outerShdw>
          </a:effectLst>
        </p:spPr>
      </p:sp>
      <p:sp>
        <p:nvSpPr>
          <p:cNvPr id="18" name="Text 16"/>
          <p:cNvSpPr txBox="1"/>
          <p:nvPr/>
        </p:nvSpPr>
        <p:spPr>
          <a:xfrm>
            <a:off x="6035040" y="2606040"/>
            <a:ext cx="1234440" cy="822960"/>
          </a:xfrm>
          <a:prstGeom prst="rect">
            <a:avLst/>
          </a:prstGeom>
          <a:noFill/>
          <a:ln/>
        </p:spPr>
        <p:txBody>
          <a:bodyPr wrap="square" lIns="0" tIns="0" rIns="0" bIns="0" rtlCol="0" anchor="ctr"/>
          <a:lstStyle/>
          <a:p>
            <a:pPr algn="ctr" indent="0" marL="0">
              <a:buNone/>
            </a:pPr>
            <a:r>
              <a:rPr lang="en-US" sz="2000" b="1" dirty="0">
                <a:solidFill>
                  <a:srgbClr val="FFB627"/>
                </a:solidFill>
                <a:latin typeface="Cambria" pitchFamily="34" charset="0"/>
                <a:ea typeface="Cambria" pitchFamily="34" charset="-122"/>
                <a:cs typeface="Cambria" pitchFamily="34" charset="-120"/>
              </a:rPr>
              <a:t>?</a:t>
            </a:r>
            <a:endParaRPr lang="en-US" sz="2000" dirty="0"/>
          </a:p>
        </p:txBody>
      </p:sp>
      <p:sp>
        <p:nvSpPr>
          <p:cNvPr id="19" name="Text 17"/>
          <p:cNvSpPr txBox="1"/>
          <p:nvPr/>
        </p:nvSpPr>
        <p:spPr>
          <a:xfrm>
            <a:off x="7269480" y="2606040"/>
            <a:ext cx="137160" cy="822960"/>
          </a:xfrm>
          <a:prstGeom prst="rect">
            <a:avLst/>
          </a:prstGeom>
          <a:noFill/>
          <a:ln/>
        </p:spPr>
        <p:txBody>
          <a:bodyPr wrap="square" lIns="0" tIns="0" rIns="0" bIns="0" rtlCol="0" anchor="ctr"/>
          <a:lstStyle/>
          <a:p>
            <a:pPr algn="ctr" indent="0" marL="0">
              <a:buNone/>
            </a:pPr>
            <a:r>
              <a:rPr lang="en-US" sz="1400" dirty="0">
                <a:solidFill>
                  <a:srgbClr val="5B6B87"/>
                </a:solidFill>
              </a:rPr>
              <a:t>→</a:t>
            </a:r>
            <a:endParaRPr lang="en-US" sz="1400" dirty="0"/>
          </a:p>
        </p:txBody>
      </p:sp>
      <p:sp>
        <p:nvSpPr>
          <p:cNvPr id="20" name="Shape 18"/>
          <p:cNvSpPr/>
          <p:nvPr/>
        </p:nvSpPr>
        <p:spPr>
          <a:xfrm>
            <a:off x="7406640" y="2606040"/>
            <a:ext cx="1234440" cy="822960"/>
          </a:xfrm>
          <a:prstGeom prst="roundRect">
            <a:avLst>
              <a:gd name="adj" fmla="val 6667"/>
            </a:avLst>
          </a:prstGeom>
          <a:solidFill>
            <a:srgbClr val="FFFFFF"/>
          </a:solidFill>
          <a:ln w="25400">
            <a:solidFill>
              <a:srgbClr val="FFB627"/>
            </a:solidFill>
            <a:prstDash val="dash"/>
          </a:ln>
          <a:effectLst>
            <a:outerShdw sx="100000" sy="100000" kx="0" ky="0" algn="bl" rotWithShape="0" blurRad="50800" dist="19050" dir="5400000">
              <a:srgbClr val="1B2A4A">
                <a:alpha val="12000"/>
              </a:srgbClr>
            </a:outerShdw>
          </a:effectLst>
        </p:spPr>
      </p:sp>
      <p:sp>
        <p:nvSpPr>
          <p:cNvPr id="21" name="Text 19"/>
          <p:cNvSpPr txBox="1"/>
          <p:nvPr/>
        </p:nvSpPr>
        <p:spPr>
          <a:xfrm>
            <a:off x="7406640" y="2606040"/>
            <a:ext cx="1234440" cy="822960"/>
          </a:xfrm>
          <a:prstGeom prst="rect">
            <a:avLst/>
          </a:prstGeom>
          <a:noFill/>
          <a:ln/>
        </p:spPr>
        <p:txBody>
          <a:bodyPr wrap="square" lIns="0" tIns="0" rIns="0" bIns="0" rtlCol="0" anchor="ctr"/>
          <a:lstStyle/>
          <a:p>
            <a:pPr algn="ctr" indent="0" marL="0">
              <a:buNone/>
            </a:pPr>
            <a:r>
              <a:rPr lang="en-US" sz="2000" b="1" dirty="0">
                <a:solidFill>
                  <a:srgbClr val="FFB627"/>
                </a:solidFill>
                <a:latin typeface="Cambria" pitchFamily="34" charset="0"/>
                <a:ea typeface="Cambria" pitchFamily="34" charset="-122"/>
                <a:cs typeface="Cambria" pitchFamily="34" charset="-120"/>
              </a:rPr>
              <a:t>?</a:t>
            </a:r>
            <a:endParaRPr lang="en-US" sz="2000" dirty="0"/>
          </a:p>
        </p:txBody>
      </p:sp>
      <p:sp>
        <p:nvSpPr>
          <p:cNvPr id="22" name="Text 20"/>
          <p:cNvSpPr txBox="1"/>
          <p:nvPr/>
        </p:nvSpPr>
        <p:spPr>
          <a:xfrm>
            <a:off x="8641080" y="2606040"/>
            <a:ext cx="137160" cy="822960"/>
          </a:xfrm>
          <a:prstGeom prst="rect">
            <a:avLst/>
          </a:prstGeom>
          <a:noFill/>
          <a:ln/>
        </p:spPr>
        <p:txBody>
          <a:bodyPr wrap="square" lIns="0" tIns="0" rIns="0" bIns="0" rtlCol="0" anchor="ctr"/>
          <a:lstStyle/>
          <a:p>
            <a:pPr algn="ctr" indent="0" marL="0">
              <a:buNone/>
            </a:pPr>
            <a:r>
              <a:rPr lang="en-US" sz="1400" dirty="0">
                <a:solidFill>
                  <a:srgbClr val="5B6B87"/>
                </a:solidFill>
              </a:rPr>
              <a:t>→</a:t>
            </a:r>
            <a:endParaRPr lang="en-US" sz="1400" dirty="0"/>
          </a:p>
        </p:txBody>
      </p:sp>
      <p:sp>
        <p:nvSpPr>
          <p:cNvPr id="23" name="Shape 21"/>
          <p:cNvSpPr/>
          <p:nvPr/>
        </p:nvSpPr>
        <p:spPr>
          <a:xfrm>
            <a:off x="8778240" y="2606040"/>
            <a:ext cx="1234440" cy="822960"/>
          </a:xfrm>
          <a:prstGeom prst="roundRect">
            <a:avLst>
              <a:gd name="adj" fmla="val 6667"/>
            </a:avLst>
          </a:prstGeom>
          <a:solidFill>
            <a:srgbClr val="FFFFFF"/>
          </a:solidFill>
          <a:ln w="25400">
            <a:solidFill>
              <a:srgbClr val="FFB627"/>
            </a:solidFill>
            <a:prstDash val="dash"/>
          </a:ln>
          <a:effectLst>
            <a:outerShdw sx="100000" sy="100000" kx="0" ky="0" algn="bl" rotWithShape="0" blurRad="50800" dist="19050" dir="5400000">
              <a:srgbClr val="1B2A4A">
                <a:alpha val="12000"/>
              </a:srgbClr>
            </a:outerShdw>
          </a:effectLst>
        </p:spPr>
      </p:sp>
      <p:sp>
        <p:nvSpPr>
          <p:cNvPr id="24" name="Text 22"/>
          <p:cNvSpPr txBox="1"/>
          <p:nvPr/>
        </p:nvSpPr>
        <p:spPr>
          <a:xfrm>
            <a:off x="8778240" y="2606040"/>
            <a:ext cx="1234440" cy="822960"/>
          </a:xfrm>
          <a:prstGeom prst="rect">
            <a:avLst/>
          </a:prstGeom>
          <a:noFill/>
          <a:ln/>
        </p:spPr>
        <p:txBody>
          <a:bodyPr wrap="square" lIns="0" tIns="0" rIns="0" bIns="0" rtlCol="0" anchor="ctr"/>
          <a:lstStyle/>
          <a:p>
            <a:pPr algn="ctr" indent="0" marL="0">
              <a:buNone/>
            </a:pPr>
            <a:r>
              <a:rPr lang="en-US" sz="2000" b="1" dirty="0">
                <a:solidFill>
                  <a:srgbClr val="FFB627"/>
                </a:solidFill>
                <a:latin typeface="Cambria" pitchFamily="34" charset="0"/>
                <a:ea typeface="Cambria" pitchFamily="34" charset="-122"/>
                <a:cs typeface="Cambria" pitchFamily="34" charset="-120"/>
              </a:rPr>
              <a:t>?</a:t>
            </a:r>
            <a:endParaRPr lang="en-US" sz="2000" dirty="0"/>
          </a:p>
        </p:txBody>
      </p:sp>
      <p:sp>
        <p:nvSpPr>
          <p:cNvPr id="25" name="Text 23"/>
          <p:cNvSpPr txBox="1"/>
          <p:nvPr/>
        </p:nvSpPr>
        <p:spPr>
          <a:xfrm>
            <a:off x="10012680" y="2606040"/>
            <a:ext cx="137160" cy="822960"/>
          </a:xfrm>
          <a:prstGeom prst="rect">
            <a:avLst/>
          </a:prstGeom>
          <a:noFill/>
          <a:ln/>
        </p:spPr>
        <p:txBody>
          <a:bodyPr wrap="square" lIns="0" tIns="0" rIns="0" bIns="0" rtlCol="0" anchor="ctr"/>
          <a:lstStyle/>
          <a:p>
            <a:pPr algn="ctr" indent="0" marL="0">
              <a:buNone/>
            </a:pPr>
            <a:r>
              <a:rPr lang="en-US" sz="1400" dirty="0">
                <a:solidFill>
                  <a:srgbClr val="5B6B87"/>
                </a:solidFill>
              </a:rPr>
              <a:t>→</a:t>
            </a:r>
            <a:endParaRPr lang="en-US" sz="1400" dirty="0"/>
          </a:p>
        </p:txBody>
      </p:sp>
      <p:sp>
        <p:nvSpPr>
          <p:cNvPr id="26" name="Shape 24"/>
          <p:cNvSpPr/>
          <p:nvPr/>
        </p:nvSpPr>
        <p:spPr>
          <a:xfrm>
            <a:off x="10149840" y="2606040"/>
            <a:ext cx="1234440" cy="822960"/>
          </a:xfrm>
          <a:prstGeom prst="roundRect">
            <a:avLst>
              <a:gd name="adj" fmla="val 6667"/>
            </a:avLst>
          </a:prstGeom>
          <a:solidFill>
            <a:srgbClr val="FFFFFF"/>
          </a:solidFill>
          <a:ln w="25400">
            <a:solidFill>
              <a:srgbClr val="FFB627"/>
            </a:solidFill>
            <a:prstDash val="dash"/>
          </a:ln>
          <a:effectLst>
            <a:outerShdw sx="100000" sy="100000" kx="0" ky="0" algn="bl" rotWithShape="0" blurRad="50800" dist="19050" dir="5400000">
              <a:srgbClr val="1B2A4A">
                <a:alpha val="12000"/>
              </a:srgbClr>
            </a:outerShdw>
          </a:effectLst>
        </p:spPr>
      </p:sp>
      <p:sp>
        <p:nvSpPr>
          <p:cNvPr id="27" name="Text 25"/>
          <p:cNvSpPr txBox="1"/>
          <p:nvPr/>
        </p:nvSpPr>
        <p:spPr>
          <a:xfrm>
            <a:off x="10149840" y="2606040"/>
            <a:ext cx="1234440" cy="822960"/>
          </a:xfrm>
          <a:prstGeom prst="rect">
            <a:avLst/>
          </a:prstGeom>
          <a:noFill/>
          <a:ln/>
        </p:spPr>
        <p:txBody>
          <a:bodyPr wrap="square" lIns="0" tIns="0" rIns="0" bIns="0" rtlCol="0" anchor="ctr"/>
          <a:lstStyle/>
          <a:p>
            <a:pPr algn="ctr" indent="0" marL="0">
              <a:buNone/>
            </a:pPr>
            <a:r>
              <a:rPr lang="en-US" sz="2000" b="1" dirty="0">
                <a:solidFill>
                  <a:srgbClr val="FFB627"/>
                </a:solidFill>
                <a:latin typeface="Cambria" pitchFamily="34" charset="0"/>
                <a:ea typeface="Cambria" pitchFamily="34" charset="-122"/>
                <a:cs typeface="Cambria" pitchFamily="34" charset="-120"/>
              </a:rPr>
              <a:t>?</a:t>
            </a:r>
            <a:endParaRPr lang="en-US" sz="2000" dirty="0"/>
          </a:p>
        </p:txBody>
      </p:sp>
      <p:sp>
        <p:nvSpPr>
          <p:cNvPr id="28" name="Text 26"/>
          <p:cNvSpPr txBox="1"/>
          <p:nvPr/>
        </p:nvSpPr>
        <p:spPr>
          <a:xfrm>
            <a:off x="548640" y="3566160"/>
            <a:ext cx="11091672" cy="365760"/>
          </a:xfrm>
          <a:prstGeom prst="rect">
            <a:avLst/>
          </a:prstGeom>
          <a:noFill/>
          <a:ln/>
        </p:spPr>
        <p:txBody>
          <a:bodyPr wrap="square" lIns="0" tIns="0" rIns="0" bIns="0" rtlCol="0" anchor="t"/>
          <a:lstStyle/>
          <a:p>
            <a:pPr algn="l" indent="0" marL="0">
              <a:lnSpc>
                <a:spcPct val="125000"/>
              </a:lnSpc>
              <a:buNone/>
            </a:pPr>
            <a:r>
              <a:rPr lang="en-US" sz="1200" i="1" dirty="0">
                <a:solidFill>
                  <a:srgbClr val="5B6B87"/>
                </a:solidFill>
                <a:latin typeface="Calibri" pitchFamily="34" charset="0"/>
                <a:ea typeface="Calibri" pitchFamily="34" charset="-122"/>
                <a:cs typeface="Calibri" pitchFamily="34" charset="-120"/>
              </a:rPr>
              <a:t>Starting words                              each “?” = one person, one word, no discussing</a:t>
            </a:r>
            <a:endParaRPr lang="en-US" sz="1200" dirty="0"/>
          </a:p>
        </p:txBody>
      </p:sp>
      <p:sp>
        <p:nvSpPr>
          <p:cNvPr id="29" name="Shape 27"/>
          <p:cNvSpPr/>
          <p:nvPr/>
        </p:nvSpPr>
        <p:spPr>
          <a:xfrm>
            <a:off x="548640" y="4114800"/>
            <a:ext cx="11091672" cy="1828800"/>
          </a:xfrm>
          <a:prstGeom prst="roundRect">
            <a:avLst>
              <a:gd name="adj" fmla="val 2500"/>
            </a:avLst>
          </a:prstGeom>
          <a:solidFill>
            <a:srgbClr val="142850"/>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30" name="Text 28"/>
          <p:cNvSpPr txBox="1"/>
          <p:nvPr/>
        </p:nvSpPr>
        <p:spPr>
          <a:xfrm>
            <a:off x="822960" y="4114800"/>
            <a:ext cx="10543032" cy="1828800"/>
          </a:xfrm>
          <a:prstGeom prst="rect">
            <a:avLst/>
          </a:prstGeom>
          <a:noFill/>
          <a:ln/>
        </p:spPr>
        <p:txBody>
          <a:bodyPr wrap="square" lIns="0" tIns="0" rIns="0" bIns="0" rtlCol="0" anchor="ctr"/>
          <a:lstStyle/>
          <a:p>
            <a:pPr indent="0" marL="0">
              <a:lnSpc>
                <a:spcPct val="125000"/>
              </a:lnSpc>
              <a:buNone/>
            </a:pPr>
            <a:r>
              <a:rPr lang="en-US" sz="1350" i="1" dirty="0">
                <a:solidFill>
                  <a:srgbClr val="FFFFFF"/>
                </a:solidFill>
                <a:latin typeface="Calibri" pitchFamily="34" charset="0"/>
                <a:ea typeface="Calibri" pitchFamily="34" charset="-122"/>
                <a:cs typeface="Calibri" pitchFamily="34" charset="-120"/>
              </a:rPr>
              <a:t>You just generated text the same way an LLM does — one word predicted at a time, each person (or the model) only seeing what came before, with no master plan for the whole sentence. Notice how the sentence can still drift somewhere odd — that happens to models too.</a:t>
            </a:r>
            <a:endParaRPr lang="en-US" sz="1350" dirty="0"/>
          </a:p>
        </p:txBody>
      </p:sp>
      <p:sp>
        <p:nvSpPr>
          <p:cNvPr id="31" name="Text 29"/>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1</a:t>
            </a:r>
            <a:endParaRPr lang="en-US" sz="900" dirty="0"/>
          </a:p>
        </p:txBody>
      </p:sp>
      <p:sp>
        <p:nvSpPr>
          <p:cNvPr id="32" name="Text 30"/>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SESSION 1 QUICK CHECK</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Before We Move On…</a:t>
            </a:r>
            <a:endParaRPr lang="en-US" sz="3000" dirty="0"/>
          </a:p>
        </p:txBody>
      </p:sp>
      <p:sp>
        <p:nvSpPr>
          <p:cNvPr id="4" name="Shape 2"/>
          <p:cNvSpPr/>
          <p:nvPr/>
        </p:nvSpPr>
        <p:spPr>
          <a:xfrm>
            <a:off x="548640" y="1920240"/>
            <a:ext cx="11091672" cy="1234440"/>
          </a:xfrm>
          <a:prstGeom prst="roundRect">
            <a:avLst>
              <a:gd name="adj" fmla="val 4444"/>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5" name="Shape 3"/>
          <p:cNvSpPr/>
          <p:nvPr/>
        </p:nvSpPr>
        <p:spPr>
          <a:xfrm>
            <a:off x="822960" y="2240280"/>
            <a:ext cx="594360" cy="594360"/>
          </a:xfrm>
          <a:prstGeom prst="roundRect">
            <a:avLst>
              <a:gd name="adj" fmla="val 50000"/>
            </a:avLst>
          </a:prstGeom>
          <a:solidFill>
            <a:srgbClr val="FFB627"/>
          </a:solidFill>
          <a:ln/>
        </p:spPr>
      </p:sp>
      <p:sp>
        <p:nvSpPr>
          <p:cNvPr id="6" name="Text 4"/>
          <p:cNvSpPr txBox="1"/>
          <p:nvPr/>
        </p:nvSpPr>
        <p:spPr>
          <a:xfrm>
            <a:off x="822960" y="2240280"/>
            <a:ext cx="59436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7" name="Text 5"/>
          <p:cNvSpPr txBox="1"/>
          <p:nvPr/>
        </p:nvSpPr>
        <p:spPr>
          <a:xfrm>
            <a:off x="1600200" y="1920240"/>
            <a:ext cx="9784080" cy="1234440"/>
          </a:xfrm>
          <a:prstGeom prst="rect">
            <a:avLst/>
          </a:prstGeom>
          <a:noFill/>
          <a:ln/>
        </p:spPr>
        <p:txBody>
          <a:bodyPr wrap="square" lIns="0" tIns="0" rIns="0" bIns="0" rtlCol="0" anchor="ctr"/>
          <a:lstStyle/>
          <a:p>
            <a:pPr algn="l" indent="0" marL="0">
              <a:lnSpc>
                <a:spcPct val="125000"/>
              </a:lnSpc>
              <a:buNone/>
            </a:pPr>
            <a:r>
              <a:rPr lang="en-US" sz="1450" dirty="0">
                <a:solidFill>
                  <a:srgbClr val="1B2A4A"/>
                </a:solidFill>
                <a:latin typeface="Calibri" pitchFamily="34" charset="0"/>
                <a:ea typeface="Calibri" pitchFamily="34" charset="-122"/>
                <a:cs typeface="Calibri" pitchFamily="34" charset="-120"/>
              </a:rPr>
              <a:t>When an LLM answers a question, is it retrieving a stored fact or predicting the next word repeatedly?</a:t>
            </a:r>
            <a:endParaRPr lang="en-US" sz="1450" dirty="0"/>
          </a:p>
        </p:txBody>
      </p:sp>
      <p:sp>
        <p:nvSpPr>
          <p:cNvPr id="8" name="Shape 6"/>
          <p:cNvSpPr/>
          <p:nvPr/>
        </p:nvSpPr>
        <p:spPr>
          <a:xfrm>
            <a:off x="548640" y="3337560"/>
            <a:ext cx="11091672" cy="1234440"/>
          </a:xfrm>
          <a:prstGeom prst="roundRect">
            <a:avLst>
              <a:gd name="adj" fmla="val 4444"/>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9" name="Shape 7"/>
          <p:cNvSpPr/>
          <p:nvPr/>
        </p:nvSpPr>
        <p:spPr>
          <a:xfrm>
            <a:off x="822960" y="3657600"/>
            <a:ext cx="594360" cy="594360"/>
          </a:xfrm>
          <a:prstGeom prst="roundRect">
            <a:avLst>
              <a:gd name="adj" fmla="val 50000"/>
            </a:avLst>
          </a:prstGeom>
          <a:solidFill>
            <a:srgbClr val="FFB627"/>
          </a:solidFill>
          <a:ln/>
        </p:spPr>
      </p:sp>
      <p:sp>
        <p:nvSpPr>
          <p:cNvPr id="10" name="Text 8"/>
          <p:cNvSpPr txBox="1"/>
          <p:nvPr/>
        </p:nvSpPr>
        <p:spPr>
          <a:xfrm>
            <a:off x="822960" y="3657600"/>
            <a:ext cx="59436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1" name="Text 9"/>
          <p:cNvSpPr txBox="1"/>
          <p:nvPr/>
        </p:nvSpPr>
        <p:spPr>
          <a:xfrm>
            <a:off x="1600200" y="3337560"/>
            <a:ext cx="9784080" cy="1234440"/>
          </a:xfrm>
          <a:prstGeom prst="rect">
            <a:avLst/>
          </a:prstGeom>
          <a:noFill/>
          <a:ln/>
        </p:spPr>
        <p:txBody>
          <a:bodyPr wrap="square" lIns="0" tIns="0" rIns="0" bIns="0" rtlCol="0" anchor="ctr"/>
          <a:lstStyle/>
          <a:p>
            <a:pPr algn="l" indent="0" marL="0">
              <a:lnSpc>
                <a:spcPct val="125000"/>
              </a:lnSpc>
              <a:buNone/>
            </a:pPr>
            <a:r>
              <a:rPr lang="en-US" sz="1450" dirty="0">
                <a:solidFill>
                  <a:srgbClr val="1B2A4A"/>
                </a:solidFill>
                <a:latin typeface="Calibri" pitchFamily="34" charset="0"/>
                <a:ea typeface="Calibri" pitchFamily="34" charset="-122"/>
                <a:cs typeface="Calibri" pitchFamily="34" charset="-120"/>
              </a:rPr>
              <a:t>A Day-4 style model outputs one of a fixed set of labels. What does a GenAI model output instead?</a:t>
            </a:r>
            <a:endParaRPr lang="en-US" sz="1450" dirty="0"/>
          </a:p>
        </p:txBody>
      </p:sp>
      <p:sp>
        <p:nvSpPr>
          <p:cNvPr id="12" name="Shape 10"/>
          <p:cNvSpPr/>
          <p:nvPr/>
        </p:nvSpPr>
        <p:spPr>
          <a:xfrm>
            <a:off x="548640" y="4754880"/>
            <a:ext cx="11091672" cy="1234440"/>
          </a:xfrm>
          <a:prstGeom prst="roundRect">
            <a:avLst>
              <a:gd name="adj" fmla="val 4444"/>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13" name="Shape 11"/>
          <p:cNvSpPr/>
          <p:nvPr/>
        </p:nvSpPr>
        <p:spPr>
          <a:xfrm>
            <a:off x="822960" y="5074920"/>
            <a:ext cx="594360" cy="594360"/>
          </a:xfrm>
          <a:prstGeom prst="roundRect">
            <a:avLst>
              <a:gd name="adj" fmla="val 50000"/>
            </a:avLst>
          </a:prstGeom>
          <a:solidFill>
            <a:srgbClr val="FFB627"/>
          </a:solidFill>
          <a:ln/>
        </p:spPr>
      </p:sp>
      <p:sp>
        <p:nvSpPr>
          <p:cNvPr id="14" name="Text 12"/>
          <p:cNvSpPr txBox="1"/>
          <p:nvPr/>
        </p:nvSpPr>
        <p:spPr>
          <a:xfrm>
            <a:off x="822960" y="5074920"/>
            <a:ext cx="59436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5" name="Text 13"/>
          <p:cNvSpPr txBox="1"/>
          <p:nvPr/>
        </p:nvSpPr>
        <p:spPr>
          <a:xfrm>
            <a:off x="1600200" y="4754880"/>
            <a:ext cx="9784080" cy="1234440"/>
          </a:xfrm>
          <a:prstGeom prst="rect">
            <a:avLst/>
          </a:prstGeom>
          <a:noFill/>
          <a:ln/>
        </p:spPr>
        <p:txBody>
          <a:bodyPr wrap="square" lIns="0" tIns="0" rIns="0" bIns="0" rtlCol="0" anchor="ctr"/>
          <a:lstStyle/>
          <a:p>
            <a:pPr algn="l" indent="0" marL="0">
              <a:lnSpc>
                <a:spcPct val="125000"/>
              </a:lnSpc>
              <a:buNone/>
            </a:pPr>
            <a:r>
              <a:rPr lang="en-US" sz="1450" dirty="0">
                <a:solidFill>
                  <a:srgbClr val="1B2A4A"/>
                </a:solidFill>
                <a:latin typeface="Calibri" pitchFamily="34" charset="0"/>
                <a:ea typeface="Calibri" pitchFamily="34" charset="-122"/>
                <a:cs typeface="Calibri" pitchFamily="34" charset="-120"/>
              </a:rPr>
              <a:t>In the token-by-token loop, what does the model use to predict the NEXT word?</a:t>
            </a:r>
            <a:endParaRPr lang="en-US" sz="1450" dirty="0"/>
          </a:p>
        </p:txBody>
      </p:sp>
      <p:sp>
        <p:nvSpPr>
          <p:cNvPr id="16" name="Text 14"/>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1</a:t>
            </a:r>
            <a:endParaRPr lang="en-US" sz="900" dirty="0"/>
          </a:p>
        </p:txBody>
      </p:sp>
      <p:sp>
        <p:nvSpPr>
          <p:cNvPr id="17" name="Text 15"/>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1371600" cy="1097280"/>
          </a:xfrm>
          <a:prstGeom prst="rect">
            <a:avLst/>
          </a:prstGeom>
          <a:noFill/>
          <a:ln/>
        </p:spPr>
        <p:txBody>
          <a:bodyPr wrap="square" lIns="0" tIns="0" rIns="0" bIns="0" rtlCol="0" anchor="ctr"/>
          <a:lstStyle/>
          <a:p>
            <a:pPr indent="0" marL="0">
              <a:buNone/>
            </a:pPr>
            <a:r>
              <a:rPr lang="en-US" sz="6000" b="1" dirty="0">
                <a:solidFill>
                  <a:srgbClr val="D8DEEA"/>
                </a:solidFill>
                <a:latin typeface="Cambria" pitchFamily="34" charset="0"/>
                <a:ea typeface="Cambria" pitchFamily="34" charset="-122"/>
                <a:cs typeface="Cambria" pitchFamily="34" charset="-120"/>
              </a:rPr>
              <a:t>2</a:t>
            </a:r>
            <a:endParaRPr lang="en-US" sz="6000" dirty="0"/>
          </a:p>
        </p:txBody>
      </p:sp>
      <p:sp>
        <p:nvSpPr>
          <p:cNvPr id="3" name="Text 1"/>
          <p:cNvSpPr txBox="1"/>
          <p:nvPr/>
        </p:nvSpPr>
        <p:spPr>
          <a:xfrm>
            <a:off x="548640" y="1417320"/>
            <a:ext cx="8229600" cy="320040"/>
          </a:xfrm>
          <a:prstGeom prst="rect">
            <a:avLst/>
          </a:prstGeom>
          <a:noFill/>
          <a:ln/>
        </p:spPr>
        <p:txBody>
          <a:bodyPr wrap="square" lIns="0" tIns="0" rIns="0" bIns="0" rtlCol="0" anchor="ctr"/>
          <a:lstStyle/>
          <a:p>
            <a:pPr indent="0" marL="0">
              <a:buNone/>
            </a:pPr>
            <a:r>
              <a:rPr lang="en-US" sz="1300" b="1" spc="200" kern="0" dirty="0">
                <a:solidFill>
                  <a:srgbClr val="FFB627"/>
                </a:solidFill>
                <a:latin typeface="Calibri" pitchFamily="34" charset="0"/>
                <a:ea typeface="Calibri" pitchFamily="34" charset="-122"/>
                <a:cs typeface="Calibri" pitchFamily="34" charset="-120"/>
              </a:rPr>
              <a:t>SESSION 2  ·  2 Hours</a:t>
            </a:r>
            <a:endParaRPr lang="en-US" sz="1300" dirty="0"/>
          </a:p>
        </p:txBody>
      </p:sp>
      <p:sp>
        <p:nvSpPr>
          <p:cNvPr id="4" name="Text 2"/>
          <p:cNvSpPr txBox="1"/>
          <p:nvPr/>
        </p:nvSpPr>
        <p:spPr>
          <a:xfrm>
            <a:off x="548640" y="1783080"/>
            <a:ext cx="10058400" cy="822960"/>
          </a:xfrm>
          <a:prstGeom prst="rect">
            <a:avLst/>
          </a:prstGeom>
          <a:noFill/>
          <a:ln/>
        </p:spPr>
        <p:txBody>
          <a:bodyPr wrap="square" lIns="0" tIns="0" rIns="0" bIns="0"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How An LLM “Knows” What To Say</a:t>
            </a:r>
            <a:endParaRPr lang="en-US" sz="2800" dirty="0"/>
          </a:p>
        </p:txBody>
      </p:sp>
      <p:sp>
        <p:nvSpPr>
          <p:cNvPr id="5" name="Shape 3"/>
          <p:cNvSpPr/>
          <p:nvPr/>
        </p:nvSpPr>
        <p:spPr>
          <a:xfrm>
            <a:off x="548640" y="2834640"/>
            <a:ext cx="11091672" cy="2194560"/>
          </a:xfrm>
          <a:prstGeom prst="roundRect">
            <a:avLst>
              <a:gd name="adj" fmla="val 2500"/>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6" name="Text 4"/>
          <p:cNvSpPr txBox="1"/>
          <p:nvPr/>
        </p:nvSpPr>
        <p:spPr>
          <a:xfrm>
            <a:off x="868680" y="3063240"/>
            <a:ext cx="5486400" cy="320040"/>
          </a:xfrm>
          <a:prstGeom prst="rect">
            <a:avLst/>
          </a:prstGeom>
          <a:noFill/>
          <a:ln/>
        </p:spPr>
        <p:txBody>
          <a:bodyPr wrap="square" lIns="0" tIns="0" rIns="0" bIns="0" rtlCol="0" anchor="ctr"/>
          <a:lstStyle/>
          <a:p>
            <a:pPr indent="0" marL="0">
              <a:buNone/>
            </a:pPr>
            <a:r>
              <a:rPr lang="en-US" sz="1400" b="1" dirty="0">
                <a:solidFill>
                  <a:srgbClr val="FFB627"/>
                </a:solidFill>
                <a:latin typeface="Calibri" pitchFamily="34" charset="0"/>
                <a:ea typeface="Calibri" pitchFamily="34" charset="-122"/>
                <a:cs typeface="Calibri" pitchFamily="34" charset="-120"/>
              </a:rPr>
              <a:t>QUICK RECAP — WHERE WE LEFT OFF</a:t>
            </a:r>
            <a:endParaRPr lang="en-US" sz="1400" dirty="0"/>
          </a:p>
        </p:txBody>
      </p:sp>
      <p:sp>
        <p:nvSpPr>
          <p:cNvPr id="7" name="Text 5"/>
          <p:cNvSpPr txBox="1"/>
          <p:nvPr/>
        </p:nvSpPr>
        <p:spPr>
          <a:xfrm>
            <a:off x="868680" y="3520440"/>
            <a:ext cx="10424160" cy="548640"/>
          </a:xfrm>
          <a:prstGeom prst="rect">
            <a:avLst/>
          </a:prstGeom>
          <a:noFill/>
          <a:ln/>
        </p:spPr>
        <p:txBody>
          <a:bodyPr wrap="square" lIns="0" tIns="0" rIns="0" bIns="0" rtlCol="0" anchor="t"/>
          <a:lstStyle/>
          <a:p>
            <a:pPr algn="l" indent="0" marL="0">
              <a:lnSpc>
                <a:spcPct val="125000"/>
              </a:lnSpc>
              <a:buNone/>
            </a:pPr>
            <a:r>
              <a:rPr lang="en-US" sz="1400" dirty="0">
                <a:solidFill>
                  <a:srgbClr val="1B2A4A"/>
                </a:solidFill>
                <a:latin typeface="Calibri" pitchFamily="34" charset="0"/>
                <a:ea typeface="Calibri" pitchFamily="34" charset="-122"/>
                <a:cs typeface="Calibri" pitchFamily="34" charset="-120"/>
              </a:rPr>
              <a:t>Session 1 recap: GenAI generates text one word at a time, by predicting what's most likely to come next.</a:t>
            </a:r>
            <a:endParaRPr lang="en-US" sz="1400" dirty="0"/>
          </a:p>
        </p:txBody>
      </p:sp>
      <p:sp>
        <p:nvSpPr>
          <p:cNvPr id="8" name="Text 6"/>
          <p:cNvSpPr txBox="1"/>
          <p:nvPr/>
        </p:nvSpPr>
        <p:spPr>
          <a:xfrm>
            <a:off x="868680" y="4087368"/>
            <a:ext cx="10424160" cy="548640"/>
          </a:xfrm>
          <a:prstGeom prst="rect">
            <a:avLst/>
          </a:prstGeom>
          <a:noFill/>
          <a:ln/>
        </p:spPr>
        <p:txBody>
          <a:bodyPr wrap="square" lIns="0" tIns="0" rIns="0" bIns="0" rtlCol="0" anchor="t"/>
          <a:lstStyle/>
          <a:p>
            <a:pPr algn="l" indent="0" marL="0">
              <a:lnSpc>
                <a:spcPct val="125000"/>
              </a:lnSpc>
              <a:buNone/>
            </a:pPr>
            <a:r>
              <a:rPr lang="en-US" sz="1400" dirty="0">
                <a:solidFill>
                  <a:srgbClr val="1B2A4A"/>
                </a:solidFill>
                <a:latin typeface="Calibri" pitchFamily="34" charset="0"/>
                <a:ea typeface="Calibri" pitchFamily="34" charset="-122"/>
                <a:cs typeface="Calibri" pitchFamily="34" charset="-120"/>
              </a:rPr>
              <a:t>Now: where does that “most likely” come from — and what happens when the model is confidently wrong?</a:t>
            </a:r>
            <a:endParaRPr lang="en-US" sz="1400" dirty="0"/>
          </a:p>
        </p:txBody>
      </p:sp>
      <p:sp>
        <p:nvSpPr>
          <p:cNvPr id="9" name="Text 7"/>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GenAI &amp; LLMs · Day 4 recap</a:t>
            </a:r>
            <a:endParaRPr lang="en-US" sz="900" dirty="0"/>
          </a:p>
        </p:txBody>
      </p:sp>
      <p:sp>
        <p:nvSpPr>
          <p:cNvPr id="10" name="Text 8"/>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WHERE “MOST LIKELY” COMES FROM</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Trained On Huge Amounts Of Existing Text</a:t>
            </a:r>
            <a:endParaRPr lang="en-US" sz="3000" dirty="0"/>
          </a:p>
        </p:txBody>
      </p:sp>
      <p:sp>
        <p:nvSpPr>
          <p:cNvPr id="4" name="Text 2"/>
          <p:cNvSpPr txBox="1"/>
          <p:nvPr/>
        </p:nvSpPr>
        <p:spPr>
          <a:xfrm>
            <a:off x="548640" y="1828800"/>
            <a:ext cx="11091672" cy="822960"/>
          </a:xfrm>
          <a:prstGeom prst="rect">
            <a:avLst/>
          </a:prstGeom>
          <a:noFill/>
          <a:ln/>
        </p:spPr>
        <p:txBody>
          <a:bodyPr wrap="square" lIns="0" tIns="0" rIns="0" bIns="0" rtlCol="0" anchor="t"/>
          <a:lstStyle/>
          <a:p>
            <a:pPr algn="l" indent="0" marL="0">
              <a:lnSpc>
                <a:spcPct val="140000"/>
              </a:lnSpc>
              <a:buNone/>
            </a:pPr>
            <a:r>
              <a:rPr lang="en-US" sz="1500" dirty="0">
                <a:solidFill>
                  <a:srgbClr val="1B2A4A"/>
                </a:solidFill>
                <a:latin typeface="Calibri" pitchFamily="34" charset="0"/>
                <a:ea typeface="Calibri" pitchFamily="34" charset="-122"/>
                <a:cs typeface="Calibri" pitchFamily="34" charset="-120"/>
              </a:rPr>
              <a:t>An LLM is trained on massive amounts of existing text — books, articles, websites, code, conversations. It learns which word tends to follow which, across billions of examples.</a:t>
            </a:r>
            <a:endParaRPr lang="en-US" sz="1500" dirty="0"/>
          </a:p>
        </p:txBody>
      </p:sp>
      <p:sp>
        <p:nvSpPr>
          <p:cNvPr id="5" name="Shape 3"/>
          <p:cNvSpPr/>
          <p:nvPr/>
        </p:nvSpPr>
        <p:spPr>
          <a:xfrm>
            <a:off x="548640" y="2743200"/>
            <a:ext cx="11091672" cy="2286000"/>
          </a:xfrm>
          <a:prstGeom prst="roundRect">
            <a:avLst>
              <a:gd name="adj" fmla="val 2400"/>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6" name="Text 4"/>
          <p:cNvSpPr txBox="1"/>
          <p:nvPr/>
        </p:nvSpPr>
        <p:spPr>
          <a:xfrm>
            <a:off x="868680" y="2926080"/>
            <a:ext cx="9144000" cy="320040"/>
          </a:xfrm>
          <a:prstGeom prst="rect">
            <a:avLst/>
          </a:prstGeom>
          <a:noFill/>
          <a:ln/>
        </p:spPr>
        <p:txBody>
          <a:bodyPr wrap="square" lIns="0" tIns="0" rIns="0" bIns="0" rtlCol="0" anchor="ctr"/>
          <a:lstStyle/>
          <a:p>
            <a:pPr indent="0" marL="0">
              <a:buNone/>
            </a:pPr>
            <a:r>
              <a:rPr lang="en-US" sz="1400" b="1" dirty="0">
                <a:solidFill>
                  <a:srgbClr val="FFB627"/>
                </a:solidFill>
                <a:latin typeface="Calibri" pitchFamily="34" charset="0"/>
                <a:ea typeface="Calibri" pitchFamily="34" charset="-122"/>
                <a:cs typeface="Calibri" pitchFamily="34" charset="-120"/>
              </a:rPr>
              <a:t>TOY EXAMPLE: “the cat sat on the ___” — which word comes next?</a:t>
            </a:r>
            <a:endParaRPr lang="en-US" sz="1400" dirty="0"/>
          </a:p>
        </p:txBody>
      </p:sp>
      <p:sp>
        <p:nvSpPr>
          <p:cNvPr id="7" name="Text 5"/>
          <p:cNvSpPr txBox="1"/>
          <p:nvPr/>
        </p:nvSpPr>
        <p:spPr>
          <a:xfrm>
            <a:off x="868680" y="3364992"/>
            <a:ext cx="914400" cy="384048"/>
          </a:xfrm>
          <a:prstGeom prst="rect">
            <a:avLst/>
          </a:prstGeom>
          <a:noFill/>
          <a:ln/>
        </p:spPr>
        <p:txBody>
          <a:bodyPr wrap="square" lIns="0" tIns="0" rIns="0" bIns="0" rtlCol="0" anchor="ctr"/>
          <a:lstStyle/>
          <a:p>
            <a:pPr algn="l" indent="0" marL="0">
              <a:lnSpc>
                <a:spcPct val="125000"/>
              </a:lnSpc>
              <a:buNone/>
            </a:pPr>
            <a:r>
              <a:rPr lang="en-US" sz="1400" b="1" dirty="0">
                <a:solidFill>
                  <a:srgbClr val="1B2A4A"/>
                </a:solidFill>
                <a:latin typeface="Calibri" pitchFamily="34" charset="0"/>
                <a:ea typeface="Calibri" pitchFamily="34" charset="-122"/>
                <a:cs typeface="Calibri" pitchFamily="34" charset="-120"/>
              </a:rPr>
              <a:t>mat</a:t>
            </a:r>
            <a:endParaRPr lang="en-US" sz="1400" dirty="0"/>
          </a:p>
        </p:txBody>
      </p:sp>
      <p:sp>
        <p:nvSpPr>
          <p:cNvPr id="8" name="Shape 6"/>
          <p:cNvSpPr/>
          <p:nvPr/>
        </p:nvSpPr>
        <p:spPr>
          <a:xfrm>
            <a:off x="1920240" y="3401568"/>
            <a:ext cx="7066483" cy="310896"/>
          </a:xfrm>
          <a:prstGeom prst="roundRect">
            <a:avLst>
              <a:gd name="adj" fmla="val 14706"/>
            </a:avLst>
          </a:prstGeom>
          <a:solidFill>
            <a:srgbClr val="1FAB65"/>
          </a:solidFill>
          <a:ln/>
        </p:spPr>
      </p:sp>
      <p:sp>
        <p:nvSpPr>
          <p:cNvPr id="9" name="Text 7"/>
          <p:cNvSpPr txBox="1"/>
          <p:nvPr/>
        </p:nvSpPr>
        <p:spPr>
          <a:xfrm>
            <a:off x="9784080" y="3364992"/>
            <a:ext cx="2011680" cy="384048"/>
          </a:xfrm>
          <a:prstGeom prst="rect">
            <a:avLst/>
          </a:prstGeom>
          <a:noFill/>
          <a:ln/>
        </p:spPr>
        <p:txBody>
          <a:bodyPr wrap="square" lIns="0" tIns="0" rIns="0" bIns="0" rtlCol="0" anchor="ctr"/>
          <a:lstStyle/>
          <a:p>
            <a:pPr algn="l" indent="0" marL="0">
              <a:lnSpc>
                <a:spcPct val="125000"/>
              </a:lnSpc>
              <a:buNone/>
            </a:pPr>
            <a:r>
              <a:rPr lang="en-US" sz="1250" i="1" dirty="0">
                <a:solidFill>
                  <a:srgbClr val="5B6B87"/>
                </a:solidFill>
                <a:latin typeface="Calibri" pitchFamily="34" charset="0"/>
                <a:ea typeface="Calibri" pitchFamily="34" charset="-122"/>
                <a:cs typeface="Calibri" pitchFamily="34" charset="-120"/>
              </a:rPr>
              <a:t>Very often</a:t>
            </a:r>
            <a:endParaRPr lang="en-US" sz="1250" dirty="0"/>
          </a:p>
        </p:txBody>
      </p:sp>
      <p:sp>
        <p:nvSpPr>
          <p:cNvPr id="10" name="Text 8"/>
          <p:cNvSpPr txBox="1"/>
          <p:nvPr/>
        </p:nvSpPr>
        <p:spPr>
          <a:xfrm>
            <a:off x="868680" y="3895344"/>
            <a:ext cx="914400" cy="384048"/>
          </a:xfrm>
          <a:prstGeom prst="rect">
            <a:avLst/>
          </a:prstGeom>
          <a:noFill/>
          <a:ln/>
        </p:spPr>
        <p:txBody>
          <a:bodyPr wrap="square" lIns="0" tIns="0" rIns="0" bIns="0" rtlCol="0" anchor="ctr"/>
          <a:lstStyle/>
          <a:p>
            <a:pPr algn="l" indent="0" marL="0">
              <a:lnSpc>
                <a:spcPct val="125000"/>
              </a:lnSpc>
              <a:buNone/>
            </a:pPr>
            <a:r>
              <a:rPr lang="en-US" sz="1400" b="1" dirty="0">
                <a:solidFill>
                  <a:srgbClr val="1B2A4A"/>
                </a:solidFill>
                <a:latin typeface="Calibri" pitchFamily="34" charset="0"/>
                <a:ea typeface="Calibri" pitchFamily="34" charset="-122"/>
                <a:cs typeface="Calibri" pitchFamily="34" charset="-120"/>
              </a:rPr>
              <a:t>floor</a:t>
            </a:r>
            <a:endParaRPr lang="en-US" sz="1400" dirty="0"/>
          </a:p>
        </p:txBody>
      </p:sp>
      <p:sp>
        <p:nvSpPr>
          <p:cNvPr id="11" name="Shape 9"/>
          <p:cNvSpPr/>
          <p:nvPr/>
        </p:nvSpPr>
        <p:spPr>
          <a:xfrm>
            <a:off x="1920240" y="3931920"/>
            <a:ext cx="4224528" cy="310896"/>
          </a:xfrm>
          <a:prstGeom prst="roundRect">
            <a:avLst>
              <a:gd name="adj" fmla="val 14706"/>
            </a:avLst>
          </a:prstGeom>
          <a:solidFill>
            <a:srgbClr val="FFB627"/>
          </a:solidFill>
          <a:ln/>
        </p:spPr>
      </p:sp>
      <p:sp>
        <p:nvSpPr>
          <p:cNvPr id="12" name="Text 10"/>
          <p:cNvSpPr txBox="1"/>
          <p:nvPr/>
        </p:nvSpPr>
        <p:spPr>
          <a:xfrm>
            <a:off x="9784080" y="3895344"/>
            <a:ext cx="2011680" cy="384048"/>
          </a:xfrm>
          <a:prstGeom prst="rect">
            <a:avLst/>
          </a:prstGeom>
          <a:noFill/>
          <a:ln/>
        </p:spPr>
        <p:txBody>
          <a:bodyPr wrap="square" lIns="0" tIns="0" rIns="0" bIns="0" rtlCol="0" anchor="ctr"/>
          <a:lstStyle/>
          <a:p>
            <a:pPr algn="l" indent="0" marL="0">
              <a:lnSpc>
                <a:spcPct val="125000"/>
              </a:lnSpc>
              <a:buNone/>
            </a:pPr>
            <a:r>
              <a:rPr lang="en-US" sz="1250" i="1" dirty="0">
                <a:solidFill>
                  <a:srgbClr val="5B6B87"/>
                </a:solidFill>
                <a:latin typeface="Calibri" pitchFamily="34" charset="0"/>
                <a:ea typeface="Calibri" pitchFamily="34" charset="-122"/>
                <a:cs typeface="Calibri" pitchFamily="34" charset="-120"/>
              </a:rPr>
              <a:t>Often</a:t>
            </a:r>
            <a:endParaRPr lang="en-US" sz="1250" dirty="0"/>
          </a:p>
        </p:txBody>
      </p:sp>
      <p:sp>
        <p:nvSpPr>
          <p:cNvPr id="13" name="Text 11"/>
          <p:cNvSpPr txBox="1"/>
          <p:nvPr/>
        </p:nvSpPr>
        <p:spPr>
          <a:xfrm>
            <a:off x="868680" y="4425696"/>
            <a:ext cx="914400" cy="384048"/>
          </a:xfrm>
          <a:prstGeom prst="rect">
            <a:avLst/>
          </a:prstGeom>
          <a:noFill/>
          <a:ln/>
        </p:spPr>
        <p:txBody>
          <a:bodyPr wrap="square" lIns="0" tIns="0" rIns="0" bIns="0" rtlCol="0" anchor="ctr"/>
          <a:lstStyle/>
          <a:p>
            <a:pPr algn="l" indent="0" marL="0">
              <a:lnSpc>
                <a:spcPct val="125000"/>
              </a:lnSpc>
              <a:buNone/>
            </a:pPr>
            <a:r>
              <a:rPr lang="en-US" sz="1400" b="1" dirty="0">
                <a:solidFill>
                  <a:srgbClr val="1B2A4A"/>
                </a:solidFill>
                <a:latin typeface="Calibri" pitchFamily="34" charset="0"/>
                <a:ea typeface="Calibri" pitchFamily="34" charset="-122"/>
                <a:cs typeface="Calibri" pitchFamily="34" charset="-120"/>
              </a:rPr>
              <a:t>guitar</a:t>
            </a:r>
            <a:endParaRPr lang="en-US" sz="1400" dirty="0"/>
          </a:p>
        </p:txBody>
      </p:sp>
      <p:sp>
        <p:nvSpPr>
          <p:cNvPr id="14" name="Shape 12"/>
          <p:cNvSpPr/>
          <p:nvPr/>
        </p:nvSpPr>
        <p:spPr>
          <a:xfrm>
            <a:off x="1920240" y="4462272"/>
            <a:ext cx="307238" cy="310896"/>
          </a:xfrm>
          <a:prstGeom prst="roundRect">
            <a:avLst>
              <a:gd name="adj" fmla="val 14881"/>
            </a:avLst>
          </a:prstGeom>
          <a:solidFill>
            <a:srgbClr val="D64545"/>
          </a:solidFill>
          <a:ln/>
        </p:spPr>
      </p:sp>
      <p:sp>
        <p:nvSpPr>
          <p:cNvPr id="15" name="Text 13"/>
          <p:cNvSpPr txBox="1"/>
          <p:nvPr/>
        </p:nvSpPr>
        <p:spPr>
          <a:xfrm>
            <a:off x="9784080" y="4425696"/>
            <a:ext cx="2011680" cy="384048"/>
          </a:xfrm>
          <a:prstGeom prst="rect">
            <a:avLst/>
          </a:prstGeom>
          <a:noFill/>
          <a:ln/>
        </p:spPr>
        <p:txBody>
          <a:bodyPr wrap="square" lIns="0" tIns="0" rIns="0" bIns="0" rtlCol="0" anchor="ctr"/>
          <a:lstStyle/>
          <a:p>
            <a:pPr algn="l" indent="0" marL="0">
              <a:lnSpc>
                <a:spcPct val="125000"/>
              </a:lnSpc>
              <a:buNone/>
            </a:pPr>
            <a:r>
              <a:rPr lang="en-US" sz="1250" i="1" dirty="0">
                <a:solidFill>
                  <a:srgbClr val="5B6B87"/>
                </a:solidFill>
                <a:latin typeface="Calibri" pitchFamily="34" charset="0"/>
                <a:ea typeface="Calibri" pitchFamily="34" charset="-122"/>
                <a:cs typeface="Calibri" pitchFamily="34" charset="-120"/>
              </a:rPr>
              <a:t>Almost never</a:t>
            </a:r>
            <a:endParaRPr lang="en-US" sz="1250" dirty="0"/>
          </a:p>
        </p:txBody>
      </p:sp>
      <p:sp>
        <p:nvSpPr>
          <p:cNvPr id="16" name="Shape 14"/>
          <p:cNvSpPr/>
          <p:nvPr/>
        </p:nvSpPr>
        <p:spPr>
          <a:xfrm>
            <a:off x="548640" y="5257800"/>
            <a:ext cx="11091672" cy="1005840"/>
          </a:xfrm>
          <a:prstGeom prst="roundRect">
            <a:avLst>
              <a:gd name="adj" fmla="val 4545"/>
            </a:avLst>
          </a:prstGeom>
          <a:solidFill>
            <a:srgbClr val="142850"/>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17" name="Text 15"/>
          <p:cNvSpPr txBox="1"/>
          <p:nvPr/>
        </p:nvSpPr>
        <p:spPr>
          <a:xfrm>
            <a:off x="822960" y="5257800"/>
            <a:ext cx="10543032" cy="1005840"/>
          </a:xfrm>
          <a:prstGeom prst="rect">
            <a:avLst/>
          </a:prstGeom>
          <a:noFill/>
          <a:ln/>
        </p:spPr>
        <p:txBody>
          <a:bodyPr wrap="square" lIns="0" tIns="0" rIns="0" bIns="0" rtlCol="0" anchor="ctr"/>
          <a:lstStyle/>
          <a:p>
            <a:pPr indent="0" marL="0">
              <a:lnSpc>
                <a:spcPct val="125000"/>
              </a:lnSpc>
              <a:buNone/>
            </a:pPr>
            <a:r>
              <a:rPr lang="en-US" sz="1350" i="1" dirty="0">
                <a:solidFill>
                  <a:srgbClr val="FFFFFF"/>
                </a:solidFill>
                <a:latin typeface="Calibri" pitchFamily="34" charset="0"/>
                <a:ea typeface="Calibri" pitchFamily="34" charset="-122"/>
                <a:cs typeface="Calibri" pitchFamily="34" charset="-120"/>
              </a:rPr>
              <a:t>After seeing this pattern thousands of times, the model learns “mat” and “floor” are far more likely next words than “guitar.” That's it — that's the core mechanism, just scaled up to billions of examples and every topic.</a:t>
            </a:r>
            <a:endParaRPr lang="en-US" sz="1350" dirty="0"/>
          </a:p>
        </p:txBody>
      </p:sp>
      <p:sp>
        <p:nvSpPr>
          <p:cNvPr id="18" name="Text 16"/>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2</a:t>
            </a:r>
            <a:endParaRPr lang="en-US" sz="900" dirty="0"/>
          </a:p>
        </p:txBody>
      </p:sp>
      <p:sp>
        <p:nvSpPr>
          <p:cNvPr id="19" name="Text 17"/>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WHEN “MOST LIKELY” GOES WRONG</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The Friend Who Doesn't Want To Look Dumb</a:t>
            </a:r>
            <a:endParaRPr lang="en-US" sz="3000" dirty="0"/>
          </a:p>
        </p:txBody>
      </p:sp>
      <p:sp>
        <p:nvSpPr>
          <p:cNvPr id="4" name="Text 2"/>
          <p:cNvSpPr txBox="1"/>
          <p:nvPr/>
        </p:nvSpPr>
        <p:spPr>
          <a:xfrm>
            <a:off x="548640" y="1828800"/>
            <a:ext cx="11091672" cy="548640"/>
          </a:xfrm>
          <a:prstGeom prst="rect">
            <a:avLst/>
          </a:prstGeom>
          <a:noFill/>
          <a:ln/>
        </p:spPr>
        <p:txBody>
          <a:bodyPr wrap="square" lIns="0" tIns="0" rIns="0" bIns="0" rtlCol="0" anchor="t"/>
          <a:lstStyle/>
          <a:p>
            <a:pPr algn="l" indent="0" marL="0">
              <a:lnSpc>
                <a:spcPct val="125000"/>
              </a:lnSpc>
              <a:buNone/>
            </a:pPr>
            <a:r>
              <a:rPr lang="en-US" sz="1500" dirty="0">
                <a:solidFill>
                  <a:srgbClr val="1B2A4A"/>
                </a:solidFill>
                <a:latin typeface="Calibri" pitchFamily="34" charset="0"/>
                <a:ea typeface="Calibri" pitchFamily="34" charset="-122"/>
                <a:cs typeface="Calibri" pitchFamily="34" charset="-120"/>
              </a:rPr>
              <a:t>You ask a friend a question they genuinely don't know. Two ways they could react:</a:t>
            </a:r>
            <a:endParaRPr lang="en-US" sz="1500" dirty="0"/>
          </a:p>
        </p:txBody>
      </p:sp>
      <p:sp>
        <p:nvSpPr>
          <p:cNvPr id="5" name="Shape 3"/>
          <p:cNvSpPr/>
          <p:nvPr/>
        </p:nvSpPr>
        <p:spPr>
          <a:xfrm>
            <a:off x="548640" y="2514600"/>
            <a:ext cx="5349240" cy="1737360"/>
          </a:xfrm>
          <a:prstGeom prst="roundRect">
            <a:avLst>
              <a:gd name="adj" fmla="val 3158"/>
            </a:avLst>
          </a:prstGeom>
          <a:solidFill>
            <a:srgbClr val="FFFFFF"/>
          </a:solidFill>
          <a:ln w="19050">
            <a:solidFill>
              <a:srgbClr val="1FAB65"/>
            </a:solidFill>
            <a:prstDash val="solid"/>
          </a:ln>
          <a:effectLst>
            <a:outerShdw sx="100000" sy="100000" kx="0" ky="0" algn="bl" rotWithShape="0" blurRad="50800" dist="19050" dir="5400000">
              <a:srgbClr val="1B2A4A">
                <a:alpha val="12000"/>
              </a:srgbClr>
            </a:outerShdw>
          </a:effectLst>
        </p:spPr>
      </p:sp>
      <p:sp>
        <p:nvSpPr>
          <p:cNvPr id="6" name="Shape 4"/>
          <p:cNvSpPr/>
          <p:nvPr/>
        </p:nvSpPr>
        <p:spPr>
          <a:xfrm>
            <a:off x="868680" y="2697480"/>
            <a:ext cx="2377440" cy="411480"/>
          </a:xfrm>
          <a:prstGeom prst="roundRect">
            <a:avLst>
              <a:gd name="adj" fmla="val 50000"/>
            </a:avLst>
          </a:prstGeom>
          <a:solidFill>
            <a:srgbClr val="1FAB65"/>
          </a:solidFill>
          <a:ln/>
        </p:spPr>
      </p:sp>
      <p:sp>
        <p:nvSpPr>
          <p:cNvPr id="7" name="Text 5"/>
          <p:cNvSpPr txBox="1"/>
          <p:nvPr/>
        </p:nvSpPr>
        <p:spPr>
          <a:xfrm>
            <a:off x="868680" y="2697480"/>
            <a:ext cx="237744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HONEST FRIEND</a:t>
            </a:r>
            <a:endParaRPr lang="en-US" sz="1100" dirty="0"/>
          </a:p>
        </p:txBody>
      </p:sp>
      <p:sp>
        <p:nvSpPr>
          <p:cNvPr id="8" name="Text 6"/>
          <p:cNvSpPr txBox="1"/>
          <p:nvPr/>
        </p:nvSpPr>
        <p:spPr>
          <a:xfrm>
            <a:off x="868680" y="3246120"/>
            <a:ext cx="4754880" cy="822960"/>
          </a:xfrm>
          <a:prstGeom prst="rect">
            <a:avLst/>
          </a:prstGeom>
          <a:noFill/>
          <a:ln/>
        </p:spPr>
        <p:txBody>
          <a:bodyPr wrap="square" lIns="0" tIns="0" rIns="0" bIns="0" rtlCol="0" anchor="t"/>
          <a:lstStyle/>
          <a:p>
            <a:pPr algn="l" indent="0" marL="0">
              <a:lnSpc>
                <a:spcPct val="125000"/>
              </a:lnSpc>
              <a:buNone/>
            </a:pPr>
            <a:r>
              <a:rPr lang="en-US" sz="1600" b="1" dirty="0">
                <a:solidFill>
                  <a:srgbClr val="1B2A4A"/>
                </a:solidFill>
                <a:latin typeface="Calibri" pitchFamily="34" charset="0"/>
                <a:ea typeface="Calibri" pitchFamily="34" charset="-122"/>
                <a:cs typeface="Calibri" pitchFamily="34" charset="-120"/>
              </a:rPr>
              <a:t>“Honestly, I don't know.”</a:t>
            </a:r>
            <a:endParaRPr lang="en-US" sz="1600" dirty="0"/>
          </a:p>
        </p:txBody>
      </p:sp>
      <p:sp>
        <p:nvSpPr>
          <p:cNvPr id="9" name="Shape 7"/>
          <p:cNvSpPr/>
          <p:nvPr/>
        </p:nvSpPr>
        <p:spPr>
          <a:xfrm>
            <a:off x="6126480" y="2514600"/>
            <a:ext cx="5349240" cy="1737360"/>
          </a:xfrm>
          <a:prstGeom prst="roundRect">
            <a:avLst>
              <a:gd name="adj" fmla="val 3158"/>
            </a:avLst>
          </a:prstGeom>
          <a:solidFill>
            <a:srgbClr val="FFFFFF"/>
          </a:solidFill>
          <a:ln w="19050">
            <a:solidFill>
              <a:srgbClr val="D64545"/>
            </a:solidFill>
            <a:prstDash val="solid"/>
          </a:ln>
          <a:effectLst>
            <a:outerShdw sx="100000" sy="100000" kx="0" ky="0" algn="bl" rotWithShape="0" blurRad="50800" dist="19050" dir="5400000">
              <a:srgbClr val="1B2A4A">
                <a:alpha val="12000"/>
              </a:srgbClr>
            </a:outerShdw>
          </a:effectLst>
        </p:spPr>
      </p:sp>
      <p:sp>
        <p:nvSpPr>
          <p:cNvPr id="10" name="Shape 8"/>
          <p:cNvSpPr/>
          <p:nvPr/>
        </p:nvSpPr>
        <p:spPr>
          <a:xfrm>
            <a:off x="6446520" y="2697480"/>
            <a:ext cx="2651760" cy="411480"/>
          </a:xfrm>
          <a:prstGeom prst="roundRect">
            <a:avLst>
              <a:gd name="adj" fmla="val 50000"/>
            </a:avLst>
          </a:prstGeom>
          <a:solidFill>
            <a:srgbClr val="D64545"/>
          </a:solidFill>
          <a:ln/>
        </p:spPr>
      </p:sp>
      <p:sp>
        <p:nvSpPr>
          <p:cNvPr id="11" name="Text 9"/>
          <p:cNvSpPr txBox="1"/>
          <p:nvPr/>
        </p:nvSpPr>
        <p:spPr>
          <a:xfrm>
            <a:off x="6446520" y="2697480"/>
            <a:ext cx="265176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EMBARRASSED FRIEND</a:t>
            </a:r>
            <a:endParaRPr lang="en-US" sz="1100" dirty="0"/>
          </a:p>
        </p:txBody>
      </p:sp>
      <p:sp>
        <p:nvSpPr>
          <p:cNvPr id="12" name="Text 10"/>
          <p:cNvSpPr txBox="1"/>
          <p:nvPr/>
        </p:nvSpPr>
        <p:spPr>
          <a:xfrm>
            <a:off x="6446520" y="3246120"/>
            <a:ext cx="4754880" cy="822960"/>
          </a:xfrm>
          <a:prstGeom prst="rect">
            <a:avLst/>
          </a:prstGeom>
          <a:noFill/>
          <a:ln/>
        </p:spPr>
        <p:txBody>
          <a:bodyPr wrap="square" lIns="0" tIns="0" rIns="0" bIns="0" rtlCol="0" anchor="t"/>
          <a:lstStyle/>
          <a:p>
            <a:pPr algn="l" indent="0" marL="0">
              <a:lnSpc>
                <a:spcPct val="125000"/>
              </a:lnSpc>
              <a:buNone/>
            </a:pPr>
            <a:r>
              <a:rPr lang="en-US" sz="1450" b="1" dirty="0">
                <a:solidFill>
                  <a:srgbClr val="1B2A4A"/>
                </a:solidFill>
                <a:latin typeface="Calibri" pitchFamily="34" charset="0"/>
                <a:ea typeface="Calibri" pitchFamily="34" charset="-122"/>
                <a:cs typeface="Calibri" pitchFamily="34" charset="-120"/>
              </a:rPr>
              <a:t>“Oh yeah… that was 1874, I think.”  (fully made up, said with confidence)</a:t>
            </a:r>
            <a:endParaRPr lang="en-US" sz="1450" dirty="0"/>
          </a:p>
        </p:txBody>
      </p:sp>
      <p:sp>
        <p:nvSpPr>
          <p:cNvPr id="13" name="Shape 11"/>
          <p:cNvSpPr/>
          <p:nvPr/>
        </p:nvSpPr>
        <p:spPr>
          <a:xfrm>
            <a:off x="548640" y="4480560"/>
            <a:ext cx="11091672" cy="1051560"/>
          </a:xfrm>
          <a:prstGeom prst="roundRect">
            <a:avLst>
              <a:gd name="adj" fmla="val 4348"/>
            </a:avLst>
          </a:prstGeom>
          <a:solidFill>
            <a:srgbClr val="142850"/>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14" name="Text 12"/>
          <p:cNvSpPr txBox="1"/>
          <p:nvPr/>
        </p:nvSpPr>
        <p:spPr>
          <a:xfrm>
            <a:off x="822960" y="4480560"/>
            <a:ext cx="10543032" cy="1051560"/>
          </a:xfrm>
          <a:prstGeom prst="rect">
            <a:avLst/>
          </a:prstGeom>
          <a:noFill/>
          <a:ln/>
        </p:spPr>
        <p:txBody>
          <a:bodyPr wrap="square" lIns="0" tIns="0" rIns="0" bIns="0" rtlCol="0" anchor="ctr"/>
          <a:lstStyle/>
          <a:p>
            <a:pPr indent="0" marL="0">
              <a:lnSpc>
                <a:spcPct val="125000"/>
              </a:lnSpc>
              <a:buNone/>
            </a:pPr>
            <a:r>
              <a:rPr lang="en-US" sz="1400" i="1" dirty="0">
                <a:solidFill>
                  <a:srgbClr val="FFFFFF"/>
                </a:solidFill>
                <a:latin typeface="Calibri" pitchFamily="34" charset="0"/>
                <a:ea typeface="Calibri" pitchFamily="34" charset="-122"/>
                <a:cs typeface="Calibri" pitchFamily="34" charset="-120"/>
              </a:rPr>
              <a:t>By default, AI acts like the embarrassed friend — it's built to always sound fluent, so instead of saying “I don't know,” it generates something that SOUNDS right. This is called hallucination.</a:t>
            </a:r>
            <a:endParaRPr lang="en-US" sz="1400" dirty="0"/>
          </a:p>
        </p:txBody>
      </p:sp>
      <p:sp>
        <p:nvSpPr>
          <p:cNvPr id="15" name="Shape 13"/>
          <p:cNvSpPr/>
          <p:nvPr/>
        </p:nvSpPr>
        <p:spPr>
          <a:xfrm>
            <a:off x="548640" y="5669280"/>
            <a:ext cx="11091672" cy="685800"/>
          </a:xfrm>
          <a:prstGeom prst="roundRect">
            <a:avLst>
              <a:gd name="adj" fmla="val 8000"/>
            </a:avLst>
          </a:prstGeom>
          <a:solidFill>
            <a:srgbClr val="FFFFFF"/>
          </a:solidFill>
          <a:ln w="19050">
            <a:solidFill>
              <a:srgbClr val="5B6B87"/>
            </a:solidFill>
            <a:prstDash val="solid"/>
          </a:ln>
          <a:effectLst>
            <a:outerShdw sx="100000" sy="100000" kx="0" ky="0" algn="bl" rotWithShape="0" blurRad="50800" dist="19050" dir="5400000">
              <a:srgbClr val="1B2A4A">
                <a:alpha val="12000"/>
              </a:srgbClr>
            </a:outerShdw>
          </a:effectLst>
        </p:spPr>
      </p:sp>
      <p:sp>
        <p:nvSpPr>
          <p:cNvPr id="16" name="Text 14"/>
          <p:cNvSpPr txBox="1"/>
          <p:nvPr/>
        </p:nvSpPr>
        <p:spPr>
          <a:xfrm>
            <a:off x="868680" y="5669280"/>
            <a:ext cx="10424160" cy="685800"/>
          </a:xfrm>
          <a:prstGeom prst="rect">
            <a:avLst/>
          </a:prstGeom>
          <a:noFill/>
          <a:ln/>
        </p:spPr>
        <p:txBody>
          <a:bodyPr wrap="square" lIns="0" tIns="0" rIns="0" bIns="0" rtlCol="0" anchor="ctr"/>
          <a:lstStyle/>
          <a:p>
            <a:pPr algn="l" indent="0" marL="0">
              <a:lnSpc>
                <a:spcPct val="125000"/>
              </a:lnSpc>
              <a:buNone/>
            </a:pPr>
            <a:r>
              <a:rPr lang="en-US" sz="1300" dirty="0">
                <a:solidFill>
                  <a:srgbClr val="5B6B87"/>
                </a:solidFill>
                <a:latin typeface="Calibri" pitchFamily="34" charset="0"/>
                <a:ea typeface="Calibri" pitchFamily="34" charset="-122"/>
                <a:cs typeface="Calibri" pitchFamily="34" charset="-120"/>
              </a:rPr>
              <a:t>AI version:  you ask about a library that doesn't exist → it still answers, confidently:  “1874.”</a:t>
            </a:r>
            <a:endParaRPr lang="en-US" sz="1300" dirty="0"/>
          </a:p>
        </p:txBody>
      </p:sp>
      <p:sp>
        <p:nvSpPr>
          <p:cNvPr id="17" name="Text 15"/>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2</a:t>
            </a:r>
            <a:endParaRPr lang="en-US" sz="900" dirty="0"/>
          </a:p>
        </p:txBody>
      </p:sp>
      <p:sp>
        <p:nvSpPr>
          <p:cNvPr id="18" name="Text 16"/>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A SECOND EXAMPLE — SAME EMBARRASSED FRIEND</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Confidently Wrong — A Made-Up Citation</a:t>
            </a:r>
            <a:endParaRPr lang="en-US" sz="3000" dirty="0"/>
          </a:p>
        </p:txBody>
      </p:sp>
      <p:sp>
        <p:nvSpPr>
          <p:cNvPr id="4" name="Shape 2"/>
          <p:cNvSpPr/>
          <p:nvPr/>
        </p:nvSpPr>
        <p:spPr>
          <a:xfrm>
            <a:off x="548640" y="1874520"/>
            <a:ext cx="11091672" cy="1188720"/>
          </a:xfrm>
          <a:prstGeom prst="roundRect">
            <a:avLst>
              <a:gd name="adj" fmla="val 4615"/>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5" name="Text 3"/>
          <p:cNvSpPr txBox="1"/>
          <p:nvPr/>
        </p:nvSpPr>
        <p:spPr>
          <a:xfrm>
            <a:off x="868680" y="1874520"/>
            <a:ext cx="10424160" cy="1188720"/>
          </a:xfrm>
          <a:prstGeom prst="rect">
            <a:avLst/>
          </a:prstGeom>
          <a:noFill/>
          <a:ln/>
        </p:spPr>
        <p:txBody>
          <a:bodyPr wrap="square" lIns="0" tIns="0" rIns="0" bIns="0" rtlCol="0" anchor="ctr"/>
          <a:lstStyle/>
          <a:p>
            <a:pPr algn="l" indent="0" marL="0">
              <a:lnSpc>
                <a:spcPct val="125000"/>
              </a:lnSpc>
              <a:buNone/>
            </a:pPr>
            <a:r>
              <a:rPr lang="en-US" sz="1550" dirty="0">
                <a:solidFill>
                  <a:srgbClr val="1B2A4A"/>
                </a:solidFill>
                <a:latin typeface="Calibri" pitchFamily="34" charset="0"/>
                <a:ea typeface="Calibri" pitchFamily="34" charset="-122"/>
                <a:cs typeface="Calibri" pitchFamily="34" charset="-120"/>
              </a:rPr>
              <a:t>You ask:  “What exact page number does this appear on in the textbook?”</a:t>
            </a:r>
            <a:endParaRPr lang="en-US" sz="1550" dirty="0"/>
          </a:p>
        </p:txBody>
      </p:sp>
      <p:sp>
        <p:nvSpPr>
          <p:cNvPr id="6" name="Text 4"/>
          <p:cNvSpPr txBox="1"/>
          <p:nvPr/>
        </p:nvSpPr>
        <p:spPr>
          <a:xfrm>
            <a:off x="5852160" y="3200400"/>
            <a:ext cx="457200" cy="457200"/>
          </a:xfrm>
          <a:prstGeom prst="rect">
            <a:avLst/>
          </a:prstGeom>
          <a:noFill/>
          <a:ln/>
        </p:spPr>
        <p:txBody>
          <a:bodyPr wrap="square" lIns="0" tIns="0" rIns="0" bIns="0" rtlCol="0" anchor="ctr"/>
          <a:lstStyle/>
          <a:p>
            <a:pPr algn="ctr" indent="0" marL="0">
              <a:buNone/>
            </a:pPr>
            <a:r>
              <a:rPr lang="en-US" sz="2200" dirty="0">
                <a:solidFill>
                  <a:srgbClr val="5B6B87"/>
                </a:solidFill>
              </a:rPr>
              <a:t>▼</a:t>
            </a:r>
            <a:endParaRPr lang="en-US" sz="2200" dirty="0"/>
          </a:p>
        </p:txBody>
      </p:sp>
      <p:sp>
        <p:nvSpPr>
          <p:cNvPr id="7" name="Shape 5"/>
          <p:cNvSpPr/>
          <p:nvPr/>
        </p:nvSpPr>
        <p:spPr>
          <a:xfrm>
            <a:off x="548640" y="3749040"/>
            <a:ext cx="11091672" cy="1051560"/>
          </a:xfrm>
          <a:prstGeom prst="roundRect">
            <a:avLst>
              <a:gd name="adj" fmla="val 5217"/>
            </a:avLst>
          </a:prstGeom>
          <a:solidFill>
            <a:srgbClr val="FFFFFF"/>
          </a:solidFill>
          <a:ln w="19050">
            <a:solidFill>
              <a:srgbClr val="D64545"/>
            </a:solidFill>
            <a:prstDash val="solid"/>
          </a:ln>
          <a:effectLst>
            <a:outerShdw sx="100000" sy="100000" kx="0" ky="0" algn="bl" rotWithShape="0" blurRad="50800" dist="19050" dir="5400000">
              <a:srgbClr val="1B2A4A">
                <a:alpha val="12000"/>
              </a:srgbClr>
            </a:outerShdw>
          </a:effectLst>
        </p:spPr>
      </p:sp>
      <p:sp>
        <p:nvSpPr>
          <p:cNvPr id="8" name="Text 6"/>
          <p:cNvSpPr txBox="1"/>
          <p:nvPr/>
        </p:nvSpPr>
        <p:spPr>
          <a:xfrm>
            <a:off x="868680" y="3749040"/>
            <a:ext cx="10424160" cy="1051560"/>
          </a:xfrm>
          <a:prstGeom prst="rect">
            <a:avLst/>
          </a:prstGeom>
          <a:noFill/>
          <a:ln/>
        </p:spPr>
        <p:txBody>
          <a:bodyPr wrap="square" lIns="0" tIns="0" rIns="0" bIns="0" rtlCol="0" anchor="ctr"/>
          <a:lstStyle/>
          <a:p>
            <a:pPr algn="l" indent="0" marL="0">
              <a:lnSpc>
                <a:spcPct val="125000"/>
              </a:lnSpc>
              <a:buNone/>
            </a:pPr>
            <a:r>
              <a:rPr lang="en-US" sz="1800" b="1" dirty="0">
                <a:solidFill>
                  <a:srgbClr val="D64545"/>
                </a:solidFill>
                <a:latin typeface="Calibri" pitchFamily="34" charset="0"/>
                <a:ea typeface="Calibri" pitchFamily="34" charset="-122"/>
                <a:cs typeface="Calibri" pitchFamily="34" charset="-120"/>
              </a:rPr>
              <a:t>Model answers, fully confident:  “Page 142.”</a:t>
            </a:r>
            <a:endParaRPr lang="en-US" sz="1800" dirty="0"/>
          </a:p>
        </p:txBody>
      </p:sp>
      <p:sp>
        <p:nvSpPr>
          <p:cNvPr id="9" name="Shape 7"/>
          <p:cNvSpPr/>
          <p:nvPr/>
        </p:nvSpPr>
        <p:spPr>
          <a:xfrm>
            <a:off x="548640" y="5029200"/>
            <a:ext cx="11091672" cy="1463040"/>
          </a:xfrm>
          <a:prstGeom prst="roundRect">
            <a:avLst>
              <a:gd name="adj" fmla="val 3125"/>
            </a:avLst>
          </a:prstGeom>
          <a:solidFill>
            <a:srgbClr val="142850"/>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10" name="Text 8"/>
          <p:cNvSpPr txBox="1"/>
          <p:nvPr/>
        </p:nvSpPr>
        <p:spPr>
          <a:xfrm>
            <a:off x="822960" y="5029200"/>
            <a:ext cx="10543032" cy="1463040"/>
          </a:xfrm>
          <a:prstGeom prst="rect">
            <a:avLst/>
          </a:prstGeom>
          <a:noFill/>
          <a:ln/>
        </p:spPr>
        <p:txBody>
          <a:bodyPr wrap="square" lIns="0" tIns="0" rIns="0" bIns="0" rtlCol="0" anchor="ctr"/>
          <a:lstStyle/>
          <a:p>
            <a:pPr indent="0" marL="0">
              <a:lnSpc>
                <a:spcPct val="125000"/>
              </a:lnSpc>
              <a:buNone/>
            </a:pPr>
            <a:r>
              <a:rPr lang="en-US" sz="1350" i="1" dirty="0">
                <a:solidFill>
                  <a:srgbClr val="FFFFFF"/>
                </a:solidFill>
                <a:latin typeface="Calibri" pitchFamily="34" charset="0"/>
                <a:ea typeface="Calibri" pitchFamily="34" charset="-122"/>
                <a:cs typeface="Calibri" pitchFamily="34" charset="-120"/>
              </a:rPr>
              <a:t>Same embarrassed-friend pattern, different content — the model has no memory of page numbers, but “a number” sounds like a fitting answer, so it generates one anyway. Whenever an answer looks oddly specific with no real source, that's worth double-checking.</a:t>
            </a:r>
            <a:endParaRPr lang="en-US" sz="1350" dirty="0"/>
          </a:p>
        </p:txBody>
      </p:sp>
      <p:sp>
        <p:nvSpPr>
          <p:cNvPr id="11" name="Text 9"/>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2</a:t>
            </a:r>
            <a:endParaRPr lang="en-US" sz="900" dirty="0"/>
          </a:p>
        </p:txBody>
      </p:sp>
      <p:sp>
        <p:nvSpPr>
          <p:cNvPr id="12" name="Text 10"/>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THE #1 MOST MISUNDERSTOOD IDEA</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The Whiteboard That Fills Up</a:t>
            </a:r>
            <a:endParaRPr lang="en-US" sz="3000" dirty="0"/>
          </a:p>
        </p:txBody>
      </p:sp>
      <p:sp>
        <p:nvSpPr>
          <p:cNvPr id="4" name="Text 2"/>
          <p:cNvSpPr txBox="1"/>
          <p:nvPr/>
        </p:nvSpPr>
        <p:spPr>
          <a:xfrm>
            <a:off x="548640" y="1783080"/>
            <a:ext cx="11091672" cy="457200"/>
          </a:xfrm>
          <a:prstGeom prst="rect">
            <a:avLst/>
          </a:prstGeom>
          <a:noFill/>
          <a:ln/>
        </p:spPr>
        <p:txBody>
          <a:bodyPr wrap="square" lIns="0" tIns="0" rIns="0" bIns="0" rtlCol="0" anchor="t"/>
          <a:lstStyle/>
          <a:p>
            <a:pPr algn="l" indent="0" marL="0">
              <a:lnSpc>
                <a:spcPct val="125000"/>
              </a:lnSpc>
              <a:buNone/>
            </a:pPr>
            <a:r>
              <a:rPr lang="en-US" sz="1450" dirty="0">
                <a:solidFill>
                  <a:srgbClr val="1B2A4A"/>
                </a:solidFill>
                <a:latin typeface="Calibri" pitchFamily="34" charset="0"/>
                <a:ea typeface="Calibri" pitchFamily="34" charset="-122"/>
                <a:cs typeface="Calibri" pitchFamily="34" charset="-120"/>
              </a:rPr>
              <a:t>Imagine talking to someone who can only see what's currently written on a whiteboard in front of them.</a:t>
            </a:r>
            <a:endParaRPr lang="en-US" sz="1450" dirty="0"/>
          </a:p>
        </p:txBody>
      </p:sp>
      <p:sp>
        <p:nvSpPr>
          <p:cNvPr id="5" name="Shape 3"/>
          <p:cNvSpPr/>
          <p:nvPr/>
        </p:nvSpPr>
        <p:spPr>
          <a:xfrm>
            <a:off x="548640" y="2331720"/>
            <a:ext cx="11091672" cy="3246120"/>
          </a:xfrm>
          <a:prstGeom prst="roundRect">
            <a:avLst>
              <a:gd name="adj" fmla="val 845"/>
            </a:avLst>
          </a:prstGeom>
          <a:solidFill>
            <a:srgbClr val="FAF9F5"/>
          </a:solidFill>
          <a:ln w="50800">
            <a:solidFill>
              <a:srgbClr val="9C7A4A"/>
            </a:solidFill>
            <a:prstDash val="solid"/>
          </a:ln>
          <a:effectLst>
            <a:outerShdw sx="100000" sy="100000" kx="0" ky="0" algn="bl" rotWithShape="0" blurRad="50800" dist="19050" dir="5400000">
              <a:srgbClr val="1B2A4A">
                <a:alpha val="12000"/>
              </a:srgbClr>
            </a:outerShdw>
          </a:effectLst>
        </p:spPr>
      </p:sp>
      <p:sp>
        <p:nvSpPr>
          <p:cNvPr id="6" name="Shape 4"/>
          <p:cNvSpPr/>
          <p:nvPr/>
        </p:nvSpPr>
        <p:spPr>
          <a:xfrm>
            <a:off x="1005840" y="2560320"/>
            <a:ext cx="10149840" cy="777240"/>
          </a:xfrm>
          <a:prstGeom prst="roundRect">
            <a:avLst>
              <a:gd name="adj" fmla="val 5882"/>
            </a:avLst>
          </a:prstGeom>
          <a:solidFill>
            <a:srgbClr val="EDEFF3"/>
          </a:solidFill>
          <a:ln w="12700">
            <a:solidFill>
              <a:srgbClr val="D8DEEA"/>
            </a:solidFill>
            <a:prstDash val="dash"/>
          </a:ln>
        </p:spPr>
      </p:sp>
      <p:sp>
        <p:nvSpPr>
          <p:cNvPr id="7" name="Text 5"/>
          <p:cNvSpPr txBox="1"/>
          <p:nvPr/>
        </p:nvSpPr>
        <p:spPr>
          <a:xfrm>
            <a:off x="1234440" y="2560320"/>
            <a:ext cx="8686800" cy="777240"/>
          </a:xfrm>
          <a:prstGeom prst="rect">
            <a:avLst/>
          </a:prstGeom>
          <a:noFill/>
          <a:ln/>
        </p:spPr>
        <p:txBody>
          <a:bodyPr wrap="square" lIns="0" tIns="0" rIns="0" bIns="0" rtlCol="0" anchor="ctr"/>
          <a:lstStyle/>
          <a:p>
            <a:pPr indent="0" marL="0">
              <a:buNone/>
            </a:pPr>
            <a:r>
              <a:rPr lang="en-US" sz="1400" strike="sngStrike" dirty="0">
                <a:solidFill>
                  <a:srgbClr val="5B6B87"/>
                </a:solidFill>
              </a:rPr>
              <a:t>Msg 1:  “My name is Rahul”</a:t>
            </a:r>
            <a:endParaRPr lang="en-US" sz="1400" dirty="0"/>
          </a:p>
        </p:txBody>
      </p:sp>
      <p:sp>
        <p:nvSpPr>
          <p:cNvPr id="8" name="Shape 6"/>
          <p:cNvSpPr/>
          <p:nvPr/>
        </p:nvSpPr>
        <p:spPr>
          <a:xfrm>
            <a:off x="9738360" y="2724912"/>
            <a:ext cx="1188720" cy="411480"/>
          </a:xfrm>
          <a:prstGeom prst="roundRect">
            <a:avLst>
              <a:gd name="adj" fmla="val 50000"/>
            </a:avLst>
          </a:prstGeom>
          <a:solidFill>
            <a:srgbClr val="D64545"/>
          </a:solidFill>
          <a:ln/>
        </p:spPr>
      </p:sp>
      <p:sp>
        <p:nvSpPr>
          <p:cNvPr id="9" name="Text 7"/>
          <p:cNvSpPr txBox="1"/>
          <p:nvPr/>
        </p:nvSpPr>
        <p:spPr>
          <a:xfrm>
            <a:off x="9738360" y="2724912"/>
            <a:ext cx="118872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ERASED</a:t>
            </a:r>
            <a:endParaRPr lang="en-US" sz="1100" dirty="0"/>
          </a:p>
        </p:txBody>
      </p:sp>
      <p:sp>
        <p:nvSpPr>
          <p:cNvPr id="10" name="Shape 8"/>
          <p:cNvSpPr/>
          <p:nvPr/>
        </p:nvSpPr>
        <p:spPr>
          <a:xfrm>
            <a:off x="1005840" y="3474720"/>
            <a:ext cx="10149840" cy="777240"/>
          </a:xfrm>
          <a:prstGeom prst="roundRect">
            <a:avLst>
              <a:gd name="adj" fmla="val 5882"/>
            </a:avLst>
          </a:prstGeom>
          <a:solidFill>
            <a:srgbClr val="FFFFFF"/>
          </a:solidFill>
          <a:ln w="19050">
            <a:solidFill>
              <a:srgbClr val="D8DEEA"/>
            </a:solidFill>
            <a:prstDash val="solid"/>
          </a:ln>
        </p:spPr>
      </p:sp>
      <p:sp>
        <p:nvSpPr>
          <p:cNvPr id="11" name="Text 9"/>
          <p:cNvSpPr txBox="1"/>
          <p:nvPr/>
        </p:nvSpPr>
        <p:spPr>
          <a:xfrm>
            <a:off x="1234440" y="3474720"/>
            <a:ext cx="9692640" cy="777240"/>
          </a:xfrm>
          <a:prstGeom prst="rect">
            <a:avLst/>
          </a:prstGeom>
          <a:noFill/>
          <a:ln/>
        </p:spPr>
        <p:txBody>
          <a:bodyPr wrap="square" lIns="0" tIns="0" rIns="0" bIns="0" rtlCol="0" anchor="ctr"/>
          <a:lstStyle/>
          <a:p>
            <a:pPr algn="l" indent="0" marL="0">
              <a:lnSpc>
                <a:spcPct val="125000"/>
              </a:lnSpc>
              <a:buNone/>
            </a:pPr>
            <a:r>
              <a:rPr lang="en-US" sz="1400" dirty="0">
                <a:solidFill>
                  <a:srgbClr val="1B2A4A"/>
                </a:solidFill>
                <a:latin typeface="Calibri" pitchFamily="34" charset="0"/>
                <a:ea typeface="Calibri" pitchFamily="34" charset="-122"/>
                <a:cs typeface="Calibri" pitchFamily="34" charset="-120"/>
              </a:rPr>
              <a:t>Msg 2–49:  the rest of the long conversation</a:t>
            </a:r>
            <a:endParaRPr lang="en-US" sz="1400" dirty="0"/>
          </a:p>
        </p:txBody>
      </p:sp>
      <p:sp>
        <p:nvSpPr>
          <p:cNvPr id="12" name="Shape 10"/>
          <p:cNvSpPr/>
          <p:nvPr/>
        </p:nvSpPr>
        <p:spPr>
          <a:xfrm>
            <a:off x="1005840" y="4389120"/>
            <a:ext cx="10149840" cy="777240"/>
          </a:xfrm>
          <a:prstGeom prst="roundRect">
            <a:avLst>
              <a:gd name="adj" fmla="val 5882"/>
            </a:avLst>
          </a:prstGeom>
          <a:solidFill>
            <a:srgbClr val="FFF7E8"/>
          </a:solidFill>
          <a:ln w="25400">
            <a:solidFill>
              <a:srgbClr val="FFB627"/>
            </a:solidFill>
            <a:prstDash val="solid"/>
          </a:ln>
        </p:spPr>
      </p:sp>
      <p:sp>
        <p:nvSpPr>
          <p:cNvPr id="13" name="Text 11"/>
          <p:cNvSpPr txBox="1"/>
          <p:nvPr/>
        </p:nvSpPr>
        <p:spPr>
          <a:xfrm>
            <a:off x="1234440" y="4389120"/>
            <a:ext cx="8412480" cy="777240"/>
          </a:xfrm>
          <a:prstGeom prst="rect">
            <a:avLst/>
          </a:prstGeom>
          <a:noFill/>
          <a:ln/>
        </p:spPr>
        <p:txBody>
          <a:bodyPr wrap="square" lIns="0" tIns="0" rIns="0" bIns="0" rtlCol="0" anchor="ctr"/>
          <a:lstStyle/>
          <a:p>
            <a:pPr indent="0" marL="0">
              <a:buNone/>
            </a:pPr>
            <a:r>
              <a:rPr lang="en-US" sz="1500" b="1" dirty="0">
                <a:solidFill>
                  <a:srgbClr val="1B2A4A"/>
                </a:solidFill>
              </a:rPr>
              <a:t>Msg 50:  “What's my name?”</a:t>
            </a:r>
            <a:endParaRPr lang="en-US" sz="1500" dirty="0"/>
          </a:p>
        </p:txBody>
      </p:sp>
      <p:sp>
        <p:nvSpPr>
          <p:cNvPr id="14" name="Shape 12"/>
          <p:cNvSpPr/>
          <p:nvPr/>
        </p:nvSpPr>
        <p:spPr>
          <a:xfrm>
            <a:off x="9464040" y="4553712"/>
            <a:ext cx="1463040" cy="411480"/>
          </a:xfrm>
          <a:prstGeom prst="roundRect">
            <a:avLst>
              <a:gd name="adj" fmla="val 50000"/>
            </a:avLst>
          </a:prstGeom>
          <a:solidFill>
            <a:srgbClr val="FFB627"/>
          </a:solidFill>
          <a:ln/>
        </p:spPr>
      </p:sp>
      <p:sp>
        <p:nvSpPr>
          <p:cNvPr id="15" name="Text 13"/>
          <p:cNvSpPr txBox="1"/>
          <p:nvPr/>
        </p:nvSpPr>
        <p:spPr>
          <a:xfrm>
            <a:off x="9464040" y="4553712"/>
            <a:ext cx="1463040" cy="41148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ASKED NOW</a:t>
            </a:r>
            <a:endParaRPr lang="en-US" sz="1100" dirty="0"/>
          </a:p>
        </p:txBody>
      </p:sp>
      <p:sp>
        <p:nvSpPr>
          <p:cNvPr id="16" name="Shape 14"/>
          <p:cNvSpPr/>
          <p:nvPr/>
        </p:nvSpPr>
        <p:spPr>
          <a:xfrm>
            <a:off x="548640" y="5760720"/>
            <a:ext cx="11091672" cy="777240"/>
          </a:xfrm>
          <a:prstGeom prst="roundRect">
            <a:avLst>
              <a:gd name="adj" fmla="val 5882"/>
            </a:avLst>
          </a:prstGeom>
          <a:solidFill>
            <a:srgbClr val="142850"/>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17" name="Text 15"/>
          <p:cNvSpPr txBox="1"/>
          <p:nvPr/>
        </p:nvSpPr>
        <p:spPr>
          <a:xfrm>
            <a:off x="822960" y="5760720"/>
            <a:ext cx="10543032" cy="777240"/>
          </a:xfrm>
          <a:prstGeom prst="rect">
            <a:avLst/>
          </a:prstGeom>
          <a:noFill/>
          <a:ln/>
        </p:spPr>
        <p:txBody>
          <a:bodyPr wrap="square" lIns="0" tIns="0" rIns="0" bIns="0" rtlCol="0" anchor="ctr"/>
          <a:lstStyle/>
          <a:p>
            <a:pPr indent="0" marL="0">
              <a:lnSpc>
                <a:spcPct val="125000"/>
              </a:lnSpc>
              <a:buNone/>
            </a:pPr>
            <a:r>
              <a:rPr lang="en-US" sz="1300" i="1" dirty="0">
                <a:solidFill>
                  <a:srgbClr val="FFFFFF"/>
                </a:solidFill>
                <a:latin typeface="Calibri" pitchFamily="34" charset="0"/>
                <a:ea typeface="Calibri" pitchFamily="34" charset="-122"/>
                <a:cs typeface="Calibri" pitchFamily="34" charset="-120"/>
              </a:rPr>
              <a:t>New writing pushes the oldest writing off the top — not because anyone stopped caring, the board is just full. That's the context window.</a:t>
            </a:r>
            <a:endParaRPr lang="en-US" sz="1300" dirty="0"/>
          </a:p>
        </p:txBody>
      </p:sp>
      <p:sp>
        <p:nvSpPr>
          <p:cNvPr id="18" name="Text 16"/>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2</a:t>
            </a:r>
            <a:endParaRPr lang="en-US" sz="900" dirty="0"/>
          </a:p>
        </p:txBody>
      </p:sp>
      <p:sp>
        <p:nvSpPr>
          <p:cNvPr id="19" name="Text 17"/>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THE SAME BOARD, FILLING UP A DIFFERENT WAY</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Paste A Whole Storybook — Same Problem</a:t>
            </a:r>
            <a:endParaRPr lang="en-US" sz="3000" dirty="0"/>
          </a:p>
        </p:txBody>
      </p:sp>
      <p:sp>
        <p:nvSpPr>
          <p:cNvPr id="4" name="Text 2"/>
          <p:cNvSpPr txBox="1"/>
          <p:nvPr/>
        </p:nvSpPr>
        <p:spPr>
          <a:xfrm>
            <a:off x="548640" y="1783080"/>
            <a:ext cx="11091672" cy="457200"/>
          </a:xfrm>
          <a:prstGeom prst="rect">
            <a:avLst/>
          </a:prstGeom>
          <a:noFill/>
          <a:ln/>
        </p:spPr>
        <p:txBody>
          <a:bodyPr wrap="square" lIns="0" tIns="0" rIns="0" bIns="0" rtlCol="0" anchor="t"/>
          <a:lstStyle/>
          <a:p>
            <a:pPr algn="l" indent="0" marL="0">
              <a:lnSpc>
                <a:spcPct val="125000"/>
              </a:lnSpc>
              <a:buNone/>
            </a:pPr>
            <a:r>
              <a:rPr lang="en-US" sz="1450" dirty="0">
                <a:solidFill>
                  <a:srgbClr val="1B2A4A"/>
                </a:solidFill>
                <a:latin typeface="Calibri" pitchFamily="34" charset="0"/>
                <a:ea typeface="Calibri" pitchFamily="34" charset="-122"/>
                <a:cs typeface="Calibri" pitchFamily="34" charset="-120"/>
              </a:rPr>
              <a:t>You paste all 8 chapters of a story in ONE message, then ask: “What happened in Chapter 1?”</a:t>
            </a:r>
            <a:endParaRPr lang="en-US" sz="1450" dirty="0"/>
          </a:p>
        </p:txBody>
      </p:sp>
      <p:sp>
        <p:nvSpPr>
          <p:cNvPr id="5" name="Shape 3"/>
          <p:cNvSpPr/>
          <p:nvPr/>
        </p:nvSpPr>
        <p:spPr>
          <a:xfrm>
            <a:off x="548640" y="2331720"/>
            <a:ext cx="11091672" cy="2148840"/>
          </a:xfrm>
          <a:prstGeom prst="roundRect">
            <a:avLst>
              <a:gd name="adj" fmla="val 1277"/>
            </a:avLst>
          </a:prstGeom>
          <a:solidFill>
            <a:srgbClr val="FAF9F5"/>
          </a:solidFill>
          <a:ln w="50800">
            <a:solidFill>
              <a:srgbClr val="9C7A4A"/>
            </a:solidFill>
            <a:prstDash val="solid"/>
          </a:ln>
          <a:effectLst>
            <a:outerShdw sx="100000" sy="100000" kx="0" ky="0" algn="bl" rotWithShape="0" blurRad="50800" dist="19050" dir="5400000">
              <a:srgbClr val="1B2A4A">
                <a:alpha val="12000"/>
              </a:srgbClr>
            </a:outerShdw>
          </a:effectLst>
        </p:spPr>
      </p:sp>
      <p:sp>
        <p:nvSpPr>
          <p:cNvPr id="6" name="Shape 4"/>
          <p:cNvSpPr/>
          <p:nvPr/>
        </p:nvSpPr>
        <p:spPr>
          <a:xfrm>
            <a:off x="1051560" y="2834640"/>
            <a:ext cx="914400" cy="914400"/>
          </a:xfrm>
          <a:prstGeom prst="roundRect">
            <a:avLst>
              <a:gd name="adj" fmla="val 5000"/>
            </a:avLst>
          </a:prstGeom>
          <a:solidFill>
            <a:srgbClr val="EDEFF3"/>
          </a:solidFill>
          <a:ln w="12700">
            <a:solidFill>
              <a:srgbClr val="D8DEEA"/>
            </a:solidFill>
            <a:prstDash val="dash"/>
          </a:ln>
        </p:spPr>
      </p:sp>
      <p:sp>
        <p:nvSpPr>
          <p:cNvPr id="7" name="Text 5"/>
          <p:cNvSpPr txBox="1"/>
          <p:nvPr/>
        </p:nvSpPr>
        <p:spPr>
          <a:xfrm>
            <a:off x="1051560" y="2834640"/>
            <a:ext cx="914400" cy="914400"/>
          </a:xfrm>
          <a:prstGeom prst="rect">
            <a:avLst/>
          </a:prstGeom>
          <a:noFill/>
          <a:ln/>
        </p:spPr>
        <p:txBody>
          <a:bodyPr wrap="square" lIns="0" tIns="0" rIns="0" bIns="0" rtlCol="0" anchor="ctr"/>
          <a:lstStyle/>
          <a:p>
            <a:pPr algn="ctr" indent="0" marL="0">
              <a:buNone/>
            </a:pPr>
            <a:r>
              <a:rPr lang="en-US" sz="1400" b="1" strike="sngStrike" dirty="0">
                <a:solidFill>
                  <a:srgbClr val="5B6B87"/>
                </a:solidFill>
              </a:rPr>
              <a:t>Ch 1</a:t>
            </a:r>
            <a:endParaRPr lang="en-US" sz="1400" dirty="0"/>
          </a:p>
        </p:txBody>
      </p:sp>
      <p:sp>
        <p:nvSpPr>
          <p:cNvPr id="8" name="Shape 6"/>
          <p:cNvSpPr/>
          <p:nvPr/>
        </p:nvSpPr>
        <p:spPr>
          <a:xfrm>
            <a:off x="2130552" y="2834640"/>
            <a:ext cx="914400" cy="914400"/>
          </a:xfrm>
          <a:prstGeom prst="roundRect">
            <a:avLst>
              <a:gd name="adj" fmla="val 5000"/>
            </a:avLst>
          </a:prstGeom>
          <a:solidFill>
            <a:srgbClr val="EDEFF3"/>
          </a:solidFill>
          <a:ln w="12700">
            <a:solidFill>
              <a:srgbClr val="D8DEEA"/>
            </a:solidFill>
            <a:prstDash val="dash"/>
          </a:ln>
        </p:spPr>
      </p:sp>
      <p:sp>
        <p:nvSpPr>
          <p:cNvPr id="9" name="Text 7"/>
          <p:cNvSpPr txBox="1"/>
          <p:nvPr/>
        </p:nvSpPr>
        <p:spPr>
          <a:xfrm>
            <a:off x="2130552" y="2834640"/>
            <a:ext cx="914400" cy="914400"/>
          </a:xfrm>
          <a:prstGeom prst="rect">
            <a:avLst/>
          </a:prstGeom>
          <a:noFill/>
          <a:ln/>
        </p:spPr>
        <p:txBody>
          <a:bodyPr wrap="square" lIns="0" tIns="0" rIns="0" bIns="0" rtlCol="0" anchor="ctr"/>
          <a:lstStyle/>
          <a:p>
            <a:pPr algn="ctr" indent="0" marL="0">
              <a:buNone/>
            </a:pPr>
            <a:r>
              <a:rPr lang="en-US" sz="1400" b="1" strike="sngStrike" dirty="0">
                <a:solidFill>
                  <a:srgbClr val="5B6B87"/>
                </a:solidFill>
              </a:rPr>
              <a:t>Ch 2</a:t>
            </a:r>
            <a:endParaRPr lang="en-US" sz="1400" dirty="0"/>
          </a:p>
        </p:txBody>
      </p:sp>
      <p:sp>
        <p:nvSpPr>
          <p:cNvPr id="10" name="Shape 8"/>
          <p:cNvSpPr/>
          <p:nvPr/>
        </p:nvSpPr>
        <p:spPr>
          <a:xfrm>
            <a:off x="3209544" y="2834640"/>
            <a:ext cx="914400" cy="914400"/>
          </a:xfrm>
          <a:prstGeom prst="roundRect">
            <a:avLst>
              <a:gd name="adj" fmla="val 5000"/>
            </a:avLst>
          </a:prstGeom>
          <a:solidFill>
            <a:srgbClr val="FFFFFF"/>
          </a:solidFill>
          <a:ln w="25400">
            <a:solidFill>
              <a:srgbClr val="1FAB65"/>
            </a:solidFill>
            <a:prstDash val="solid"/>
          </a:ln>
        </p:spPr>
      </p:sp>
      <p:sp>
        <p:nvSpPr>
          <p:cNvPr id="11" name="Text 9"/>
          <p:cNvSpPr txBox="1"/>
          <p:nvPr/>
        </p:nvSpPr>
        <p:spPr>
          <a:xfrm>
            <a:off x="3209544" y="2834640"/>
            <a:ext cx="914400" cy="914400"/>
          </a:xfrm>
          <a:prstGeom prst="rect">
            <a:avLst/>
          </a:prstGeom>
          <a:noFill/>
          <a:ln/>
        </p:spPr>
        <p:txBody>
          <a:bodyPr wrap="square" lIns="0" tIns="0" rIns="0" bIns="0" rtlCol="0" anchor="ctr"/>
          <a:lstStyle/>
          <a:p>
            <a:pPr algn="ctr" indent="0" marL="0">
              <a:buNone/>
            </a:pPr>
            <a:r>
              <a:rPr lang="en-US" sz="1400" b="1" dirty="0">
                <a:solidFill>
                  <a:srgbClr val="1B2A4A"/>
                </a:solidFill>
              </a:rPr>
              <a:t>Ch 3</a:t>
            </a:r>
            <a:endParaRPr lang="en-US" sz="1400" dirty="0"/>
          </a:p>
        </p:txBody>
      </p:sp>
      <p:sp>
        <p:nvSpPr>
          <p:cNvPr id="12" name="Shape 10"/>
          <p:cNvSpPr/>
          <p:nvPr/>
        </p:nvSpPr>
        <p:spPr>
          <a:xfrm>
            <a:off x="4288536" y="2834640"/>
            <a:ext cx="914400" cy="914400"/>
          </a:xfrm>
          <a:prstGeom prst="roundRect">
            <a:avLst>
              <a:gd name="adj" fmla="val 5000"/>
            </a:avLst>
          </a:prstGeom>
          <a:solidFill>
            <a:srgbClr val="FFFFFF"/>
          </a:solidFill>
          <a:ln w="25400">
            <a:solidFill>
              <a:srgbClr val="1FAB65"/>
            </a:solidFill>
            <a:prstDash val="solid"/>
          </a:ln>
        </p:spPr>
      </p:sp>
      <p:sp>
        <p:nvSpPr>
          <p:cNvPr id="13" name="Text 11"/>
          <p:cNvSpPr txBox="1"/>
          <p:nvPr/>
        </p:nvSpPr>
        <p:spPr>
          <a:xfrm>
            <a:off x="4288536" y="2834640"/>
            <a:ext cx="914400" cy="914400"/>
          </a:xfrm>
          <a:prstGeom prst="rect">
            <a:avLst/>
          </a:prstGeom>
          <a:noFill/>
          <a:ln/>
        </p:spPr>
        <p:txBody>
          <a:bodyPr wrap="square" lIns="0" tIns="0" rIns="0" bIns="0" rtlCol="0" anchor="ctr"/>
          <a:lstStyle/>
          <a:p>
            <a:pPr algn="ctr" indent="0" marL="0">
              <a:buNone/>
            </a:pPr>
            <a:r>
              <a:rPr lang="en-US" sz="1400" b="1" dirty="0">
                <a:solidFill>
                  <a:srgbClr val="1B2A4A"/>
                </a:solidFill>
              </a:rPr>
              <a:t>Ch 4</a:t>
            </a:r>
            <a:endParaRPr lang="en-US" sz="1400" dirty="0"/>
          </a:p>
        </p:txBody>
      </p:sp>
      <p:sp>
        <p:nvSpPr>
          <p:cNvPr id="14" name="Shape 12"/>
          <p:cNvSpPr/>
          <p:nvPr/>
        </p:nvSpPr>
        <p:spPr>
          <a:xfrm>
            <a:off x="5367528" y="2834640"/>
            <a:ext cx="914400" cy="914400"/>
          </a:xfrm>
          <a:prstGeom prst="roundRect">
            <a:avLst>
              <a:gd name="adj" fmla="val 5000"/>
            </a:avLst>
          </a:prstGeom>
          <a:solidFill>
            <a:srgbClr val="FFFFFF"/>
          </a:solidFill>
          <a:ln w="25400">
            <a:solidFill>
              <a:srgbClr val="1FAB65"/>
            </a:solidFill>
            <a:prstDash val="solid"/>
          </a:ln>
        </p:spPr>
      </p:sp>
      <p:sp>
        <p:nvSpPr>
          <p:cNvPr id="15" name="Text 13"/>
          <p:cNvSpPr txBox="1"/>
          <p:nvPr/>
        </p:nvSpPr>
        <p:spPr>
          <a:xfrm>
            <a:off x="5367528" y="2834640"/>
            <a:ext cx="914400" cy="914400"/>
          </a:xfrm>
          <a:prstGeom prst="rect">
            <a:avLst/>
          </a:prstGeom>
          <a:noFill/>
          <a:ln/>
        </p:spPr>
        <p:txBody>
          <a:bodyPr wrap="square" lIns="0" tIns="0" rIns="0" bIns="0" rtlCol="0" anchor="ctr"/>
          <a:lstStyle/>
          <a:p>
            <a:pPr algn="ctr" indent="0" marL="0">
              <a:buNone/>
            </a:pPr>
            <a:r>
              <a:rPr lang="en-US" sz="1400" b="1" dirty="0">
                <a:solidFill>
                  <a:srgbClr val="1B2A4A"/>
                </a:solidFill>
              </a:rPr>
              <a:t>Ch 5</a:t>
            </a:r>
            <a:endParaRPr lang="en-US" sz="1400" dirty="0"/>
          </a:p>
        </p:txBody>
      </p:sp>
      <p:sp>
        <p:nvSpPr>
          <p:cNvPr id="16" name="Shape 14"/>
          <p:cNvSpPr/>
          <p:nvPr/>
        </p:nvSpPr>
        <p:spPr>
          <a:xfrm>
            <a:off x="6446520" y="2834640"/>
            <a:ext cx="914400" cy="914400"/>
          </a:xfrm>
          <a:prstGeom prst="roundRect">
            <a:avLst>
              <a:gd name="adj" fmla="val 5000"/>
            </a:avLst>
          </a:prstGeom>
          <a:solidFill>
            <a:srgbClr val="FFFFFF"/>
          </a:solidFill>
          <a:ln w="25400">
            <a:solidFill>
              <a:srgbClr val="1FAB65"/>
            </a:solidFill>
            <a:prstDash val="solid"/>
          </a:ln>
        </p:spPr>
      </p:sp>
      <p:sp>
        <p:nvSpPr>
          <p:cNvPr id="17" name="Text 15"/>
          <p:cNvSpPr txBox="1"/>
          <p:nvPr/>
        </p:nvSpPr>
        <p:spPr>
          <a:xfrm>
            <a:off x="6446520" y="2834640"/>
            <a:ext cx="914400" cy="914400"/>
          </a:xfrm>
          <a:prstGeom prst="rect">
            <a:avLst/>
          </a:prstGeom>
          <a:noFill/>
          <a:ln/>
        </p:spPr>
        <p:txBody>
          <a:bodyPr wrap="square" lIns="0" tIns="0" rIns="0" bIns="0" rtlCol="0" anchor="ctr"/>
          <a:lstStyle/>
          <a:p>
            <a:pPr algn="ctr" indent="0" marL="0">
              <a:buNone/>
            </a:pPr>
            <a:r>
              <a:rPr lang="en-US" sz="1400" b="1" dirty="0">
                <a:solidFill>
                  <a:srgbClr val="1B2A4A"/>
                </a:solidFill>
              </a:rPr>
              <a:t>Ch 6</a:t>
            </a:r>
            <a:endParaRPr lang="en-US" sz="1400" dirty="0"/>
          </a:p>
        </p:txBody>
      </p:sp>
      <p:sp>
        <p:nvSpPr>
          <p:cNvPr id="18" name="Shape 16"/>
          <p:cNvSpPr/>
          <p:nvPr/>
        </p:nvSpPr>
        <p:spPr>
          <a:xfrm>
            <a:off x="7525512" y="2834640"/>
            <a:ext cx="914400" cy="914400"/>
          </a:xfrm>
          <a:prstGeom prst="roundRect">
            <a:avLst>
              <a:gd name="adj" fmla="val 5000"/>
            </a:avLst>
          </a:prstGeom>
          <a:solidFill>
            <a:srgbClr val="FFFFFF"/>
          </a:solidFill>
          <a:ln w="25400">
            <a:solidFill>
              <a:srgbClr val="1FAB65"/>
            </a:solidFill>
            <a:prstDash val="solid"/>
          </a:ln>
        </p:spPr>
      </p:sp>
      <p:sp>
        <p:nvSpPr>
          <p:cNvPr id="19" name="Text 17"/>
          <p:cNvSpPr txBox="1"/>
          <p:nvPr/>
        </p:nvSpPr>
        <p:spPr>
          <a:xfrm>
            <a:off x="7525512" y="2834640"/>
            <a:ext cx="914400" cy="914400"/>
          </a:xfrm>
          <a:prstGeom prst="rect">
            <a:avLst/>
          </a:prstGeom>
          <a:noFill/>
          <a:ln/>
        </p:spPr>
        <p:txBody>
          <a:bodyPr wrap="square" lIns="0" tIns="0" rIns="0" bIns="0" rtlCol="0" anchor="ctr"/>
          <a:lstStyle/>
          <a:p>
            <a:pPr algn="ctr" indent="0" marL="0">
              <a:buNone/>
            </a:pPr>
            <a:r>
              <a:rPr lang="en-US" sz="1400" b="1" dirty="0">
                <a:solidFill>
                  <a:srgbClr val="1B2A4A"/>
                </a:solidFill>
              </a:rPr>
              <a:t>Ch 7</a:t>
            </a:r>
            <a:endParaRPr lang="en-US" sz="1400" dirty="0"/>
          </a:p>
        </p:txBody>
      </p:sp>
      <p:sp>
        <p:nvSpPr>
          <p:cNvPr id="20" name="Shape 18"/>
          <p:cNvSpPr/>
          <p:nvPr/>
        </p:nvSpPr>
        <p:spPr>
          <a:xfrm>
            <a:off x="8604504" y="2834640"/>
            <a:ext cx="914400" cy="914400"/>
          </a:xfrm>
          <a:prstGeom prst="roundRect">
            <a:avLst>
              <a:gd name="adj" fmla="val 5000"/>
            </a:avLst>
          </a:prstGeom>
          <a:solidFill>
            <a:srgbClr val="FFFFFF"/>
          </a:solidFill>
          <a:ln w="25400">
            <a:solidFill>
              <a:srgbClr val="1FAB65"/>
            </a:solidFill>
            <a:prstDash val="solid"/>
          </a:ln>
        </p:spPr>
      </p:sp>
      <p:sp>
        <p:nvSpPr>
          <p:cNvPr id="21" name="Text 19"/>
          <p:cNvSpPr txBox="1"/>
          <p:nvPr/>
        </p:nvSpPr>
        <p:spPr>
          <a:xfrm>
            <a:off x="8604504" y="2834640"/>
            <a:ext cx="914400" cy="914400"/>
          </a:xfrm>
          <a:prstGeom prst="rect">
            <a:avLst/>
          </a:prstGeom>
          <a:noFill/>
          <a:ln/>
        </p:spPr>
        <p:txBody>
          <a:bodyPr wrap="square" lIns="0" tIns="0" rIns="0" bIns="0" rtlCol="0" anchor="ctr"/>
          <a:lstStyle/>
          <a:p>
            <a:pPr algn="ctr" indent="0" marL="0">
              <a:buNone/>
            </a:pPr>
            <a:r>
              <a:rPr lang="en-US" sz="1400" b="1" dirty="0">
                <a:solidFill>
                  <a:srgbClr val="1B2A4A"/>
                </a:solidFill>
              </a:rPr>
              <a:t>Ch 8</a:t>
            </a:r>
            <a:endParaRPr lang="en-US" sz="1400" dirty="0"/>
          </a:p>
        </p:txBody>
      </p:sp>
      <p:sp>
        <p:nvSpPr>
          <p:cNvPr id="22" name="Shape 20"/>
          <p:cNvSpPr/>
          <p:nvPr/>
        </p:nvSpPr>
        <p:spPr>
          <a:xfrm>
            <a:off x="1051560" y="2331720"/>
            <a:ext cx="1691640" cy="384048"/>
          </a:xfrm>
          <a:prstGeom prst="roundRect">
            <a:avLst>
              <a:gd name="adj" fmla="val 50000"/>
            </a:avLst>
          </a:prstGeom>
          <a:solidFill>
            <a:srgbClr val="D64545"/>
          </a:solidFill>
          <a:ln/>
        </p:spPr>
      </p:sp>
      <p:sp>
        <p:nvSpPr>
          <p:cNvPr id="23" name="Text 21"/>
          <p:cNvSpPr txBox="1"/>
          <p:nvPr/>
        </p:nvSpPr>
        <p:spPr>
          <a:xfrm>
            <a:off x="1051560" y="2331720"/>
            <a:ext cx="16916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ERASED FIRST</a:t>
            </a:r>
            <a:endParaRPr lang="en-US" sz="1100" dirty="0"/>
          </a:p>
        </p:txBody>
      </p:sp>
      <p:sp>
        <p:nvSpPr>
          <p:cNvPr id="24" name="Shape 22"/>
          <p:cNvSpPr/>
          <p:nvPr/>
        </p:nvSpPr>
        <p:spPr>
          <a:xfrm>
            <a:off x="3063240" y="2331720"/>
            <a:ext cx="2377440" cy="384048"/>
          </a:xfrm>
          <a:prstGeom prst="roundRect">
            <a:avLst>
              <a:gd name="adj" fmla="val 50000"/>
            </a:avLst>
          </a:prstGeom>
          <a:solidFill>
            <a:srgbClr val="1FAB65"/>
          </a:solidFill>
          <a:ln/>
        </p:spPr>
      </p:sp>
      <p:sp>
        <p:nvSpPr>
          <p:cNvPr id="25" name="Text 23"/>
          <p:cNvSpPr txBox="1"/>
          <p:nvPr/>
        </p:nvSpPr>
        <p:spPr>
          <a:xfrm>
            <a:off x="3063240" y="2331720"/>
            <a:ext cx="23774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STILL ON THE BOARD</a:t>
            </a:r>
            <a:endParaRPr lang="en-US" sz="1100" dirty="0"/>
          </a:p>
        </p:txBody>
      </p:sp>
      <p:sp>
        <p:nvSpPr>
          <p:cNvPr id="26" name="Shape 24"/>
          <p:cNvSpPr/>
          <p:nvPr/>
        </p:nvSpPr>
        <p:spPr>
          <a:xfrm>
            <a:off x="9774936" y="2697480"/>
            <a:ext cx="2286000" cy="1188720"/>
          </a:xfrm>
          <a:prstGeom prst="roundRect">
            <a:avLst>
              <a:gd name="adj" fmla="val 3846"/>
            </a:avLst>
          </a:prstGeom>
          <a:solidFill>
            <a:srgbClr val="FFF7E8"/>
          </a:solidFill>
          <a:ln w="25400">
            <a:solidFill>
              <a:srgbClr val="FFB627"/>
            </a:solidFill>
            <a:prstDash val="solid"/>
          </a:ln>
        </p:spPr>
      </p:sp>
      <p:sp>
        <p:nvSpPr>
          <p:cNvPr id="27" name="Text 25"/>
          <p:cNvSpPr txBox="1"/>
          <p:nvPr/>
        </p:nvSpPr>
        <p:spPr>
          <a:xfrm>
            <a:off x="9866376" y="2697480"/>
            <a:ext cx="2103120" cy="1188720"/>
          </a:xfrm>
          <a:prstGeom prst="rect">
            <a:avLst/>
          </a:prstGeom>
          <a:noFill/>
          <a:ln/>
        </p:spPr>
        <p:txBody>
          <a:bodyPr wrap="square" lIns="0" tIns="0" rIns="0" bIns="0" rtlCol="0" anchor="ctr"/>
          <a:lstStyle/>
          <a:p>
            <a:pPr algn="ctr" indent="0" marL="0">
              <a:lnSpc>
                <a:spcPct val="120000"/>
              </a:lnSpc>
              <a:buNone/>
            </a:pPr>
            <a:r>
              <a:rPr lang="en-US" sz="1200" b="1" dirty="0">
                <a:solidFill>
                  <a:srgbClr val="1B2A4A"/>
                </a:solidFill>
                <a:latin typeface="Calibri" pitchFamily="34" charset="0"/>
                <a:ea typeface="Calibri" pitchFamily="34" charset="-122"/>
                <a:cs typeface="Calibri" pitchFamily="34" charset="-120"/>
              </a:rPr>
              <a:t>“What happened</a:t>
            </a:r>
            <a:endParaRPr lang="en-US" sz="1200" dirty="0"/>
          </a:p>
          <a:p>
            <a:pPr algn="ctr" indent="0" marL="0">
              <a:lnSpc>
                <a:spcPct val="120000"/>
              </a:lnSpc>
              <a:buNone/>
            </a:pPr>
            <a:r>
              <a:rPr lang="en-US" sz="1200" b="1" dirty="0">
                <a:solidFill>
                  <a:srgbClr val="1B2A4A"/>
                </a:solidFill>
                <a:latin typeface="Calibri" pitchFamily="34" charset="0"/>
                <a:ea typeface="Calibri" pitchFamily="34" charset="-122"/>
                <a:cs typeface="Calibri" pitchFamily="34" charset="-120"/>
              </a:rPr>
              <a:t>in Chapter 1?”</a:t>
            </a:r>
            <a:endParaRPr lang="en-US" sz="1200" dirty="0"/>
          </a:p>
        </p:txBody>
      </p:sp>
      <p:sp>
        <p:nvSpPr>
          <p:cNvPr id="28" name="Shape 26"/>
          <p:cNvSpPr/>
          <p:nvPr/>
        </p:nvSpPr>
        <p:spPr>
          <a:xfrm>
            <a:off x="548640" y="4709160"/>
            <a:ext cx="11091672" cy="1737360"/>
          </a:xfrm>
          <a:prstGeom prst="roundRect">
            <a:avLst>
              <a:gd name="adj" fmla="val 2632"/>
            </a:avLst>
          </a:prstGeom>
          <a:solidFill>
            <a:srgbClr val="142850"/>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29" name="Text 27"/>
          <p:cNvSpPr txBox="1"/>
          <p:nvPr/>
        </p:nvSpPr>
        <p:spPr>
          <a:xfrm>
            <a:off x="822960" y="4709160"/>
            <a:ext cx="10543032" cy="1737360"/>
          </a:xfrm>
          <a:prstGeom prst="rect">
            <a:avLst/>
          </a:prstGeom>
          <a:noFill/>
          <a:ln/>
        </p:spPr>
        <p:txBody>
          <a:bodyPr wrap="square" lIns="0" tIns="0" rIns="0" bIns="0" rtlCol="0" anchor="ctr"/>
          <a:lstStyle/>
          <a:p>
            <a:pPr indent="0" marL="0">
              <a:lnSpc>
                <a:spcPct val="125000"/>
              </a:lnSpc>
              <a:buNone/>
            </a:pPr>
            <a:r>
              <a:rPr lang="en-US" sz="1350" i="1" dirty="0">
                <a:solidFill>
                  <a:srgbClr val="FFFFFF"/>
                </a:solidFill>
                <a:latin typeface="Calibri" pitchFamily="34" charset="0"/>
                <a:ea typeface="Calibri" pitchFamily="34" charset="-122"/>
                <a:cs typeface="Calibri" pitchFamily="34" charset="-120"/>
              </a:rPr>
              <a:t>It doesn't have to be a long chat — pasting one huge block of text can fill the board all by itself, before the model even reaches the end of it. That's why it can go fuzzy on the very beginning of something long you just pasted.</a:t>
            </a:r>
            <a:endParaRPr lang="en-US" sz="1350" dirty="0"/>
          </a:p>
        </p:txBody>
      </p:sp>
      <p:sp>
        <p:nvSpPr>
          <p:cNvPr id="30" name="Text 28"/>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2</a:t>
            </a:r>
            <a:endParaRPr lang="en-US" sz="900" dirty="0"/>
          </a:p>
        </p:txBody>
      </p:sp>
      <p:sp>
        <p:nvSpPr>
          <p:cNvPr id="31" name="Text 29"/>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LIVE ACTIVITY · 10 MINUTES</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Still On The Board, Or Already Erased?</a:t>
            </a:r>
            <a:endParaRPr lang="en-US" sz="3000" dirty="0"/>
          </a:p>
        </p:txBody>
      </p:sp>
      <p:sp>
        <p:nvSpPr>
          <p:cNvPr id="4" name="Text 2"/>
          <p:cNvSpPr txBox="1"/>
          <p:nvPr/>
        </p:nvSpPr>
        <p:spPr>
          <a:xfrm>
            <a:off x="548640" y="1828800"/>
            <a:ext cx="11091672" cy="502920"/>
          </a:xfrm>
          <a:prstGeom prst="rect">
            <a:avLst/>
          </a:prstGeom>
          <a:noFill/>
          <a:ln/>
        </p:spPr>
        <p:txBody>
          <a:bodyPr wrap="square" lIns="0" tIns="0" rIns="0" bIns="0" rtlCol="0" anchor="t"/>
          <a:lstStyle/>
          <a:p>
            <a:pPr algn="l" indent="0" marL="0">
              <a:lnSpc>
                <a:spcPct val="125000"/>
              </a:lnSpc>
              <a:buNone/>
            </a:pPr>
            <a:r>
              <a:rPr lang="en-US" sz="1450" dirty="0">
                <a:solidFill>
                  <a:srgbClr val="1B2A4A"/>
                </a:solidFill>
                <a:latin typeface="Calibri" pitchFamily="34" charset="0"/>
                <a:ea typeface="Calibri" pitchFamily="34" charset="-122"/>
                <a:cs typeface="Calibri" pitchFamily="34" charset="-120"/>
              </a:rPr>
              <a:t>Say one detail out loud once (like a number) — then move on and don't repeat it.</a:t>
            </a:r>
            <a:endParaRPr lang="en-US" sz="1450" dirty="0"/>
          </a:p>
        </p:txBody>
      </p:sp>
      <p:sp>
        <p:nvSpPr>
          <p:cNvPr id="5" name="Shape 3"/>
          <p:cNvSpPr/>
          <p:nvPr/>
        </p:nvSpPr>
        <p:spPr>
          <a:xfrm>
            <a:off x="1851660" y="2057400"/>
            <a:ext cx="640080" cy="640080"/>
          </a:xfrm>
          <a:prstGeom prst="ellipse">
            <a:avLst/>
          </a:prstGeom>
          <a:solidFill>
            <a:srgbClr val="1FAB65"/>
          </a:solidFill>
          <a:ln/>
        </p:spPr>
      </p:sp>
      <p:sp>
        <p:nvSpPr>
          <p:cNvPr id="6" name="Text 4"/>
          <p:cNvSpPr txBox="1"/>
          <p:nvPr/>
        </p:nvSpPr>
        <p:spPr>
          <a:xfrm>
            <a:off x="1851660" y="20574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47</a:t>
            </a:r>
            <a:endParaRPr lang="en-US" sz="1600" dirty="0"/>
          </a:p>
        </p:txBody>
      </p:sp>
      <p:sp>
        <p:nvSpPr>
          <p:cNvPr id="7" name="Shape 5"/>
          <p:cNvSpPr/>
          <p:nvPr/>
        </p:nvSpPr>
        <p:spPr>
          <a:xfrm>
            <a:off x="548640" y="2743200"/>
            <a:ext cx="3246120" cy="1371600"/>
          </a:xfrm>
          <a:prstGeom prst="roundRect">
            <a:avLst>
              <a:gd name="adj" fmla="val 4000"/>
            </a:avLst>
          </a:prstGeom>
          <a:solidFill>
            <a:srgbClr val="FFFFFF"/>
          </a:solidFill>
          <a:ln w="19050">
            <a:solidFill>
              <a:srgbClr val="1FAB65"/>
            </a:solidFill>
            <a:prstDash val="solid"/>
          </a:ln>
          <a:effectLst>
            <a:outerShdw sx="100000" sy="100000" kx="0" ky="0" algn="bl" rotWithShape="0" blurRad="50800" dist="19050" dir="5400000">
              <a:srgbClr val="1B2A4A">
                <a:alpha val="12000"/>
              </a:srgbClr>
            </a:outerShdw>
          </a:effectLst>
        </p:spPr>
      </p:sp>
      <p:sp>
        <p:nvSpPr>
          <p:cNvPr id="8" name="Text 6"/>
          <p:cNvSpPr txBox="1"/>
          <p:nvPr/>
        </p:nvSpPr>
        <p:spPr>
          <a:xfrm>
            <a:off x="731520" y="3063240"/>
            <a:ext cx="2880360" cy="365760"/>
          </a:xfrm>
          <a:prstGeom prst="rect">
            <a:avLst/>
          </a:prstGeom>
          <a:noFill/>
          <a:ln/>
        </p:spPr>
        <p:txBody>
          <a:bodyPr wrap="square" lIns="0" tIns="0" rIns="0" bIns="0" rtlCol="0" anchor="t"/>
          <a:lstStyle/>
          <a:p>
            <a:pPr algn="ctr" indent="0" marL="0">
              <a:lnSpc>
                <a:spcPct val="125000"/>
              </a:lnSpc>
              <a:buNone/>
            </a:pPr>
            <a:r>
              <a:rPr lang="en-US" sz="1400" b="1" dirty="0">
                <a:solidFill>
                  <a:srgbClr val="1B2A4A"/>
                </a:solidFill>
                <a:latin typeface="Calibri" pitchFamily="34" charset="0"/>
                <a:ea typeface="Calibri" pitchFamily="34" charset="-122"/>
                <a:cs typeface="Calibri" pitchFamily="34" charset="-120"/>
              </a:rPr>
              <a:t>Detail Said</a:t>
            </a:r>
            <a:endParaRPr lang="en-US" sz="1400" dirty="0"/>
          </a:p>
        </p:txBody>
      </p:sp>
      <p:sp>
        <p:nvSpPr>
          <p:cNvPr id="9" name="Text 7"/>
          <p:cNvSpPr txBox="1"/>
          <p:nvPr/>
        </p:nvSpPr>
        <p:spPr>
          <a:xfrm>
            <a:off x="731520" y="3520440"/>
            <a:ext cx="2880360" cy="457200"/>
          </a:xfrm>
          <a:prstGeom prst="rect">
            <a:avLst/>
          </a:prstGeom>
          <a:noFill/>
          <a:ln/>
        </p:spPr>
        <p:txBody>
          <a:bodyPr wrap="square" lIns="0" tIns="0" rIns="0" bIns="0" rtlCol="0" anchor="t"/>
          <a:lstStyle/>
          <a:p>
            <a:pPr algn="ctr" indent="0" marL="0">
              <a:lnSpc>
                <a:spcPct val="125000"/>
              </a:lnSpc>
              <a:buNone/>
            </a:pPr>
            <a:r>
              <a:rPr lang="en-US" sz="1250" i="1" dirty="0">
                <a:solidFill>
                  <a:srgbClr val="5B6B87"/>
                </a:solidFill>
                <a:latin typeface="Calibri" pitchFamily="34" charset="0"/>
                <a:ea typeface="Calibri" pitchFamily="34" charset="-122"/>
                <a:cs typeface="Calibri" pitchFamily="34" charset="-120"/>
              </a:rPr>
              <a:t>“The number was 47”</a:t>
            </a:r>
            <a:endParaRPr lang="en-US" sz="1250" dirty="0"/>
          </a:p>
        </p:txBody>
      </p:sp>
      <p:sp>
        <p:nvSpPr>
          <p:cNvPr id="10" name="Text 8"/>
          <p:cNvSpPr txBox="1"/>
          <p:nvPr/>
        </p:nvSpPr>
        <p:spPr>
          <a:xfrm>
            <a:off x="3794760" y="2743200"/>
            <a:ext cx="457200" cy="1371600"/>
          </a:xfrm>
          <a:prstGeom prst="rect">
            <a:avLst/>
          </a:prstGeom>
          <a:noFill/>
          <a:ln/>
        </p:spPr>
        <p:txBody>
          <a:bodyPr wrap="square" lIns="0" tIns="0" rIns="0" bIns="0" rtlCol="0" anchor="ctr"/>
          <a:lstStyle/>
          <a:p>
            <a:pPr algn="ctr" indent="0" marL="0">
              <a:buNone/>
            </a:pPr>
            <a:r>
              <a:rPr lang="en-US" sz="2200" dirty="0">
                <a:solidFill>
                  <a:srgbClr val="5B6B87"/>
                </a:solidFill>
              </a:rPr>
              <a:t>→</a:t>
            </a:r>
            <a:endParaRPr lang="en-US" sz="2200" dirty="0"/>
          </a:p>
        </p:txBody>
      </p:sp>
      <p:sp>
        <p:nvSpPr>
          <p:cNvPr id="11" name="Shape 9"/>
          <p:cNvSpPr/>
          <p:nvPr/>
        </p:nvSpPr>
        <p:spPr>
          <a:xfrm>
            <a:off x="5554980" y="2057400"/>
            <a:ext cx="640080" cy="640080"/>
          </a:xfrm>
          <a:prstGeom prst="ellipse">
            <a:avLst/>
          </a:prstGeom>
          <a:solidFill>
            <a:srgbClr val="5B6B87"/>
          </a:solidFill>
          <a:ln/>
        </p:spPr>
      </p:sp>
      <p:sp>
        <p:nvSpPr>
          <p:cNvPr id="12" name="Text 10"/>
          <p:cNvSpPr txBox="1"/>
          <p:nvPr/>
        </p:nvSpPr>
        <p:spPr>
          <a:xfrm>
            <a:off x="5554980" y="20574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Shape 11"/>
          <p:cNvSpPr/>
          <p:nvPr/>
        </p:nvSpPr>
        <p:spPr>
          <a:xfrm>
            <a:off x="4251960" y="2743200"/>
            <a:ext cx="3246120" cy="1371600"/>
          </a:xfrm>
          <a:prstGeom prst="roundRect">
            <a:avLst>
              <a:gd name="adj" fmla="val 4000"/>
            </a:avLst>
          </a:prstGeom>
          <a:solidFill>
            <a:srgbClr val="FFFFFF"/>
          </a:solidFill>
          <a:ln w="19050">
            <a:solidFill>
              <a:srgbClr val="5B6B87"/>
            </a:solidFill>
            <a:prstDash val="solid"/>
          </a:ln>
          <a:effectLst>
            <a:outerShdw sx="100000" sy="100000" kx="0" ky="0" algn="bl" rotWithShape="0" blurRad="50800" dist="19050" dir="5400000">
              <a:srgbClr val="1B2A4A">
                <a:alpha val="12000"/>
              </a:srgbClr>
            </a:outerShdw>
          </a:effectLst>
        </p:spPr>
      </p:sp>
      <p:sp>
        <p:nvSpPr>
          <p:cNvPr id="14" name="Text 12"/>
          <p:cNvSpPr txBox="1"/>
          <p:nvPr/>
        </p:nvSpPr>
        <p:spPr>
          <a:xfrm>
            <a:off x="4434840" y="3063240"/>
            <a:ext cx="2880360" cy="365760"/>
          </a:xfrm>
          <a:prstGeom prst="rect">
            <a:avLst/>
          </a:prstGeom>
          <a:noFill/>
          <a:ln/>
        </p:spPr>
        <p:txBody>
          <a:bodyPr wrap="square" lIns="0" tIns="0" rIns="0" bIns="0" rtlCol="0" anchor="t"/>
          <a:lstStyle/>
          <a:p>
            <a:pPr algn="ctr" indent="0" marL="0">
              <a:lnSpc>
                <a:spcPct val="125000"/>
              </a:lnSpc>
              <a:buNone/>
            </a:pPr>
            <a:r>
              <a:rPr lang="en-US" sz="1400" b="1" dirty="0">
                <a:solidFill>
                  <a:srgbClr val="1B2A4A"/>
                </a:solidFill>
                <a:latin typeface="Calibri" pitchFamily="34" charset="0"/>
                <a:ea typeface="Calibri" pitchFamily="34" charset="-122"/>
                <a:cs typeface="Calibri" pitchFamily="34" charset="-120"/>
              </a:rPr>
              <a:t>Talk About Other Things</a:t>
            </a:r>
            <a:endParaRPr lang="en-US" sz="1400" dirty="0"/>
          </a:p>
        </p:txBody>
      </p:sp>
      <p:sp>
        <p:nvSpPr>
          <p:cNvPr id="15" name="Text 13"/>
          <p:cNvSpPr txBox="1"/>
          <p:nvPr/>
        </p:nvSpPr>
        <p:spPr>
          <a:xfrm>
            <a:off x="4434840" y="3520440"/>
            <a:ext cx="2880360" cy="457200"/>
          </a:xfrm>
          <a:prstGeom prst="rect">
            <a:avLst/>
          </a:prstGeom>
          <a:noFill/>
          <a:ln/>
        </p:spPr>
        <p:txBody>
          <a:bodyPr wrap="square" lIns="0" tIns="0" rIns="0" bIns="0" rtlCol="0" anchor="t"/>
          <a:lstStyle/>
          <a:p>
            <a:pPr algn="ctr" indent="0" marL="0">
              <a:lnSpc>
                <a:spcPct val="125000"/>
              </a:lnSpc>
              <a:buNone/>
            </a:pPr>
            <a:r>
              <a:rPr lang="en-US" sz="1250" i="1" dirty="0">
                <a:solidFill>
                  <a:srgbClr val="5B6B87"/>
                </a:solidFill>
                <a:latin typeface="Calibri" pitchFamily="34" charset="0"/>
                <a:ea typeface="Calibri" pitchFamily="34" charset="-122"/>
                <a:cs typeface="Calibri" pitchFamily="34" charset="-120"/>
              </a:rPr>
              <a:t>fills up the board</a:t>
            </a:r>
            <a:endParaRPr lang="en-US" sz="1250" dirty="0"/>
          </a:p>
        </p:txBody>
      </p:sp>
      <p:sp>
        <p:nvSpPr>
          <p:cNvPr id="16" name="Text 14"/>
          <p:cNvSpPr txBox="1"/>
          <p:nvPr/>
        </p:nvSpPr>
        <p:spPr>
          <a:xfrm>
            <a:off x="7498080" y="2743200"/>
            <a:ext cx="457200" cy="1371600"/>
          </a:xfrm>
          <a:prstGeom prst="rect">
            <a:avLst/>
          </a:prstGeom>
          <a:noFill/>
          <a:ln/>
        </p:spPr>
        <p:txBody>
          <a:bodyPr wrap="square" lIns="0" tIns="0" rIns="0" bIns="0" rtlCol="0" anchor="ctr"/>
          <a:lstStyle/>
          <a:p>
            <a:pPr algn="ctr" indent="0" marL="0">
              <a:buNone/>
            </a:pPr>
            <a:r>
              <a:rPr lang="en-US" sz="2200" dirty="0">
                <a:solidFill>
                  <a:srgbClr val="5B6B87"/>
                </a:solidFill>
              </a:rPr>
              <a:t>→</a:t>
            </a:r>
            <a:endParaRPr lang="en-US" sz="2200" dirty="0"/>
          </a:p>
        </p:txBody>
      </p:sp>
      <p:sp>
        <p:nvSpPr>
          <p:cNvPr id="17" name="Shape 15"/>
          <p:cNvSpPr/>
          <p:nvPr/>
        </p:nvSpPr>
        <p:spPr>
          <a:xfrm>
            <a:off x="9258300" y="2057400"/>
            <a:ext cx="640080" cy="640080"/>
          </a:xfrm>
          <a:prstGeom prst="ellipse">
            <a:avLst/>
          </a:prstGeom>
          <a:solidFill>
            <a:srgbClr val="D64545"/>
          </a:solidFill>
          <a:ln/>
        </p:spPr>
      </p:sp>
      <p:sp>
        <p:nvSpPr>
          <p:cNvPr id="18" name="Text 16"/>
          <p:cNvSpPr txBox="1"/>
          <p:nvPr/>
        </p:nvSpPr>
        <p:spPr>
          <a:xfrm>
            <a:off x="9258300" y="20574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9" name="Shape 17"/>
          <p:cNvSpPr/>
          <p:nvPr/>
        </p:nvSpPr>
        <p:spPr>
          <a:xfrm>
            <a:off x="7955280" y="2743200"/>
            <a:ext cx="3246120" cy="1371600"/>
          </a:xfrm>
          <a:prstGeom prst="roundRect">
            <a:avLst>
              <a:gd name="adj" fmla="val 4000"/>
            </a:avLst>
          </a:prstGeom>
          <a:solidFill>
            <a:srgbClr val="FFFFFF"/>
          </a:solidFill>
          <a:ln w="19050">
            <a:solidFill>
              <a:srgbClr val="FFB627"/>
            </a:solidFill>
            <a:prstDash val="solid"/>
          </a:ln>
          <a:effectLst>
            <a:outerShdw sx="100000" sy="100000" kx="0" ky="0" algn="bl" rotWithShape="0" blurRad="50800" dist="19050" dir="5400000">
              <a:srgbClr val="1B2A4A">
                <a:alpha val="12000"/>
              </a:srgbClr>
            </a:outerShdw>
          </a:effectLst>
        </p:spPr>
      </p:sp>
      <p:sp>
        <p:nvSpPr>
          <p:cNvPr id="20" name="Text 18"/>
          <p:cNvSpPr txBox="1"/>
          <p:nvPr/>
        </p:nvSpPr>
        <p:spPr>
          <a:xfrm>
            <a:off x="8138160" y="3063240"/>
            <a:ext cx="2880360" cy="365760"/>
          </a:xfrm>
          <a:prstGeom prst="rect">
            <a:avLst/>
          </a:prstGeom>
          <a:noFill/>
          <a:ln/>
        </p:spPr>
        <p:txBody>
          <a:bodyPr wrap="square" lIns="0" tIns="0" rIns="0" bIns="0" rtlCol="0" anchor="t"/>
          <a:lstStyle/>
          <a:p>
            <a:pPr algn="ctr" indent="0" marL="0">
              <a:lnSpc>
                <a:spcPct val="125000"/>
              </a:lnSpc>
              <a:buNone/>
            </a:pPr>
            <a:r>
              <a:rPr lang="en-US" sz="1400" b="1" dirty="0">
                <a:solidFill>
                  <a:srgbClr val="1B2A4A"/>
                </a:solidFill>
                <a:latin typeface="Calibri" pitchFamily="34" charset="0"/>
                <a:ea typeface="Calibri" pitchFamily="34" charset="-122"/>
                <a:cs typeface="Calibri" pitchFamily="34" charset="-120"/>
              </a:rPr>
              <a:t>Question Asked</a:t>
            </a:r>
            <a:endParaRPr lang="en-US" sz="1400" dirty="0"/>
          </a:p>
        </p:txBody>
      </p:sp>
      <p:sp>
        <p:nvSpPr>
          <p:cNvPr id="21" name="Text 19"/>
          <p:cNvSpPr txBox="1"/>
          <p:nvPr/>
        </p:nvSpPr>
        <p:spPr>
          <a:xfrm>
            <a:off x="8138160" y="3520440"/>
            <a:ext cx="2880360" cy="457200"/>
          </a:xfrm>
          <a:prstGeom prst="rect">
            <a:avLst/>
          </a:prstGeom>
          <a:noFill/>
          <a:ln/>
        </p:spPr>
        <p:txBody>
          <a:bodyPr wrap="square" lIns="0" tIns="0" rIns="0" bIns="0" rtlCol="0" anchor="t"/>
          <a:lstStyle/>
          <a:p>
            <a:pPr algn="ctr" indent="0" marL="0">
              <a:lnSpc>
                <a:spcPct val="125000"/>
              </a:lnSpc>
              <a:buNone/>
            </a:pPr>
            <a:r>
              <a:rPr lang="en-US" sz="1250" i="1" dirty="0">
                <a:solidFill>
                  <a:srgbClr val="5B6B87"/>
                </a:solidFill>
                <a:latin typeface="Calibri" pitchFamily="34" charset="0"/>
                <a:ea typeface="Calibri" pitchFamily="34" charset="-122"/>
                <a:cs typeface="Calibri" pitchFamily="34" charset="-120"/>
              </a:rPr>
              <a:t>“What was the number?”</a:t>
            </a:r>
            <a:endParaRPr lang="en-US" sz="1250" dirty="0"/>
          </a:p>
        </p:txBody>
      </p:sp>
      <p:sp>
        <p:nvSpPr>
          <p:cNvPr id="22" name="Shape 20"/>
          <p:cNvSpPr/>
          <p:nvPr/>
        </p:nvSpPr>
        <p:spPr>
          <a:xfrm>
            <a:off x="548640" y="4526280"/>
            <a:ext cx="11091672" cy="1783080"/>
          </a:xfrm>
          <a:prstGeom prst="roundRect">
            <a:avLst>
              <a:gd name="adj" fmla="val 2564"/>
            </a:avLst>
          </a:prstGeom>
          <a:solidFill>
            <a:srgbClr val="142850"/>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23" name="Text 21"/>
          <p:cNvSpPr txBox="1"/>
          <p:nvPr/>
        </p:nvSpPr>
        <p:spPr>
          <a:xfrm>
            <a:off x="822960" y="4526280"/>
            <a:ext cx="10543032" cy="1783080"/>
          </a:xfrm>
          <a:prstGeom prst="rect">
            <a:avLst/>
          </a:prstGeom>
          <a:noFill/>
          <a:ln/>
        </p:spPr>
        <p:txBody>
          <a:bodyPr wrap="square" lIns="0" tIns="0" rIns="0" bIns="0" rtlCol="0" anchor="ctr"/>
          <a:lstStyle/>
          <a:p>
            <a:pPr indent="0" marL="0">
              <a:lnSpc>
                <a:spcPct val="125000"/>
              </a:lnSpc>
              <a:buNone/>
            </a:pPr>
            <a:r>
              <a:rPr lang="en-US" sz="1350" i="1" dirty="0">
                <a:solidFill>
                  <a:srgbClr val="FFFFFF"/>
                </a:solidFill>
                <a:latin typeface="Calibri" pitchFamily="34" charset="0"/>
                <a:ea typeface="Calibri" pitchFamily="34" charset="-122"/>
                <a:cs typeface="Calibri" pitchFamily="34" charset="-120"/>
              </a:rPr>
              <a:t>Whoever kept the number in mind answers correctly — whoever's board filled up with other things guesses. That's the exact same board from before: what's still on it is usable, what got erased isn't.</a:t>
            </a:r>
            <a:endParaRPr lang="en-US" sz="1350" dirty="0"/>
          </a:p>
        </p:txBody>
      </p:sp>
      <p:sp>
        <p:nvSpPr>
          <p:cNvPr id="24" name="Text 22"/>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2</a:t>
            </a:r>
            <a:endParaRPr lang="en-US" sz="900" dirty="0"/>
          </a:p>
        </p:txBody>
      </p:sp>
      <p:sp>
        <p:nvSpPr>
          <p:cNvPr id="25" name="Text 23"/>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SESSION 2 QUICK CHECK</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Before We Move On…</a:t>
            </a:r>
            <a:endParaRPr lang="en-US" sz="3000" dirty="0"/>
          </a:p>
        </p:txBody>
      </p:sp>
      <p:sp>
        <p:nvSpPr>
          <p:cNvPr id="4" name="Shape 2"/>
          <p:cNvSpPr/>
          <p:nvPr/>
        </p:nvSpPr>
        <p:spPr>
          <a:xfrm>
            <a:off x="548640" y="1920240"/>
            <a:ext cx="11091672" cy="1234440"/>
          </a:xfrm>
          <a:prstGeom prst="roundRect">
            <a:avLst>
              <a:gd name="adj" fmla="val 4444"/>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5" name="Shape 3"/>
          <p:cNvSpPr/>
          <p:nvPr/>
        </p:nvSpPr>
        <p:spPr>
          <a:xfrm>
            <a:off x="822960" y="2240280"/>
            <a:ext cx="594360" cy="594360"/>
          </a:xfrm>
          <a:prstGeom prst="roundRect">
            <a:avLst>
              <a:gd name="adj" fmla="val 50000"/>
            </a:avLst>
          </a:prstGeom>
          <a:solidFill>
            <a:srgbClr val="FFB627"/>
          </a:solidFill>
          <a:ln/>
        </p:spPr>
      </p:sp>
      <p:sp>
        <p:nvSpPr>
          <p:cNvPr id="6" name="Text 4"/>
          <p:cNvSpPr txBox="1"/>
          <p:nvPr/>
        </p:nvSpPr>
        <p:spPr>
          <a:xfrm>
            <a:off x="822960" y="2240280"/>
            <a:ext cx="59436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7" name="Text 5"/>
          <p:cNvSpPr txBox="1"/>
          <p:nvPr/>
        </p:nvSpPr>
        <p:spPr>
          <a:xfrm>
            <a:off x="1600200" y="1920240"/>
            <a:ext cx="9784080" cy="1234440"/>
          </a:xfrm>
          <a:prstGeom prst="rect">
            <a:avLst/>
          </a:prstGeom>
          <a:noFill/>
          <a:ln/>
        </p:spPr>
        <p:txBody>
          <a:bodyPr wrap="square" lIns="0" tIns="0" rIns="0" bIns="0" rtlCol="0" anchor="ctr"/>
          <a:lstStyle/>
          <a:p>
            <a:pPr algn="l" indent="0" marL="0">
              <a:lnSpc>
                <a:spcPct val="125000"/>
              </a:lnSpc>
              <a:buNone/>
            </a:pPr>
            <a:r>
              <a:rPr lang="en-US" sz="1450" dirty="0">
                <a:solidFill>
                  <a:srgbClr val="1B2A4A"/>
                </a:solidFill>
                <a:latin typeface="Calibri" pitchFamily="34" charset="0"/>
                <a:ea typeface="Calibri" pitchFamily="34" charset="-122"/>
                <a:cs typeface="Calibri" pitchFamily="34" charset="-120"/>
              </a:rPr>
              <a:t>Why can an LLM state a wrong fact with full confidence, instead of saying “I don't know”?</a:t>
            </a:r>
            <a:endParaRPr lang="en-US" sz="1450" dirty="0"/>
          </a:p>
        </p:txBody>
      </p:sp>
      <p:sp>
        <p:nvSpPr>
          <p:cNvPr id="8" name="Shape 6"/>
          <p:cNvSpPr/>
          <p:nvPr/>
        </p:nvSpPr>
        <p:spPr>
          <a:xfrm>
            <a:off x="548640" y="3337560"/>
            <a:ext cx="11091672" cy="1234440"/>
          </a:xfrm>
          <a:prstGeom prst="roundRect">
            <a:avLst>
              <a:gd name="adj" fmla="val 4444"/>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9" name="Shape 7"/>
          <p:cNvSpPr/>
          <p:nvPr/>
        </p:nvSpPr>
        <p:spPr>
          <a:xfrm>
            <a:off x="822960" y="3657600"/>
            <a:ext cx="594360" cy="594360"/>
          </a:xfrm>
          <a:prstGeom prst="roundRect">
            <a:avLst>
              <a:gd name="adj" fmla="val 50000"/>
            </a:avLst>
          </a:prstGeom>
          <a:solidFill>
            <a:srgbClr val="FFB627"/>
          </a:solidFill>
          <a:ln/>
        </p:spPr>
      </p:sp>
      <p:sp>
        <p:nvSpPr>
          <p:cNvPr id="10" name="Text 8"/>
          <p:cNvSpPr txBox="1"/>
          <p:nvPr/>
        </p:nvSpPr>
        <p:spPr>
          <a:xfrm>
            <a:off x="822960" y="3657600"/>
            <a:ext cx="59436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1" name="Text 9"/>
          <p:cNvSpPr txBox="1"/>
          <p:nvPr/>
        </p:nvSpPr>
        <p:spPr>
          <a:xfrm>
            <a:off x="1600200" y="3337560"/>
            <a:ext cx="9784080" cy="1234440"/>
          </a:xfrm>
          <a:prstGeom prst="rect">
            <a:avLst/>
          </a:prstGeom>
          <a:noFill/>
          <a:ln/>
        </p:spPr>
        <p:txBody>
          <a:bodyPr wrap="square" lIns="0" tIns="0" rIns="0" bIns="0" rtlCol="0" anchor="ctr"/>
          <a:lstStyle/>
          <a:p>
            <a:pPr algn="l" indent="0" marL="0">
              <a:lnSpc>
                <a:spcPct val="125000"/>
              </a:lnSpc>
              <a:buNone/>
            </a:pPr>
            <a:r>
              <a:rPr lang="en-US" sz="1450" dirty="0">
                <a:solidFill>
                  <a:srgbClr val="1B2A4A"/>
                </a:solidFill>
                <a:latin typeface="Calibri" pitchFamily="34" charset="0"/>
                <a:ea typeface="Calibri" pitchFamily="34" charset="-122"/>
                <a:cs typeface="Calibri" pitchFamily="34" charset="-120"/>
              </a:rPr>
              <a:t>What does “outside the context window” actually mean for what a model can answer?</a:t>
            </a:r>
            <a:endParaRPr lang="en-US" sz="1450" dirty="0"/>
          </a:p>
        </p:txBody>
      </p:sp>
      <p:sp>
        <p:nvSpPr>
          <p:cNvPr id="12" name="Shape 10"/>
          <p:cNvSpPr/>
          <p:nvPr/>
        </p:nvSpPr>
        <p:spPr>
          <a:xfrm>
            <a:off x="548640" y="4754880"/>
            <a:ext cx="11091672" cy="1234440"/>
          </a:xfrm>
          <a:prstGeom prst="roundRect">
            <a:avLst>
              <a:gd name="adj" fmla="val 4444"/>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13" name="Shape 11"/>
          <p:cNvSpPr/>
          <p:nvPr/>
        </p:nvSpPr>
        <p:spPr>
          <a:xfrm>
            <a:off x="822960" y="5074920"/>
            <a:ext cx="594360" cy="594360"/>
          </a:xfrm>
          <a:prstGeom prst="roundRect">
            <a:avLst>
              <a:gd name="adj" fmla="val 50000"/>
            </a:avLst>
          </a:prstGeom>
          <a:solidFill>
            <a:srgbClr val="FFB627"/>
          </a:solidFill>
          <a:ln/>
        </p:spPr>
      </p:sp>
      <p:sp>
        <p:nvSpPr>
          <p:cNvPr id="14" name="Text 12"/>
          <p:cNvSpPr txBox="1"/>
          <p:nvPr/>
        </p:nvSpPr>
        <p:spPr>
          <a:xfrm>
            <a:off x="822960" y="5074920"/>
            <a:ext cx="59436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5" name="Text 13"/>
          <p:cNvSpPr txBox="1"/>
          <p:nvPr/>
        </p:nvSpPr>
        <p:spPr>
          <a:xfrm>
            <a:off x="1600200" y="4754880"/>
            <a:ext cx="9784080" cy="1234440"/>
          </a:xfrm>
          <a:prstGeom prst="rect">
            <a:avLst/>
          </a:prstGeom>
          <a:noFill/>
          <a:ln/>
        </p:spPr>
        <p:txBody>
          <a:bodyPr wrap="square" lIns="0" tIns="0" rIns="0" bIns="0" rtlCol="0" anchor="ctr"/>
          <a:lstStyle/>
          <a:p>
            <a:pPr algn="l" indent="0" marL="0">
              <a:lnSpc>
                <a:spcPct val="125000"/>
              </a:lnSpc>
              <a:buNone/>
            </a:pPr>
            <a:r>
              <a:rPr lang="en-US" sz="1450" dirty="0">
                <a:solidFill>
                  <a:srgbClr val="1B2A4A"/>
                </a:solidFill>
                <a:latin typeface="Calibri" pitchFamily="34" charset="0"/>
                <a:ea typeface="Calibri" pitchFamily="34" charset="-122"/>
                <a:cs typeface="Calibri" pitchFamily="34" charset="-120"/>
              </a:rPr>
              <a:t>In a very long chat, why might a model seem to “forget” something you said much earlier?</a:t>
            </a:r>
            <a:endParaRPr lang="en-US" sz="1450" dirty="0"/>
          </a:p>
        </p:txBody>
      </p:sp>
      <p:sp>
        <p:nvSpPr>
          <p:cNvPr id="16" name="Text 14"/>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2</a:t>
            </a:r>
            <a:endParaRPr lang="en-US" sz="900" dirty="0"/>
          </a:p>
        </p:txBody>
      </p:sp>
      <p:sp>
        <p:nvSpPr>
          <p:cNvPr id="17" name="Text 15"/>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1371600" cy="1097280"/>
          </a:xfrm>
          <a:prstGeom prst="rect">
            <a:avLst/>
          </a:prstGeom>
          <a:noFill/>
          <a:ln/>
        </p:spPr>
        <p:txBody>
          <a:bodyPr wrap="square" lIns="0" tIns="0" rIns="0" bIns="0" rtlCol="0" anchor="ctr"/>
          <a:lstStyle/>
          <a:p>
            <a:pPr indent="0" marL="0">
              <a:buNone/>
            </a:pPr>
            <a:r>
              <a:rPr lang="en-US" sz="6000" b="1" dirty="0">
                <a:solidFill>
                  <a:srgbClr val="D8DEEA"/>
                </a:solidFill>
                <a:latin typeface="Cambria" pitchFamily="34" charset="0"/>
                <a:ea typeface="Cambria" pitchFamily="34" charset="-122"/>
                <a:cs typeface="Cambria" pitchFamily="34" charset="-120"/>
              </a:rPr>
              <a:t>3</a:t>
            </a:r>
            <a:endParaRPr lang="en-US" sz="6000" dirty="0"/>
          </a:p>
        </p:txBody>
      </p:sp>
      <p:sp>
        <p:nvSpPr>
          <p:cNvPr id="3" name="Text 1"/>
          <p:cNvSpPr txBox="1"/>
          <p:nvPr/>
        </p:nvSpPr>
        <p:spPr>
          <a:xfrm>
            <a:off x="548640" y="1417320"/>
            <a:ext cx="8229600" cy="320040"/>
          </a:xfrm>
          <a:prstGeom prst="rect">
            <a:avLst/>
          </a:prstGeom>
          <a:noFill/>
          <a:ln/>
        </p:spPr>
        <p:txBody>
          <a:bodyPr wrap="square" lIns="0" tIns="0" rIns="0" bIns="0" rtlCol="0" anchor="ctr"/>
          <a:lstStyle/>
          <a:p>
            <a:pPr indent="0" marL="0">
              <a:buNone/>
            </a:pPr>
            <a:r>
              <a:rPr lang="en-US" sz="1300" b="1" spc="200" kern="0" dirty="0">
                <a:solidFill>
                  <a:srgbClr val="FFB627"/>
                </a:solidFill>
                <a:latin typeface="Calibri" pitchFamily="34" charset="0"/>
                <a:ea typeface="Calibri" pitchFamily="34" charset="-122"/>
                <a:cs typeface="Calibri" pitchFamily="34" charset="-120"/>
              </a:rPr>
              <a:t>SESSION 3  ·  2 Hours</a:t>
            </a:r>
            <a:endParaRPr lang="en-US" sz="1300" dirty="0"/>
          </a:p>
        </p:txBody>
      </p:sp>
      <p:sp>
        <p:nvSpPr>
          <p:cNvPr id="4" name="Text 2"/>
          <p:cNvSpPr txBox="1"/>
          <p:nvPr/>
        </p:nvSpPr>
        <p:spPr>
          <a:xfrm>
            <a:off x="548640" y="1783080"/>
            <a:ext cx="10058400" cy="822960"/>
          </a:xfrm>
          <a:prstGeom prst="rect">
            <a:avLst/>
          </a:prstGeom>
          <a:noFill/>
          <a:ln/>
        </p:spPr>
        <p:txBody>
          <a:bodyPr wrap="square" lIns="0" tIns="0" rIns="0" bIns="0"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Capabilities, Limits, And The Landscape</a:t>
            </a:r>
            <a:endParaRPr lang="en-US" sz="2800" dirty="0"/>
          </a:p>
        </p:txBody>
      </p:sp>
      <p:sp>
        <p:nvSpPr>
          <p:cNvPr id="5" name="Shape 3"/>
          <p:cNvSpPr/>
          <p:nvPr/>
        </p:nvSpPr>
        <p:spPr>
          <a:xfrm>
            <a:off x="548640" y="2834640"/>
            <a:ext cx="11091672" cy="2194560"/>
          </a:xfrm>
          <a:prstGeom prst="roundRect">
            <a:avLst>
              <a:gd name="adj" fmla="val 2500"/>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6" name="Text 4"/>
          <p:cNvSpPr txBox="1"/>
          <p:nvPr/>
        </p:nvSpPr>
        <p:spPr>
          <a:xfrm>
            <a:off x="868680" y="3063240"/>
            <a:ext cx="5486400" cy="320040"/>
          </a:xfrm>
          <a:prstGeom prst="rect">
            <a:avLst/>
          </a:prstGeom>
          <a:noFill/>
          <a:ln/>
        </p:spPr>
        <p:txBody>
          <a:bodyPr wrap="square" lIns="0" tIns="0" rIns="0" bIns="0" rtlCol="0" anchor="ctr"/>
          <a:lstStyle/>
          <a:p>
            <a:pPr indent="0" marL="0">
              <a:buNone/>
            </a:pPr>
            <a:r>
              <a:rPr lang="en-US" sz="1400" b="1" dirty="0">
                <a:solidFill>
                  <a:srgbClr val="FFB627"/>
                </a:solidFill>
                <a:latin typeface="Calibri" pitchFamily="34" charset="0"/>
                <a:ea typeface="Calibri" pitchFamily="34" charset="-122"/>
                <a:cs typeface="Calibri" pitchFamily="34" charset="-120"/>
              </a:rPr>
              <a:t>QUICK RECAP — WHERE WE LEFT OFF</a:t>
            </a:r>
            <a:endParaRPr lang="en-US" sz="1400" dirty="0"/>
          </a:p>
        </p:txBody>
      </p:sp>
      <p:sp>
        <p:nvSpPr>
          <p:cNvPr id="7" name="Text 5"/>
          <p:cNvSpPr txBox="1"/>
          <p:nvPr/>
        </p:nvSpPr>
        <p:spPr>
          <a:xfrm>
            <a:off x="868680" y="3520440"/>
            <a:ext cx="10424160" cy="548640"/>
          </a:xfrm>
          <a:prstGeom prst="rect">
            <a:avLst/>
          </a:prstGeom>
          <a:noFill/>
          <a:ln/>
        </p:spPr>
        <p:txBody>
          <a:bodyPr wrap="square" lIns="0" tIns="0" rIns="0" bIns="0" rtlCol="0" anchor="t"/>
          <a:lstStyle/>
          <a:p>
            <a:pPr algn="l" indent="0" marL="0">
              <a:lnSpc>
                <a:spcPct val="125000"/>
              </a:lnSpc>
              <a:buNone/>
            </a:pPr>
            <a:r>
              <a:rPr lang="en-US" sz="1400" dirty="0">
                <a:solidFill>
                  <a:srgbClr val="1B2A4A"/>
                </a:solidFill>
                <a:latin typeface="Calibri" pitchFamily="34" charset="0"/>
                <a:ea typeface="Calibri" pitchFamily="34" charset="-122"/>
                <a:cs typeface="Calibri" pitchFamily="34" charset="-120"/>
              </a:rPr>
              <a:t>Session 2 recap: LLMs predict from training-data patterns, can hallucinate confidently, and only see what's in the context window.</a:t>
            </a:r>
            <a:endParaRPr lang="en-US" sz="1400" dirty="0"/>
          </a:p>
        </p:txBody>
      </p:sp>
      <p:sp>
        <p:nvSpPr>
          <p:cNvPr id="8" name="Text 6"/>
          <p:cNvSpPr txBox="1"/>
          <p:nvPr/>
        </p:nvSpPr>
        <p:spPr>
          <a:xfrm>
            <a:off x="868680" y="4087368"/>
            <a:ext cx="10424160" cy="548640"/>
          </a:xfrm>
          <a:prstGeom prst="rect">
            <a:avLst/>
          </a:prstGeom>
          <a:noFill/>
          <a:ln/>
        </p:spPr>
        <p:txBody>
          <a:bodyPr wrap="square" lIns="0" tIns="0" rIns="0" bIns="0" rtlCol="0" anchor="t"/>
          <a:lstStyle/>
          <a:p>
            <a:pPr algn="l" indent="0" marL="0">
              <a:lnSpc>
                <a:spcPct val="125000"/>
              </a:lnSpc>
              <a:buNone/>
            </a:pPr>
            <a:r>
              <a:rPr lang="en-US" sz="1400" dirty="0">
                <a:solidFill>
                  <a:srgbClr val="1B2A4A"/>
                </a:solidFill>
                <a:latin typeface="Calibri" pitchFamily="34" charset="0"/>
                <a:ea typeface="Calibri" pitchFamily="34" charset="-122"/>
                <a:cs typeface="Calibri" pitchFamily="34" charset="-120"/>
              </a:rPr>
              <a:t>Now: where does GenAI genuinely help, where does it fall short, and what tools out there use all of this?</a:t>
            </a:r>
            <a:endParaRPr lang="en-US" sz="1400" dirty="0"/>
          </a:p>
        </p:txBody>
      </p:sp>
      <p:sp>
        <p:nvSpPr>
          <p:cNvPr id="9" name="Text 7"/>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GenAI &amp; LLMs · Day 4 recap</a:t>
            </a:r>
            <a:endParaRPr lang="en-US" sz="900" dirty="0"/>
          </a:p>
        </p:txBody>
      </p:sp>
      <p:sp>
        <p:nvSpPr>
          <p:cNvPr id="10" name="Text 8"/>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STRENGTHS &amp; WEAKNESSES</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What GenAI Is Genuinely Good At — And Bad At</a:t>
            </a:r>
            <a:endParaRPr lang="en-US" sz="3000" dirty="0"/>
          </a:p>
        </p:txBody>
      </p:sp>
      <p:sp>
        <p:nvSpPr>
          <p:cNvPr id="4" name="Shape 2"/>
          <p:cNvSpPr/>
          <p:nvPr/>
        </p:nvSpPr>
        <p:spPr>
          <a:xfrm>
            <a:off x="548640" y="1874520"/>
            <a:ext cx="5349240" cy="3566160"/>
          </a:xfrm>
          <a:prstGeom prst="roundRect">
            <a:avLst>
              <a:gd name="adj" fmla="val 1538"/>
            </a:avLst>
          </a:prstGeom>
          <a:solidFill>
            <a:srgbClr val="FFFFFF"/>
          </a:solidFill>
          <a:ln w="19050">
            <a:solidFill>
              <a:srgbClr val="1FAB65"/>
            </a:solidFill>
            <a:prstDash val="solid"/>
          </a:ln>
          <a:effectLst>
            <a:outerShdw sx="100000" sy="100000" kx="0" ky="0" algn="bl" rotWithShape="0" blurRad="50800" dist="19050" dir="5400000">
              <a:srgbClr val="1B2A4A">
                <a:alpha val="12000"/>
              </a:srgbClr>
            </a:outerShdw>
          </a:effectLst>
        </p:spPr>
      </p:sp>
      <p:sp>
        <p:nvSpPr>
          <p:cNvPr id="5" name="Shape 3"/>
          <p:cNvSpPr/>
          <p:nvPr/>
        </p:nvSpPr>
        <p:spPr>
          <a:xfrm>
            <a:off x="868680" y="2103120"/>
            <a:ext cx="2011680" cy="411480"/>
          </a:xfrm>
          <a:prstGeom prst="roundRect">
            <a:avLst>
              <a:gd name="adj" fmla="val 50000"/>
            </a:avLst>
          </a:prstGeom>
          <a:solidFill>
            <a:srgbClr val="1FAB65"/>
          </a:solidFill>
          <a:ln/>
        </p:spPr>
      </p:sp>
      <p:sp>
        <p:nvSpPr>
          <p:cNvPr id="6" name="Text 4"/>
          <p:cNvSpPr txBox="1"/>
          <p:nvPr/>
        </p:nvSpPr>
        <p:spPr>
          <a:xfrm>
            <a:off x="868680" y="2103120"/>
            <a:ext cx="20116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GOOD AT</a:t>
            </a:r>
            <a:endParaRPr lang="en-US" sz="1100" dirty="0"/>
          </a:p>
        </p:txBody>
      </p:sp>
      <p:sp>
        <p:nvSpPr>
          <p:cNvPr id="7" name="Shape 5"/>
          <p:cNvSpPr/>
          <p:nvPr/>
        </p:nvSpPr>
        <p:spPr>
          <a:xfrm>
            <a:off x="868680" y="2788920"/>
            <a:ext cx="365760" cy="365760"/>
          </a:xfrm>
          <a:prstGeom prst="ellipse">
            <a:avLst/>
          </a:prstGeom>
          <a:solidFill>
            <a:srgbClr val="1FAB65"/>
          </a:solidFill>
          <a:ln/>
        </p:spPr>
      </p:sp>
      <p:sp>
        <p:nvSpPr>
          <p:cNvPr id="8" name="Text 6"/>
          <p:cNvSpPr txBox="1"/>
          <p:nvPr/>
        </p:nvSpPr>
        <p:spPr>
          <a:xfrm>
            <a:off x="868680" y="2788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9" name="Text 7"/>
          <p:cNvSpPr txBox="1"/>
          <p:nvPr/>
        </p:nvSpPr>
        <p:spPr>
          <a:xfrm>
            <a:off x="1371600" y="2770632"/>
            <a:ext cx="4206240" cy="457200"/>
          </a:xfrm>
          <a:prstGeom prst="rect">
            <a:avLst/>
          </a:prstGeom>
          <a:noFill/>
          <a:ln/>
        </p:spPr>
        <p:txBody>
          <a:bodyPr wrap="square" lIns="0" tIns="0" rIns="0" bIns="0" rtlCol="0" anchor="ctr"/>
          <a:lstStyle/>
          <a:p>
            <a:pPr algn="l" indent="0" marL="0">
              <a:lnSpc>
                <a:spcPct val="125000"/>
              </a:lnSpc>
              <a:buNone/>
            </a:pPr>
            <a:r>
              <a:rPr lang="en-US" sz="1400" dirty="0">
                <a:solidFill>
                  <a:srgbClr val="1B2A4A"/>
                </a:solidFill>
                <a:latin typeface="Calibri" pitchFamily="34" charset="0"/>
                <a:ea typeface="Calibri" pitchFamily="34" charset="-122"/>
                <a:cs typeface="Calibri" pitchFamily="34" charset="-120"/>
              </a:rPr>
              <a:t>Fluent writing &amp; rewriting</a:t>
            </a:r>
            <a:endParaRPr lang="en-US" sz="1400" dirty="0"/>
          </a:p>
        </p:txBody>
      </p:sp>
      <p:sp>
        <p:nvSpPr>
          <p:cNvPr id="10" name="Shape 8"/>
          <p:cNvSpPr/>
          <p:nvPr/>
        </p:nvSpPr>
        <p:spPr>
          <a:xfrm>
            <a:off x="868680" y="3383280"/>
            <a:ext cx="365760" cy="365760"/>
          </a:xfrm>
          <a:prstGeom prst="ellipse">
            <a:avLst/>
          </a:prstGeom>
          <a:solidFill>
            <a:srgbClr val="1FAB65"/>
          </a:solidFill>
          <a:ln/>
        </p:spPr>
      </p:sp>
      <p:sp>
        <p:nvSpPr>
          <p:cNvPr id="11" name="Text 9"/>
          <p:cNvSpPr txBox="1"/>
          <p:nvPr/>
        </p:nvSpPr>
        <p:spPr>
          <a:xfrm>
            <a:off x="868680" y="33832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2" name="Text 10"/>
          <p:cNvSpPr txBox="1"/>
          <p:nvPr/>
        </p:nvSpPr>
        <p:spPr>
          <a:xfrm>
            <a:off x="1371600" y="3364992"/>
            <a:ext cx="4206240" cy="457200"/>
          </a:xfrm>
          <a:prstGeom prst="rect">
            <a:avLst/>
          </a:prstGeom>
          <a:noFill/>
          <a:ln/>
        </p:spPr>
        <p:txBody>
          <a:bodyPr wrap="square" lIns="0" tIns="0" rIns="0" bIns="0" rtlCol="0" anchor="ctr"/>
          <a:lstStyle/>
          <a:p>
            <a:pPr algn="l" indent="0" marL="0">
              <a:lnSpc>
                <a:spcPct val="125000"/>
              </a:lnSpc>
              <a:buNone/>
            </a:pPr>
            <a:r>
              <a:rPr lang="en-US" sz="1400" dirty="0">
                <a:solidFill>
                  <a:srgbClr val="1B2A4A"/>
                </a:solidFill>
                <a:latin typeface="Calibri" pitchFamily="34" charset="0"/>
                <a:ea typeface="Calibri" pitchFamily="34" charset="-122"/>
                <a:cs typeface="Calibri" pitchFamily="34" charset="-120"/>
              </a:rPr>
              <a:t>Summarizing text you give it</a:t>
            </a:r>
            <a:endParaRPr lang="en-US" sz="1400" dirty="0"/>
          </a:p>
        </p:txBody>
      </p:sp>
      <p:sp>
        <p:nvSpPr>
          <p:cNvPr id="13" name="Shape 11"/>
          <p:cNvSpPr/>
          <p:nvPr/>
        </p:nvSpPr>
        <p:spPr>
          <a:xfrm>
            <a:off x="868680" y="3977640"/>
            <a:ext cx="365760" cy="365760"/>
          </a:xfrm>
          <a:prstGeom prst="ellipse">
            <a:avLst/>
          </a:prstGeom>
          <a:solidFill>
            <a:srgbClr val="1FAB65"/>
          </a:solidFill>
          <a:ln/>
        </p:spPr>
      </p:sp>
      <p:sp>
        <p:nvSpPr>
          <p:cNvPr id="14" name="Text 12"/>
          <p:cNvSpPr txBox="1"/>
          <p:nvPr/>
        </p:nvSpPr>
        <p:spPr>
          <a:xfrm>
            <a:off x="868680" y="3977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5" name="Text 13"/>
          <p:cNvSpPr txBox="1"/>
          <p:nvPr/>
        </p:nvSpPr>
        <p:spPr>
          <a:xfrm>
            <a:off x="1371600" y="3959352"/>
            <a:ext cx="4206240" cy="457200"/>
          </a:xfrm>
          <a:prstGeom prst="rect">
            <a:avLst/>
          </a:prstGeom>
          <a:noFill/>
          <a:ln/>
        </p:spPr>
        <p:txBody>
          <a:bodyPr wrap="square" lIns="0" tIns="0" rIns="0" bIns="0" rtlCol="0" anchor="ctr"/>
          <a:lstStyle/>
          <a:p>
            <a:pPr algn="l" indent="0" marL="0">
              <a:lnSpc>
                <a:spcPct val="125000"/>
              </a:lnSpc>
              <a:buNone/>
            </a:pPr>
            <a:r>
              <a:rPr lang="en-US" sz="1400" dirty="0">
                <a:solidFill>
                  <a:srgbClr val="1B2A4A"/>
                </a:solidFill>
                <a:latin typeface="Calibri" pitchFamily="34" charset="0"/>
                <a:ea typeface="Calibri" pitchFamily="34" charset="-122"/>
                <a:cs typeface="Calibri" pitchFamily="34" charset="-120"/>
              </a:rPr>
              <a:t>Brainstorming options</a:t>
            </a:r>
            <a:endParaRPr lang="en-US" sz="1400" dirty="0"/>
          </a:p>
        </p:txBody>
      </p:sp>
      <p:sp>
        <p:nvSpPr>
          <p:cNvPr id="16" name="Shape 14"/>
          <p:cNvSpPr/>
          <p:nvPr/>
        </p:nvSpPr>
        <p:spPr>
          <a:xfrm>
            <a:off x="868680" y="4572000"/>
            <a:ext cx="365760" cy="365760"/>
          </a:xfrm>
          <a:prstGeom prst="ellipse">
            <a:avLst/>
          </a:prstGeom>
          <a:solidFill>
            <a:srgbClr val="1FAB65"/>
          </a:solidFill>
          <a:ln/>
        </p:spPr>
      </p:sp>
      <p:sp>
        <p:nvSpPr>
          <p:cNvPr id="17" name="Text 15"/>
          <p:cNvSpPr txBox="1"/>
          <p:nvPr/>
        </p:nvSpPr>
        <p:spPr>
          <a:xfrm>
            <a:off x="868680" y="45720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8" name="Text 16"/>
          <p:cNvSpPr txBox="1"/>
          <p:nvPr/>
        </p:nvSpPr>
        <p:spPr>
          <a:xfrm>
            <a:off x="1371600" y="4553712"/>
            <a:ext cx="4206240" cy="457200"/>
          </a:xfrm>
          <a:prstGeom prst="rect">
            <a:avLst/>
          </a:prstGeom>
          <a:noFill/>
          <a:ln/>
        </p:spPr>
        <p:txBody>
          <a:bodyPr wrap="square" lIns="0" tIns="0" rIns="0" bIns="0" rtlCol="0" anchor="ctr"/>
          <a:lstStyle/>
          <a:p>
            <a:pPr algn="l" indent="0" marL="0">
              <a:lnSpc>
                <a:spcPct val="125000"/>
              </a:lnSpc>
              <a:buNone/>
            </a:pPr>
            <a:r>
              <a:rPr lang="en-US" sz="1400" dirty="0">
                <a:solidFill>
                  <a:srgbClr val="1B2A4A"/>
                </a:solidFill>
                <a:latin typeface="Calibri" pitchFamily="34" charset="0"/>
                <a:ea typeface="Calibri" pitchFamily="34" charset="-122"/>
                <a:cs typeface="Calibri" pitchFamily="34" charset="-120"/>
              </a:rPr>
              <a:t>Drafting a first version fast</a:t>
            </a:r>
            <a:endParaRPr lang="en-US" sz="1400" dirty="0"/>
          </a:p>
        </p:txBody>
      </p:sp>
      <p:sp>
        <p:nvSpPr>
          <p:cNvPr id="19" name="Shape 17"/>
          <p:cNvSpPr/>
          <p:nvPr/>
        </p:nvSpPr>
        <p:spPr>
          <a:xfrm>
            <a:off x="6126480" y="1874520"/>
            <a:ext cx="5349240" cy="3566160"/>
          </a:xfrm>
          <a:prstGeom prst="roundRect">
            <a:avLst>
              <a:gd name="adj" fmla="val 1538"/>
            </a:avLst>
          </a:prstGeom>
          <a:solidFill>
            <a:srgbClr val="FFFFFF"/>
          </a:solidFill>
          <a:ln w="19050">
            <a:solidFill>
              <a:srgbClr val="D64545"/>
            </a:solidFill>
            <a:prstDash val="solid"/>
          </a:ln>
          <a:effectLst>
            <a:outerShdw sx="100000" sy="100000" kx="0" ky="0" algn="bl" rotWithShape="0" blurRad="50800" dist="19050" dir="5400000">
              <a:srgbClr val="1B2A4A">
                <a:alpha val="12000"/>
              </a:srgbClr>
            </a:outerShdw>
          </a:effectLst>
        </p:spPr>
      </p:sp>
      <p:sp>
        <p:nvSpPr>
          <p:cNvPr id="20" name="Shape 18"/>
          <p:cNvSpPr/>
          <p:nvPr/>
        </p:nvSpPr>
        <p:spPr>
          <a:xfrm>
            <a:off x="6446520" y="2103120"/>
            <a:ext cx="2011680" cy="411480"/>
          </a:xfrm>
          <a:prstGeom prst="roundRect">
            <a:avLst>
              <a:gd name="adj" fmla="val 50000"/>
            </a:avLst>
          </a:prstGeom>
          <a:solidFill>
            <a:srgbClr val="D64545"/>
          </a:solidFill>
          <a:ln/>
        </p:spPr>
      </p:sp>
      <p:sp>
        <p:nvSpPr>
          <p:cNvPr id="21" name="Text 19"/>
          <p:cNvSpPr txBox="1"/>
          <p:nvPr/>
        </p:nvSpPr>
        <p:spPr>
          <a:xfrm>
            <a:off x="6446520" y="2103120"/>
            <a:ext cx="20116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BAD AT</a:t>
            </a:r>
            <a:endParaRPr lang="en-US" sz="1100" dirty="0"/>
          </a:p>
        </p:txBody>
      </p:sp>
      <p:sp>
        <p:nvSpPr>
          <p:cNvPr id="22" name="Shape 20"/>
          <p:cNvSpPr/>
          <p:nvPr/>
        </p:nvSpPr>
        <p:spPr>
          <a:xfrm>
            <a:off x="6446520" y="2788920"/>
            <a:ext cx="365760" cy="365760"/>
          </a:xfrm>
          <a:prstGeom prst="ellipse">
            <a:avLst/>
          </a:prstGeom>
          <a:solidFill>
            <a:srgbClr val="D64545"/>
          </a:solidFill>
          <a:ln/>
        </p:spPr>
      </p:sp>
      <p:sp>
        <p:nvSpPr>
          <p:cNvPr id="23" name="Text 21"/>
          <p:cNvSpPr txBox="1"/>
          <p:nvPr/>
        </p:nvSpPr>
        <p:spPr>
          <a:xfrm>
            <a:off x="6446520" y="2788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24" name="Text 22"/>
          <p:cNvSpPr txBox="1"/>
          <p:nvPr/>
        </p:nvSpPr>
        <p:spPr>
          <a:xfrm>
            <a:off x="6949440" y="2770632"/>
            <a:ext cx="4297680" cy="457200"/>
          </a:xfrm>
          <a:prstGeom prst="rect">
            <a:avLst/>
          </a:prstGeom>
          <a:noFill/>
          <a:ln/>
        </p:spPr>
        <p:txBody>
          <a:bodyPr wrap="square" lIns="0" tIns="0" rIns="0" bIns="0" rtlCol="0" anchor="ctr"/>
          <a:lstStyle/>
          <a:p>
            <a:pPr algn="l" indent="0" marL="0">
              <a:lnSpc>
                <a:spcPct val="125000"/>
              </a:lnSpc>
              <a:buNone/>
            </a:pPr>
            <a:r>
              <a:rPr lang="en-US" sz="1400" dirty="0">
                <a:solidFill>
                  <a:srgbClr val="1B2A4A"/>
                </a:solidFill>
                <a:latin typeface="Calibri" pitchFamily="34" charset="0"/>
                <a:ea typeface="Calibri" pitchFamily="34" charset="-122"/>
                <a:cs typeface="Calibri" pitchFamily="34" charset="-120"/>
              </a:rPr>
              <a:t>Guaranteed factual accuracy</a:t>
            </a:r>
            <a:endParaRPr lang="en-US" sz="1400" dirty="0"/>
          </a:p>
        </p:txBody>
      </p:sp>
      <p:sp>
        <p:nvSpPr>
          <p:cNvPr id="25" name="Shape 23"/>
          <p:cNvSpPr/>
          <p:nvPr/>
        </p:nvSpPr>
        <p:spPr>
          <a:xfrm>
            <a:off x="6446520" y="3383280"/>
            <a:ext cx="365760" cy="365760"/>
          </a:xfrm>
          <a:prstGeom prst="ellipse">
            <a:avLst/>
          </a:prstGeom>
          <a:solidFill>
            <a:srgbClr val="D64545"/>
          </a:solidFill>
          <a:ln/>
        </p:spPr>
      </p:sp>
      <p:sp>
        <p:nvSpPr>
          <p:cNvPr id="26" name="Text 24"/>
          <p:cNvSpPr txBox="1"/>
          <p:nvPr/>
        </p:nvSpPr>
        <p:spPr>
          <a:xfrm>
            <a:off x="6446520" y="33832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27" name="Text 25"/>
          <p:cNvSpPr txBox="1"/>
          <p:nvPr/>
        </p:nvSpPr>
        <p:spPr>
          <a:xfrm>
            <a:off x="6949440" y="3364992"/>
            <a:ext cx="4297680" cy="457200"/>
          </a:xfrm>
          <a:prstGeom prst="rect">
            <a:avLst/>
          </a:prstGeom>
          <a:noFill/>
          <a:ln/>
        </p:spPr>
        <p:txBody>
          <a:bodyPr wrap="square" lIns="0" tIns="0" rIns="0" bIns="0" rtlCol="0" anchor="ctr"/>
          <a:lstStyle/>
          <a:p>
            <a:pPr algn="l" indent="0" marL="0">
              <a:lnSpc>
                <a:spcPct val="125000"/>
              </a:lnSpc>
              <a:buNone/>
            </a:pPr>
            <a:r>
              <a:rPr lang="en-US" sz="1400" dirty="0">
                <a:solidFill>
                  <a:srgbClr val="1B2A4A"/>
                </a:solidFill>
                <a:latin typeface="Calibri" pitchFamily="34" charset="0"/>
                <a:ea typeface="Calibri" pitchFamily="34" charset="-122"/>
                <a:cs typeface="Calibri" pitchFamily="34" charset="-120"/>
              </a:rPr>
              <a:t>Real math/logic without help</a:t>
            </a:r>
            <a:endParaRPr lang="en-US" sz="1400" dirty="0"/>
          </a:p>
        </p:txBody>
      </p:sp>
      <p:sp>
        <p:nvSpPr>
          <p:cNvPr id="28" name="Shape 26"/>
          <p:cNvSpPr/>
          <p:nvPr/>
        </p:nvSpPr>
        <p:spPr>
          <a:xfrm>
            <a:off x="6446520" y="3977640"/>
            <a:ext cx="365760" cy="365760"/>
          </a:xfrm>
          <a:prstGeom prst="ellipse">
            <a:avLst/>
          </a:prstGeom>
          <a:solidFill>
            <a:srgbClr val="D64545"/>
          </a:solidFill>
          <a:ln/>
        </p:spPr>
      </p:sp>
      <p:sp>
        <p:nvSpPr>
          <p:cNvPr id="29" name="Text 27"/>
          <p:cNvSpPr txBox="1"/>
          <p:nvPr/>
        </p:nvSpPr>
        <p:spPr>
          <a:xfrm>
            <a:off x="6446520" y="3977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30" name="Text 28"/>
          <p:cNvSpPr txBox="1"/>
          <p:nvPr/>
        </p:nvSpPr>
        <p:spPr>
          <a:xfrm>
            <a:off x="6949440" y="3959352"/>
            <a:ext cx="4297680" cy="457200"/>
          </a:xfrm>
          <a:prstGeom prst="rect">
            <a:avLst/>
          </a:prstGeom>
          <a:noFill/>
          <a:ln/>
        </p:spPr>
        <p:txBody>
          <a:bodyPr wrap="square" lIns="0" tIns="0" rIns="0" bIns="0" rtlCol="0" anchor="ctr"/>
          <a:lstStyle/>
          <a:p>
            <a:pPr algn="l" indent="0" marL="0">
              <a:lnSpc>
                <a:spcPct val="125000"/>
              </a:lnSpc>
              <a:buNone/>
            </a:pPr>
            <a:r>
              <a:rPr lang="en-US" sz="1400" dirty="0">
                <a:solidFill>
                  <a:srgbClr val="1B2A4A"/>
                </a:solidFill>
                <a:latin typeface="Calibri" pitchFamily="34" charset="0"/>
                <a:ea typeface="Calibri" pitchFamily="34" charset="-122"/>
                <a:cs typeface="Calibri" pitchFamily="34" charset="-120"/>
              </a:rPr>
              <a:t>Anything after its training cutoff</a:t>
            </a:r>
            <a:endParaRPr lang="en-US" sz="1400" dirty="0"/>
          </a:p>
        </p:txBody>
      </p:sp>
      <p:sp>
        <p:nvSpPr>
          <p:cNvPr id="31" name="Shape 29"/>
          <p:cNvSpPr/>
          <p:nvPr/>
        </p:nvSpPr>
        <p:spPr>
          <a:xfrm>
            <a:off x="6446520" y="4572000"/>
            <a:ext cx="365760" cy="365760"/>
          </a:xfrm>
          <a:prstGeom prst="ellipse">
            <a:avLst/>
          </a:prstGeom>
          <a:solidFill>
            <a:srgbClr val="D64545"/>
          </a:solidFill>
          <a:ln/>
        </p:spPr>
      </p:sp>
      <p:sp>
        <p:nvSpPr>
          <p:cNvPr id="32" name="Text 30"/>
          <p:cNvSpPr txBox="1"/>
          <p:nvPr/>
        </p:nvSpPr>
        <p:spPr>
          <a:xfrm>
            <a:off x="6446520" y="45720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33" name="Text 31"/>
          <p:cNvSpPr txBox="1"/>
          <p:nvPr/>
        </p:nvSpPr>
        <p:spPr>
          <a:xfrm>
            <a:off x="6949440" y="4553712"/>
            <a:ext cx="4297680" cy="457200"/>
          </a:xfrm>
          <a:prstGeom prst="rect">
            <a:avLst/>
          </a:prstGeom>
          <a:noFill/>
          <a:ln/>
        </p:spPr>
        <p:txBody>
          <a:bodyPr wrap="square" lIns="0" tIns="0" rIns="0" bIns="0" rtlCol="0" anchor="ctr"/>
          <a:lstStyle/>
          <a:p>
            <a:pPr algn="l" indent="0" marL="0">
              <a:lnSpc>
                <a:spcPct val="125000"/>
              </a:lnSpc>
              <a:buNone/>
            </a:pPr>
            <a:r>
              <a:rPr lang="en-US" sz="1400" dirty="0">
                <a:solidFill>
                  <a:srgbClr val="1B2A4A"/>
                </a:solidFill>
                <a:latin typeface="Calibri" pitchFamily="34" charset="0"/>
                <a:ea typeface="Calibri" pitchFamily="34" charset="-122"/>
                <a:cs typeface="Calibri" pitchFamily="34" charset="-120"/>
              </a:rPr>
              <a:t>Knowing what it doesn't know</a:t>
            </a:r>
            <a:endParaRPr lang="en-US" sz="1400" dirty="0"/>
          </a:p>
        </p:txBody>
      </p:sp>
      <p:sp>
        <p:nvSpPr>
          <p:cNvPr id="34" name="Text 32"/>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3</a:t>
            </a:r>
            <a:endParaRPr lang="en-US" sz="900" dirty="0"/>
          </a:p>
        </p:txBody>
      </p:sp>
      <p:sp>
        <p:nvSpPr>
          <p:cNvPr id="35" name="Text 33"/>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A DIFFERENT KIND OF LIMIT</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A Book That Stopped Being Written</a:t>
            </a:r>
            <a:endParaRPr lang="en-US" sz="3000" dirty="0"/>
          </a:p>
        </p:txBody>
      </p:sp>
      <p:sp>
        <p:nvSpPr>
          <p:cNvPr id="4" name="Text 2"/>
          <p:cNvSpPr txBox="1"/>
          <p:nvPr/>
        </p:nvSpPr>
        <p:spPr>
          <a:xfrm>
            <a:off x="548640" y="1783080"/>
            <a:ext cx="11091672" cy="320040"/>
          </a:xfrm>
          <a:prstGeom prst="rect">
            <a:avLst/>
          </a:prstGeom>
          <a:noFill/>
          <a:ln/>
        </p:spPr>
        <p:txBody>
          <a:bodyPr wrap="square" lIns="0" tIns="0" rIns="0" bIns="0" rtlCol="0" anchor="t"/>
          <a:lstStyle/>
          <a:p>
            <a:pPr algn="l" indent="0" marL="0">
              <a:lnSpc>
                <a:spcPct val="125000"/>
              </a:lnSpc>
              <a:buNone/>
            </a:pPr>
            <a:r>
              <a:rPr lang="en-US" sz="1350" i="1" dirty="0">
                <a:solidFill>
                  <a:srgbClr val="5B6B87"/>
                </a:solidFill>
                <a:latin typeface="Calibri" pitchFamily="34" charset="0"/>
                <a:ea typeface="Calibri" pitchFamily="34" charset="-122"/>
                <a:cs typeface="Calibri" pitchFamily="34" charset="-120"/>
              </a:rPr>
              <a:t>Not about this chat this time — about what the model ever read in the first place.</a:t>
            </a:r>
            <a:endParaRPr lang="en-US" sz="1350" dirty="0"/>
          </a:p>
        </p:txBody>
      </p:sp>
      <p:sp>
        <p:nvSpPr>
          <p:cNvPr id="5" name="Shape 3"/>
          <p:cNvSpPr/>
          <p:nvPr/>
        </p:nvSpPr>
        <p:spPr>
          <a:xfrm>
            <a:off x="822960" y="2697480"/>
            <a:ext cx="6199632" cy="502920"/>
          </a:xfrm>
          <a:prstGeom prst="roundRect">
            <a:avLst>
              <a:gd name="adj" fmla="val 7273"/>
            </a:avLst>
          </a:prstGeom>
          <a:solidFill>
            <a:srgbClr val="1FAB65"/>
          </a:solidFill>
          <a:ln/>
        </p:spPr>
      </p:sp>
      <p:sp>
        <p:nvSpPr>
          <p:cNvPr id="6" name="Text 4"/>
          <p:cNvSpPr txBox="1"/>
          <p:nvPr/>
        </p:nvSpPr>
        <p:spPr>
          <a:xfrm>
            <a:off x="960120" y="265176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7" name="Text 5"/>
          <p:cNvSpPr txBox="1"/>
          <p:nvPr/>
        </p:nvSpPr>
        <p:spPr>
          <a:xfrm>
            <a:off x="822960" y="3246120"/>
            <a:ext cx="6199632" cy="365760"/>
          </a:xfrm>
          <a:prstGeom prst="rect">
            <a:avLst/>
          </a:prstGeom>
          <a:noFill/>
          <a:ln/>
        </p:spPr>
        <p:txBody>
          <a:bodyPr wrap="square" lIns="0" tIns="0" rIns="0" bIns="0" rtlCol="0" anchor="t"/>
          <a:lstStyle/>
          <a:p>
            <a:pPr algn="ctr" indent="0" marL="0">
              <a:lnSpc>
                <a:spcPct val="125000"/>
              </a:lnSpc>
              <a:buNone/>
            </a:pPr>
            <a:r>
              <a:rPr lang="en-US" sz="1250" b="1" dirty="0">
                <a:solidFill>
                  <a:srgbClr val="1FAB65"/>
                </a:solidFill>
                <a:latin typeface="Calibri" pitchFamily="34" charset="0"/>
                <a:ea typeface="Calibri" pitchFamily="34" charset="-122"/>
                <a:cs typeface="Calibri" pitchFamily="34" charset="-120"/>
              </a:rPr>
              <a:t>Everything the book was written with</a:t>
            </a:r>
            <a:endParaRPr lang="en-US" sz="1250" dirty="0"/>
          </a:p>
        </p:txBody>
      </p:sp>
      <p:sp>
        <p:nvSpPr>
          <p:cNvPr id="8" name="Shape 6"/>
          <p:cNvSpPr/>
          <p:nvPr/>
        </p:nvSpPr>
        <p:spPr>
          <a:xfrm>
            <a:off x="7022592" y="2697480"/>
            <a:ext cx="4133088" cy="502920"/>
          </a:xfrm>
          <a:prstGeom prst="roundRect">
            <a:avLst>
              <a:gd name="adj" fmla="val 7273"/>
            </a:avLst>
          </a:prstGeom>
          <a:solidFill>
            <a:srgbClr val="F6DCDC"/>
          </a:solidFill>
          <a:ln w="19050">
            <a:solidFill>
              <a:srgbClr val="D64545"/>
            </a:solidFill>
            <a:prstDash val="solid"/>
          </a:ln>
        </p:spPr>
      </p:sp>
      <p:sp>
        <p:nvSpPr>
          <p:cNvPr id="9" name="Text 7"/>
          <p:cNvSpPr txBox="1"/>
          <p:nvPr/>
        </p:nvSpPr>
        <p:spPr>
          <a:xfrm>
            <a:off x="7022592" y="3246120"/>
            <a:ext cx="4133088" cy="365760"/>
          </a:xfrm>
          <a:prstGeom prst="rect">
            <a:avLst/>
          </a:prstGeom>
          <a:noFill/>
          <a:ln/>
        </p:spPr>
        <p:txBody>
          <a:bodyPr wrap="square" lIns="0" tIns="0" rIns="0" bIns="0" rtlCol="0" anchor="t"/>
          <a:lstStyle/>
          <a:p>
            <a:pPr algn="ctr" indent="0" marL="0">
              <a:lnSpc>
                <a:spcPct val="125000"/>
              </a:lnSpc>
              <a:buNone/>
            </a:pPr>
            <a:r>
              <a:rPr lang="en-US" sz="1250" b="1" dirty="0">
                <a:solidFill>
                  <a:srgbClr val="D64545"/>
                </a:solidFill>
                <a:latin typeface="Calibri" pitchFamily="34" charset="0"/>
                <a:ea typeface="Calibri" pitchFamily="34" charset="-122"/>
                <a:cs typeface="Calibri" pitchFamily="34" charset="-120"/>
              </a:rPr>
              <a:t>Never got written — the model never read this</a:t>
            </a:r>
            <a:endParaRPr lang="en-US" sz="1250" dirty="0"/>
          </a:p>
        </p:txBody>
      </p:sp>
      <p:sp>
        <p:nvSpPr>
          <p:cNvPr id="10" name="Shape 8"/>
          <p:cNvSpPr/>
          <p:nvPr/>
        </p:nvSpPr>
        <p:spPr>
          <a:xfrm>
            <a:off x="7022592" y="2468880"/>
            <a:ext cx="0" cy="960120"/>
          </a:xfrm>
          <a:prstGeom prst="line">
            <a:avLst/>
          </a:prstGeom>
          <a:noFill/>
          <a:ln w="25400">
            <a:solidFill>
              <a:srgbClr val="1B2A4A"/>
            </a:solidFill>
            <a:prstDash val="dash"/>
          </a:ln>
        </p:spPr>
      </p:sp>
      <p:sp>
        <p:nvSpPr>
          <p:cNvPr id="11" name="Text 9"/>
          <p:cNvSpPr txBox="1"/>
          <p:nvPr/>
        </p:nvSpPr>
        <p:spPr>
          <a:xfrm>
            <a:off x="6108192" y="2194560"/>
            <a:ext cx="1828800" cy="274320"/>
          </a:xfrm>
          <a:prstGeom prst="rect">
            <a:avLst/>
          </a:prstGeom>
          <a:noFill/>
          <a:ln/>
        </p:spPr>
        <p:txBody>
          <a:bodyPr wrap="square" lIns="0" tIns="0" rIns="0" bIns="0" rtlCol="0" anchor="t"/>
          <a:lstStyle/>
          <a:p>
            <a:pPr algn="ctr" indent="0" marL="0">
              <a:lnSpc>
                <a:spcPct val="125000"/>
              </a:lnSpc>
              <a:buNone/>
            </a:pPr>
            <a:r>
              <a:rPr lang="en-US" sz="1050" b="1" dirty="0">
                <a:solidFill>
                  <a:srgbClr val="1B2A4A"/>
                </a:solidFill>
                <a:latin typeface="Calibri" pitchFamily="34" charset="0"/>
                <a:ea typeface="Calibri" pitchFamily="34" charset="-122"/>
                <a:cs typeface="Calibri" pitchFamily="34" charset="-120"/>
              </a:rPr>
              <a:t>LAST PAGE WRITTEN</a:t>
            </a:r>
            <a:endParaRPr lang="en-US" sz="1050" dirty="0"/>
          </a:p>
        </p:txBody>
      </p:sp>
      <p:sp>
        <p:nvSpPr>
          <p:cNvPr id="12" name="Shape 10"/>
          <p:cNvSpPr/>
          <p:nvPr/>
        </p:nvSpPr>
        <p:spPr>
          <a:xfrm>
            <a:off x="8379562" y="3749040"/>
            <a:ext cx="1005840" cy="457200"/>
          </a:xfrm>
          <a:prstGeom prst="roundRect">
            <a:avLst>
              <a:gd name="adj" fmla="val 50000"/>
            </a:avLst>
          </a:prstGeom>
          <a:solidFill>
            <a:srgbClr val="D64545"/>
          </a:solidFill>
          <a:ln/>
        </p:spPr>
      </p:sp>
      <p:sp>
        <p:nvSpPr>
          <p:cNvPr id="13" name="Text 11"/>
          <p:cNvSpPr txBox="1"/>
          <p:nvPr/>
        </p:nvSpPr>
        <p:spPr>
          <a:xfrm>
            <a:off x="8379562" y="3749040"/>
            <a:ext cx="1005840" cy="457200"/>
          </a:xfrm>
          <a:prstGeom prst="rect">
            <a:avLst/>
          </a:prstGeom>
          <a:noFill/>
          <a:ln/>
        </p:spPr>
        <p:txBody>
          <a:bodyPr wrap="square" lIns="0" tIns="0" rIns="0" bIns="0" rtlCol="0" anchor="ctr"/>
          <a:lstStyle/>
          <a:p>
            <a:pPr algn="ctr" indent="0" marL="0">
              <a:lnSpc>
                <a:spcPct val="125000"/>
              </a:lnSpc>
              <a:buNone/>
            </a:pPr>
            <a:r>
              <a:rPr lang="en-US" sz="1100" b="1" dirty="0">
                <a:solidFill>
                  <a:srgbClr val="FFFFFF"/>
                </a:solidFill>
                <a:latin typeface="Calibri" pitchFamily="34" charset="0"/>
                <a:ea typeface="Calibri" pitchFamily="34" charset="-122"/>
                <a:cs typeface="Calibri" pitchFamily="34" charset="-120"/>
              </a:rPr>
              <a:t>Yesterday</a:t>
            </a:r>
            <a:endParaRPr lang="en-US" sz="1100" dirty="0"/>
          </a:p>
        </p:txBody>
      </p:sp>
      <p:sp>
        <p:nvSpPr>
          <p:cNvPr id="14" name="Shape 12"/>
          <p:cNvSpPr/>
          <p:nvPr/>
        </p:nvSpPr>
        <p:spPr>
          <a:xfrm>
            <a:off x="8882482" y="3200400"/>
            <a:ext cx="0" cy="548640"/>
          </a:xfrm>
          <a:prstGeom prst="line">
            <a:avLst/>
          </a:prstGeom>
          <a:noFill/>
          <a:ln w="19050">
            <a:solidFill>
              <a:srgbClr val="D64545"/>
            </a:solidFill>
            <a:prstDash val="solid"/>
          </a:ln>
        </p:spPr>
      </p:sp>
      <p:sp>
        <p:nvSpPr>
          <p:cNvPr id="15" name="Text 13"/>
          <p:cNvSpPr txBox="1"/>
          <p:nvPr/>
        </p:nvSpPr>
        <p:spPr>
          <a:xfrm>
            <a:off x="10149840" y="3749040"/>
            <a:ext cx="1005840" cy="457200"/>
          </a:xfrm>
          <a:prstGeom prst="rect">
            <a:avLst/>
          </a:prstGeom>
          <a:noFill/>
          <a:ln/>
        </p:spPr>
        <p:txBody>
          <a:bodyPr wrap="square" lIns="0" tIns="0" rIns="0" bIns="0" rtlCol="0" anchor="t"/>
          <a:lstStyle/>
          <a:p>
            <a:pPr algn="ctr" indent="0" marL="0">
              <a:lnSpc>
                <a:spcPct val="125000"/>
              </a:lnSpc>
              <a:buNone/>
            </a:pPr>
            <a:r>
              <a:rPr lang="en-US" sz="1100" b="1" dirty="0">
                <a:solidFill>
                  <a:srgbClr val="1B2A4A"/>
                </a:solidFill>
                <a:latin typeface="Calibri" pitchFamily="34" charset="0"/>
                <a:ea typeface="Calibri" pitchFamily="34" charset="-122"/>
                <a:cs typeface="Calibri" pitchFamily="34" charset="-120"/>
              </a:rPr>
              <a:t>▲ Today</a:t>
            </a:r>
            <a:endParaRPr lang="en-US" sz="1100" dirty="0"/>
          </a:p>
        </p:txBody>
      </p:sp>
      <p:sp>
        <p:nvSpPr>
          <p:cNvPr id="16" name="Shape 14"/>
          <p:cNvSpPr/>
          <p:nvPr/>
        </p:nvSpPr>
        <p:spPr>
          <a:xfrm>
            <a:off x="548640" y="4434840"/>
            <a:ext cx="11091672" cy="1828800"/>
          </a:xfrm>
          <a:prstGeom prst="roundRect">
            <a:avLst>
              <a:gd name="adj" fmla="val 2500"/>
            </a:avLst>
          </a:prstGeom>
          <a:solidFill>
            <a:srgbClr val="142850"/>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17" name="Text 15"/>
          <p:cNvSpPr txBox="1"/>
          <p:nvPr/>
        </p:nvSpPr>
        <p:spPr>
          <a:xfrm>
            <a:off x="822960" y="4434840"/>
            <a:ext cx="10543032" cy="1828800"/>
          </a:xfrm>
          <a:prstGeom prst="rect">
            <a:avLst/>
          </a:prstGeom>
          <a:noFill/>
          <a:ln/>
        </p:spPr>
        <p:txBody>
          <a:bodyPr wrap="square" lIns="0" tIns="0" rIns="0" bIns="0" rtlCol="0" anchor="ctr"/>
          <a:lstStyle/>
          <a:p>
            <a:pPr indent="0" marL="0">
              <a:lnSpc>
                <a:spcPct val="125000"/>
              </a:lnSpc>
              <a:buNone/>
            </a:pPr>
            <a:r>
              <a:rPr lang="en-US" sz="1350" i="1" dirty="0">
                <a:solidFill>
                  <a:srgbClr val="FFFFFF"/>
                </a:solidFill>
                <a:latin typeface="Calibri" pitchFamily="34" charset="0"/>
                <a:ea typeface="Calibri" pitchFamily="34" charset="-122"/>
                <a:cs typeface="Calibri" pitchFamily="34" charset="-120"/>
              </a:rPr>
              <a:t>Picture a book that stopped being written on a certain day. It can't say anything about what happened after that day — no matter how many times you flip through it. “Yesterday” always falls after the last page. And unlike the whiteboard, this never resets — once the book is done, it's done for good.</a:t>
            </a:r>
            <a:endParaRPr lang="en-US" sz="1350" dirty="0"/>
          </a:p>
        </p:txBody>
      </p:sp>
      <p:sp>
        <p:nvSpPr>
          <p:cNvPr id="18" name="Text 16"/>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3</a:t>
            </a:r>
            <a:endParaRPr lang="en-US" sz="900" dirty="0"/>
          </a:p>
        </p:txBody>
      </p:sp>
      <p:sp>
        <p:nvSpPr>
          <p:cNvPr id="19" name="Text 17"/>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LIVE ACTIVITY · 10 MINUTES</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Vote: Good Job For GenAI, Or Not?</a:t>
            </a:r>
            <a:endParaRPr lang="en-US" sz="3000" dirty="0"/>
          </a:p>
        </p:txBody>
      </p:sp>
      <p:sp>
        <p:nvSpPr>
          <p:cNvPr id="4" name="Shape 2"/>
          <p:cNvSpPr/>
          <p:nvPr/>
        </p:nvSpPr>
        <p:spPr>
          <a:xfrm>
            <a:off x="548640" y="1920240"/>
            <a:ext cx="3429000" cy="3017520"/>
          </a:xfrm>
          <a:prstGeom prst="roundRect">
            <a:avLst>
              <a:gd name="adj" fmla="val 1818"/>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5" name="Text 3"/>
          <p:cNvSpPr txBox="1"/>
          <p:nvPr/>
        </p:nvSpPr>
        <p:spPr>
          <a:xfrm>
            <a:off x="548640" y="2148840"/>
            <a:ext cx="3429000" cy="91440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6" name="Text 4"/>
          <p:cNvSpPr txBox="1"/>
          <p:nvPr/>
        </p:nvSpPr>
        <p:spPr>
          <a:xfrm>
            <a:off x="822960" y="3108960"/>
            <a:ext cx="2880360" cy="1188720"/>
          </a:xfrm>
          <a:prstGeom prst="rect">
            <a:avLst/>
          </a:prstGeom>
          <a:noFill/>
          <a:ln/>
        </p:spPr>
        <p:txBody>
          <a:bodyPr wrap="square" lIns="0" tIns="0" rIns="0" bIns="0" rtlCol="0" anchor="t"/>
          <a:lstStyle/>
          <a:p>
            <a:pPr algn="ctr" indent="0" marL="0">
              <a:lnSpc>
                <a:spcPct val="135000"/>
              </a:lnSpc>
              <a:buNone/>
            </a:pPr>
            <a:r>
              <a:rPr lang="en-US" sz="1400" dirty="0">
                <a:solidFill>
                  <a:srgbClr val="1B2A4A"/>
                </a:solidFill>
                <a:latin typeface="Calibri" pitchFamily="34" charset="0"/>
                <a:ea typeface="Calibri" pitchFamily="34" charset="-122"/>
                <a:cs typeface="Calibri" pitchFamily="34" charset="-120"/>
              </a:rPr>
              <a:t>Write a short creative story about a robot learning to cook.</a:t>
            </a:r>
            <a:endParaRPr lang="en-US" sz="1400" dirty="0"/>
          </a:p>
        </p:txBody>
      </p:sp>
      <p:sp>
        <p:nvSpPr>
          <p:cNvPr id="7" name="Shape 5"/>
          <p:cNvSpPr/>
          <p:nvPr/>
        </p:nvSpPr>
        <p:spPr>
          <a:xfrm>
            <a:off x="1440180" y="4434840"/>
            <a:ext cx="1645920" cy="411480"/>
          </a:xfrm>
          <a:prstGeom prst="roundRect">
            <a:avLst>
              <a:gd name="adj" fmla="val 50000"/>
            </a:avLst>
          </a:prstGeom>
          <a:solidFill>
            <a:srgbClr val="FFB627"/>
          </a:solidFill>
          <a:ln/>
        </p:spPr>
      </p:sp>
      <p:sp>
        <p:nvSpPr>
          <p:cNvPr id="8" name="Text 6"/>
          <p:cNvSpPr txBox="1"/>
          <p:nvPr/>
        </p:nvSpPr>
        <p:spPr>
          <a:xfrm>
            <a:off x="1440180" y="4434840"/>
            <a:ext cx="1645920" cy="41148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GOOD FIT?</a:t>
            </a:r>
            <a:endParaRPr lang="en-US" sz="1100" dirty="0"/>
          </a:p>
        </p:txBody>
      </p:sp>
      <p:sp>
        <p:nvSpPr>
          <p:cNvPr id="9" name="Shape 7"/>
          <p:cNvSpPr/>
          <p:nvPr/>
        </p:nvSpPr>
        <p:spPr>
          <a:xfrm>
            <a:off x="4297680" y="1920240"/>
            <a:ext cx="3429000" cy="3017520"/>
          </a:xfrm>
          <a:prstGeom prst="roundRect">
            <a:avLst>
              <a:gd name="adj" fmla="val 1818"/>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10" name="Text 8"/>
          <p:cNvSpPr txBox="1"/>
          <p:nvPr/>
        </p:nvSpPr>
        <p:spPr>
          <a:xfrm>
            <a:off x="4297680" y="2148840"/>
            <a:ext cx="3429000" cy="91440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11" name="Text 9"/>
          <p:cNvSpPr txBox="1"/>
          <p:nvPr/>
        </p:nvSpPr>
        <p:spPr>
          <a:xfrm>
            <a:off x="4572000" y="3108960"/>
            <a:ext cx="2880360" cy="1188720"/>
          </a:xfrm>
          <a:prstGeom prst="rect">
            <a:avLst/>
          </a:prstGeom>
          <a:noFill/>
          <a:ln/>
        </p:spPr>
        <p:txBody>
          <a:bodyPr wrap="square" lIns="0" tIns="0" rIns="0" bIns="0" rtlCol="0" anchor="t"/>
          <a:lstStyle/>
          <a:p>
            <a:pPr algn="ctr" indent="0" marL="0">
              <a:lnSpc>
                <a:spcPct val="135000"/>
              </a:lnSpc>
              <a:buNone/>
            </a:pPr>
            <a:r>
              <a:rPr lang="en-US" sz="1400" dirty="0">
                <a:solidFill>
                  <a:srgbClr val="1B2A4A"/>
                </a:solidFill>
                <a:latin typeface="Calibri" pitchFamily="34" charset="0"/>
                <a:ea typeface="Calibri" pitchFamily="34" charset="-122"/>
                <a:cs typeface="Calibri" pitchFamily="34" charset="-120"/>
              </a:rPr>
              <a:t>Tell me today's exact stock price for a company.</a:t>
            </a:r>
            <a:endParaRPr lang="en-US" sz="1400" dirty="0"/>
          </a:p>
        </p:txBody>
      </p:sp>
      <p:sp>
        <p:nvSpPr>
          <p:cNvPr id="12" name="Shape 10"/>
          <p:cNvSpPr/>
          <p:nvPr/>
        </p:nvSpPr>
        <p:spPr>
          <a:xfrm>
            <a:off x="5189220" y="4434840"/>
            <a:ext cx="1645920" cy="411480"/>
          </a:xfrm>
          <a:prstGeom prst="roundRect">
            <a:avLst>
              <a:gd name="adj" fmla="val 50000"/>
            </a:avLst>
          </a:prstGeom>
          <a:solidFill>
            <a:srgbClr val="FFB627"/>
          </a:solidFill>
          <a:ln/>
        </p:spPr>
      </p:sp>
      <p:sp>
        <p:nvSpPr>
          <p:cNvPr id="13" name="Text 11"/>
          <p:cNvSpPr txBox="1"/>
          <p:nvPr/>
        </p:nvSpPr>
        <p:spPr>
          <a:xfrm>
            <a:off x="5189220" y="4434840"/>
            <a:ext cx="1645920" cy="41148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GOOD FIT?</a:t>
            </a:r>
            <a:endParaRPr lang="en-US" sz="1100" dirty="0"/>
          </a:p>
        </p:txBody>
      </p:sp>
      <p:sp>
        <p:nvSpPr>
          <p:cNvPr id="14" name="Shape 12"/>
          <p:cNvSpPr/>
          <p:nvPr/>
        </p:nvSpPr>
        <p:spPr>
          <a:xfrm>
            <a:off x="8046720" y="1920240"/>
            <a:ext cx="3429000" cy="3017520"/>
          </a:xfrm>
          <a:prstGeom prst="roundRect">
            <a:avLst>
              <a:gd name="adj" fmla="val 1818"/>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15" name="Text 13"/>
          <p:cNvSpPr txBox="1"/>
          <p:nvPr/>
        </p:nvSpPr>
        <p:spPr>
          <a:xfrm>
            <a:off x="8046720" y="2148840"/>
            <a:ext cx="3429000" cy="91440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16" name="Text 14"/>
          <p:cNvSpPr txBox="1"/>
          <p:nvPr/>
        </p:nvSpPr>
        <p:spPr>
          <a:xfrm>
            <a:off x="8321040" y="3108960"/>
            <a:ext cx="2880360" cy="1188720"/>
          </a:xfrm>
          <a:prstGeom prst="rect">
            <a:avLst/>
          </a:prstGeom>
          <a:noFill/>
          <a:ln/>
        </p:spPr>
        <p:txBody>
          <a:bodyPr wrap="square" lIns="0" tIns="0" rIns="0" bIns="0" rtlCol="0" anchor="t"/>
          <a:lstStyle/>
          <a:p>
            <a:pPr algn="ctr" indent="0" marL="0">
              <a:lnSpc>
                <a:spcPct val="135000"/>
              </a:lnSpc>
              <a:buNone/>
            </a:pPr>
            <a:r>
              <a:rPr lang="en-US" sz="1400" dirty="0">
                <a:solidFill>
                  <a:srgbClr val="1B2A4A"/>
                </a:solidFill>
                <a:latin typeface="Calibri" pitchFamily="34" charset="0"/>
                <a:ea typeface="Calibri" pitchFamily="34" charset="-122"/>
                <a:cs typeface="Calibri" pitchFamily="34" charset="-120"/>
              </a:rPr>
              <a:t>Summarize this 2-page document I just pasted into the chat.</a:t>
            </a:r>
            <a:endParaRPr lang="en-US" sz="1400" dirty="0"/>
          </a:p>
        </p:txBody>
      </p:sp>
      <p:sp>
        <p:nvSpPr>
          <p:cNvPr id="17" name="Shape 15"/>
          <p:cNvSpPr/>
          <p:nvPr/>
        </p:nvSpPr>
        <p:spPr>
          <a:xfrm>
            <a:off x="8938260" y="4434840"/>
            <a:ext cx="1645920" cy="411480"/>
          </a:xfrm>
          <a:prstGeom prst="roundRect">
            <a:avLst>
              <a:gd name="adj" fmla="val 50000"/>
            </a:avLst>
          </a:prstGeom>
          <a:solidFill>
            <a:srgbClr val="FFB627"/>
          </a:solidFill>
          <a:ln/>
        </p:spPr>
      </p:sp>
      <p:sp>
        <p:nvSpPr>
          <p:cNvPr id="18" name="Text 16"/>
          <p:cNvSpPr txBox="1"/>
          <p:nvPr/>
        </p:nvSpPr>
        <p:spPr>
          <a:xfrm>
            <a:off x="8938260" y="4434840"/>
            <a:ext cx="1645920" cy="41148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GOOD FIT?</a:t>
            </a:r>
            <a:endParaRPr lang="en-US" sz="1100" dirty="0"/>
          </a:p>
        </p:txBody>
      </p:sp>
      <p:sp>
        <p:nvSpPr>
          <p:cNvPr id="19" name="Shape 17"/>
          <p:cNvSpPr/>
          <p:nvPr/>
        </p:nvSpPr>
        <p:spPr>
          <a:xfrm>
            <a:off x="548640" y="5257800"/>
            <a:ext cx="11091672" cy="1051560"/>
          </a:xfrm>
          <a:prstGeom prst="roundRect">
            <a:avLst>
              <a:gd name="adj" fmla="val 4348"/>
            </a:avLst>
          </a:prstGeom>
          <a:solidFill>
            <a:srgbClr val="142850"/>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20" name="Text 18"/>
          <p:cNvSpPr txBox="1"/>
          <p:nvPr/>
        </p:nvSpPr>
        <p:spPr>
          <a:xfrm>
            <a:off x="822960" y="5257800"/>
            <a:ext cx="10543032" cy="1051560"/>
          </a:xfrm>
          <a:prstGeom prst="rect">
            <a:avLst/>
          </a:prstGeom>
          <a:noFill/>
          <a:ln/>
        </p:spPr>
        <p:txBody>
          <a:bodyPr wrap="square" lIns="0" tIns="0" rIns="0" bIns="0" rtlCol="0" anchor="ctr"/>
          <a:lstStyle/>
          <a:p>
            <a:pPr indent="0" marL="0">
              <a:lnSpc>
                <a:spcPct val="125000"/>
              </a:lnSpc>
              <a:buNone/>
            </a:pPr>
            <a:r>
              <a:rPr lang="en-US" sz="1300" i="1" dirty="0">
                <a:solidFill>
                  <a:srgbClr val="FFFFFF"/>
                </a:solidFill>
                <a:latin typeface="Calibri" pitchFamily="34" charset="0"/>
                <a:ea typeface="Calibri" pitchFamily="34" charset="-122"/>
                <a:cs typeface="Calibri" pitchFamily="34" charset="-120"/>
              </a:rPr>
              <a:t>Call out each scenario — vote by show of hands: good fit for GenAI, or a place it'll likely struggle?</a:t>
            </a:r>
            <a:endParaRPr lang="en-US" sz="1300" dirty="0"/>
          </a:p>
        </p:txBody>
      </p:sp>
      <p:sp>
        <p:nvSpPr>
          <p:cNvPr id="21" name="Text 19"/>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3</a:t>
            </a:r>
            <a:endParaRPr lang="en-US" sz="900" dirty="0"/>
          </a:p>
        </p:txBody>
      </p:sp>
      <p:sp>
        <p:nvSpPr>
          <p:cNvPr id="22" name="Text 20"/>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PRACTICE CHECKPOINT</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Quick Check — Capabilities &amp; Limits</a:t>
            </a:r>
            <a:endParaRPr lang="en-US" sz="3000" dirty="0"/>
          </a:p>
        </p:txBody>
      </p:sp>
      <p:sp>
        <p:nvSpPr>
          <p:cNvPr id="4" name="Shape 2"/>
          <p:cNvSpPr/>
          <p:nvPr/>
        </p:nvSpPr>
        <p:spPr>
          <a:xfrm>
            <a:off x="548640" y="1920240"/>
            <a:ext cx="11091672" cy="1371600"/>
          </a:xfrm>
          <a:prstGeom prst="roundRect">
            <a:avLst>
              <a:gd name="adj" fmla="val 4000"/>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5" name="Shape 3"/>
          <p:cNvSpPr/>
          <p:nvPr/>
        </p:nvSpPr>
        <p:spPr>
          <a:xfrm>
            <a:off x="822960" y="2286000"/>
            <a:ext cx="594360" cy="594360"/>
          </a:xfrm>
          <a:prstGeom prst="roundRect">
            <a:avLst>
              <a:gd name="adj" fmla="val 50000"/>
            </a:avLst>
          </a:prstGeom>
          <a:solidFill>
            <a:srgbClr val="FFB627"/>
          </a:solidFill>
          <a:ln/>
        </p:spPr>
      </p:sp>
      <p:sp>
        <p:nvSpPr>
          <p:cNvPr id="6" name="Text 4"/>
          <p:cNvSpPr txBox="1"/>
          <p:nvPr/>
        </p:nvSpPr>
        <p:spPr>
          <a:xfrm>
            <a:off x="822960" y="2286000"/>
            <a:ext cx="59436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7" name="Text 5"/>
          <p:cNvSpPr txBox="1"/>
          <p:nvPr/>
        </p:nvSpPr>
        <p:spPr>
          <a:xfrm>
            <a:off x="1600200" y="1920240"/>
            <a:ext cx="9784080" cy="1371600"/>
          </a:xfrm>
          <a:prstGeom prst="rect">
            <a:avLst/>
          </a:prstGeom>
          <a:noFill/>
          <a:ln/>
        </p:spPr>
        <p:txBody>
          <a:bodyPr wrap="square" lIns="0" tIns="0" rIns="0" bIns="0" rtlCol="0" anchor="ctr"/>
          <a:lstStyle/>
          <a:p>
            <a:pPr algn="l" indent="0" marL="0">
              <a:lnSpc>
                <a:spcPct val="125000"/>
              </a:lnSpc>
              <a:buNone/>
            </a:pPr>
            <a:r>
              <a:rPr lang="en-US" sz="1450" dirty="0">
                <a:solidFill>
                  <a:srgbClr val="1B2A4A"/>
                </a:solidFill>
                <a:latin typeface="Calibri" pitchFamily="34" charset="0"/>
                <a:ea typeface="Calibri" pitchFamily="34" charset="-122"/>
                <a:cs typeface="Calibri" pitchFamily="34" charset="-120"/>
              </a:rPr>
              <a:t>A model confidently gives today's weather. Should you trust this? Why or why not?</a:t>
            </a:r>
            <a:endParaRPr lang="en-US" sz="1450" dirty="0"/>
          </a:p>
        </p:txBody>
      </p:sp>
      <p:sp>
        <p:nvSpPr>
          <p:cNvPr id="8" name="Shape 6"/>
          <p:cNvSpPr/>
          <p:nvPr/>
        </p:nvSpPr>
        <p:spPr>
          <a:xfrm>
            <a:off x="548640" y="3474720"/>
            <a:ext cx="11091672" cy="1371600"/>
          </a:xfrm>
          <a:prstGeom prst="roundRect">
            <a:avLst>
              <a:gd name="adj" fmla="val 4000"/>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9" name="Shape 7"/>
          <p:cNvSpPr/>
          <p:nvPr/>
        </p:nvSpPr>
        <p:spPr>
          <a:xfrm>
            <a:off x="822960" y="3840480"/>
            <a:ext cx="594360" cy="594360"/>
          </a:xfrm>
          <a:prstGeom prst="roundRect">
            <a:avLst>
              <a:gd name="adj" fmla="val 50000"/>
            </a:avLst>
          </a:prstGeom>
          <a:solidFill>
            <a:srgbClr val="FFB627"/>
          </a:solidFill>
          <a:ln/>
        </p:spPr>
      </p:sp>
      <p:sp>
        <p:nvSpPr>
          <p:cNvPr id="10" name="Text 8"/>
          <p:cNvSpPr txBox="1"/>
          <p:nvPr/>
        </p:nvSpPr>
        <p:spPr>
          <a:xfrm>
            <a:off x="822960" y="3840480"/>
            <a:ext cx="59436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1" name="Text 9"/>
          <p:cNvSpPr txBox="1"/>
          <p:nvPr/>
        </p:nvSpPr>
        <p:spPr>
          <a:xfrm>
            <a:off x="1600200" y="3474720"/>
            <a:ext cx="9784080" cy="1371600"/>
          </a:xfrm>
          <a:prstGeom prst="rect">
            <a:avLst/>
          </a:prstGeom>
          <a:noFill/>
          <a:ln/>
        </p:spPr>
        <p:txBody>
          <a:bodyPr wrap="square" lIns="0" tIns="0" rIns="0" bIns="0" rtlCol="0" anchor="ctr"/>
          <a:lstStyle/>
          <a:p>
            <a:pPr algn="l" indent="0" marL="0">
              <a:lnSpc>
                <a:spcPct val="125000"/>
              </a:lnSpc>
              <a:buNone/>
            </a:pPr>
            <a:r>
              <a:rPr lang="en-US" sz="1450" dirty="0">
                <a:solidFill>
                  <a:srgbClr val="1B2A4A"/>
                </a:solidFill>
                <a:latin typeface="Calibri" pitchFamily="34" charset="0"/>
                <a:ea typeface="Calibri" pitchFamily="34" charset="-122"/>
                <a:cs typeface="Calibri" pitchFamily="34" charset="-120"/>
              </a:rPr>
              <a:t>Why is “summarize this document I pasted” a strong use case, but “what's in the news today” isn't?</a:t>
            </a:r>
            <a:endParaRPr lang="en-US" sz="1450" dirty="0"/>
          </a:p>
        </p:txBody>
      </p:sp>
      <p:sp>
        <p:nvSpPr>
          <p:cNvPr id="12" name="Text 10"/>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3</a:t>
            </a:r>
            <a:endParaRPr lang="en-US" sz="900" dirty="0"/>
          </a:p>
        </p:txBody>
      </p:sp>
      <p:sp>
        <p:nvSpPr>
          <p:cNvPr id="13" name="Text 11"/>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THE LANDSCAPE</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AI You Already Know By Name</a:t>
            </a:r>
            <a:endParaRPr lang="en-US" sz="3000" dirty="0"/>
          </a:p>
        </p:txBody>
      </p:sp>
      <p:sp>
        <p:nvSpPr>
          <p:cNvPr id="4" name="Shape 2"/>
          <p:cNvSpPr/>
          <p:nvPr/>
        </p:nvSpPr>
        <p:spPr>
          <a:xfrm>
            <a:off x="548640" y="1874520"/>
            <a:ext cx="11091672" cy="1005840"/>
          </a:xfrm>
          <a:prstGeom prst="roundRect">
            <a:avLst>
              <a:gd name="adj" fmla="val 5455"/>
            </a:avLst>
          </a:prstGeom>
          <a:solidFill>
            <a:srgbClr val="FFFFFF"/>
          </a:solidFill>
          <a:ln w="19050">
            <a:solidFill>
              <a:srgbClr val="1FAB65"/>
            </a:solidFill>
            <a:prstDash val="solid"/>
          </a:ln>
          <a:effectLst>
            <a:outerShdw sx="100000" sy="100000" kx="0" ky="0" algn="bl" rotWithShape="0" blurRad="50800" dist="19050" dir="5400000">
              <a:srgbClr val="1B2A4A">
                <a:alpha val="12000"/>
              </a:srgbClr>
            </a:outerShdw>
          </a:effectLst>
        </p:spPr>
      </p:sp>
      <p:sp>
        <p:nvSpPr>
          <p:cNvPr id="5" name="Text 3"/>
          <p:cNvSpPr txBox="1"/>
          <p:nvPr/>
        </p:nvSpPr>
        <p:spPr>
          <a:xfrm>
            <a:off x="822960" y="1984248"/>
            <a:ext cx="4114800" cy="320040"/>
          </a:xfrm>
          <a:prstGeom prst="rect">
            <a:avLst/>
          </a:prstGeom>
          <a:noFill/>
          <a:ln/>
        </p:spPr>
        <p:txBody>
          <a:bodyPr wrap="square" lIns="0" tIns="0" rIns="0" bIns="0" rtlCol="0" anchor="ctr"/>
          <a:lstStyle/>
          <a:p>
            <a:pPr indent="0" marL="0">
              <a:buNone/>
            </a:pPr>
            <a:r>
              <a:rPr lang="en-US" sz="1400" b="1" dirty="0">
                <a:solidFill>
                  <a:srgbClr val="1FAB65"/>
                </a:solidFill>
                <a:latin typeface="Calibri" pitchFamily="34" charset="0"/>
                <a:ea typeface="Calibri" pitchFamily="34" charset="-122"/>
                <a:cs typeface="Calibri" pitchFamily="34" charset="-120"/>
              </a:rPr>
              <a:t>Recommendation / Search AI</a:t>
            </a:r>
            <a:endParaRPr lang="en-US" sz="1400" dirty="0"/>
          </a:p>
        </p:txBody>
      </p:sp>
      <p:sp>
        <p:nvSpPr>
          <p:cNvPr id="6" name="Text 4"/>
          <p:cNvSpPr txBox="1"/>
          <p:nvPr/>
        </p:nvSpPr>
        <p:spPr>
          <a:xfrm>
            <a:off x="822960" y="2331720"/>
            <a:ext cx="4114800" cy="457200"/>
          </a:xfrm>
          <a:prstGeom prst="rect">
            <a:avLst/>
          </a:prstGeom>
          <a:noFill/>
          <a:ln/>
        </p:spPr>
        <p:txBody>
          <a:bodyPr wrap="square" lIns="0" tIns="0" rIns="0" bIns="0" rtlCol="0" anchor="t"/>
          <a:lstStyle/>
          <a:p>
            <a:pPr algn="l" indent="0" marL="0">
              <a:lnSpc>
                <a:spcPct val="125000"/>
              </a:lnSpc>
              <a:buNone/>
            </a:pPr>
            <a:r>
              <a:rPr lang="en-US" sz="1300" b="1" dirty="0">
                <a:solidFill>
                  <a:srgbClr val="1B2A4A"/>
                </a:solidFill>
                <a:latin typeface="Calibri" pitchFamily="34" charset="0"/>
                <a:ea typeface="Calibri" pitchFamily="34" charset="-122"/>
                <a:cs typeface="Calibri" pitchFamily="34" charset="-120"/>
              </a:rPr>
              <a:t>YouTube, Google Search ranking</a:t>
            </a:r>
            <a:endParaRPr lang="en-US" sz="1300" dirty="0"/>
          </a:p>
        </p:txBody>
      </p:sp>
      <p:sp>
        <p:nvSpPr>
          <p:cNvPr id="7" name="Text 5"/>
          <p:cNvSpPr txBox="1"/>
          <p:nvPr/>
        </p:nvSpPr>
        <p:spPr>
          <a:xfrm>
            <a:off x="5120640" y="1874520"/>
            <a:ext cx="6309360" cy="1005840"/>
          </a:xfrm>
          <a:prstGeom prst="rect">
            <a:avLst/>
          </a:prstGeom>
          <a:noFill/>
          <a:ln/>
        </p:spPr>
        <p:txBody>
          <a:bodyPr wrap="square" lIns="0" tIns="0" rIns="0" bIns="0" rtlCol="0" anchor="ctr"/>
          <a:lstStyle/>
          <a:p>
            <a:pPr algn="l" indent="0" marL="0">
              <a:lnSpc>
                <a:spcPct val="125000"/>
              </a:lnSpc>
              <a:buNone/>
            </a:pPr>
            <a:r>
              <a:rPr lang="en-US" sz="1250" i="1" dirty="0">
                <a:solidFill>
                  <a:srgbClr val="5B6B87"/>
                </a:solidFill>
                <a:latin typeface="Calibri" pitchFamily="34" charset="0"/>
                <a:ea typeface="Calibri" pitchFamily="34" charset="-122"/>
                <a:cs typeface="Calibri" pitchFamily="34" charset="-120"/>
              </a:rPr>
              <a:t>Day 3 territory — narrow, predicts what you'll click</a:t>
            </a:r>
            <a:endParaRPr lang="en-US" sz="1250" dirty="0"/>
          </a:p>
        </p:txBody>
      </p:sp>
      <p:sp>
        <p:nvSpPr>
          <p:cNvPr id="8" name="Shape 6"/>
          <p:cNvSpPr/>
          <p:nvPr/>
        </p:nvSpPr>
        <p:spPr>
          <a:xfrm>
            <a:off x="548640" y="3017520"/>
            <a:ext cx="11091672" cy="1005840"/>
          </a:xfrm>
          <a:prstGeom prst="roundRect">
            <a:avLst>
              <a:gd name="adj" fmla="val 5455"/>
            </a:avLst>
          </a:prstGeom>
          <a:solidFill>
            <a:srgbClr val="FFFFFF"/>
          </a:solidFill>
          <a:ln w="19050">
            <a:solidFill>
              <a:srgbClr val="FFB627"/>
            </a:solidFill>
            <a:prstDash val="solid"/>
          </a:ln>
          <a:effectLst>
            <a:outerShdw sx="100000" sy="100000" kx="0" ky="0" algn="bl" rotWithShape="0" blurRad="50800" dist="19050" dir="5400000">
              <a:srgbClr val="1B2A4A">
                <a:alpha val="12000"/>
              </a:srgbClr>
            </a:outerShdw>
          </a:effectLst>
        </p:spPr>
      </p:sp>
      <p:sp>
        <p:nvSpPr>
          <p:cNvPr id="9" name="Text 7"/>
          <p:cNvSpPr txBox="1"/>
          <p:nvPr/>
        </p:nvSpPr>
        <p:spPr>
          <a:xfrm>
            <a:off x="822960" y="3127248"/>
            <a:ext cx="4114800" cy="320040"/>
          </a:xfrm>
          <a:prstGeom prst="rect">
            <a:avLst/>
          </a:prstGeom>
          <a:noFill/>
          <a:ln/>
        </p:spPr>
        <p:txBody>
          <a:bodyPr wrap="square" lIns="0" tIns="0" rIns="0" bIns="0" rtlCol="0" anchor="ctr"/>
          <a:lstStyle/>
          <a:p>
            <a:pPr indent="0" marL="0">
              <a:buNone/>
            </a:pPr>
            <a:r>
              <a:rPr lang="en-US" sz="1400" b="1" dirty="0">
                <a:solidFill>
                  <a:srgbClr val="FFB627"/>
                </a:solidFill>
                <a:latin typeface="Calibri" pitchFamily="34" charset="0"/>
                <a:ea typeface="Calibri" pitchFamily="34" charset="-122"/>
                <a:cs typeface="Calibri" pitchFamily="34" charset="-120"/>
              </a:rPr>
              <a:t>Voice / Vision AI</a:t>
            </a:r>
            <a:endParaRPr lang="en-US" sz="1400" dirty="0"/>
          </a:p>
        </p:txBody>
      </p:sp>
      <p:sp>
        <p:nvSpPr>
          <p:cNvPr id="10" name="Text 8"/>
          <p:cNvSpPr txBox="1"/>
          <p:nvPr/>
        </p:nvSpPr>
        <p:spPr>
          <a:xfrm>
            <a:off x="822960" y="3474720"/>
            <a:ext cx="4114800" cy="457200"/>
          </a:xfrm>
          <a:prstGeom prst="rect">
            <a:avLst/>
          </a:prstGeom>
          <a:noFill/>
          <a:ln/>
        </p:spPr>
        <p:txBody>
          <a:bodyPr wrap="square" lIns="0" tIns="0" rIns="0" bIns="0" rtlCol="0" anchor="t"/>
          <a:lstStyle/>
          <a:p>
            <a:pPr algn="l" indent="0" marL="0">
              <a:lnSpc>
                <a:spcPct val="125000"/>
              </a:lnSpc>
              <a:buNone/>
            </a:pPr>
            <a:r>
              <a:rPr lang="en-US" sz="1300" b="1" dirty="0">
                <a:solidFill>
                  <a:srgbClr val="1B2A4A"/>
                </a:solidFill>
                <a:latin typeface="Calibri" pitchFamily="34" charset="0"/>
                <a:ea typeface="Calibri" pitchFamily="34" charset="-122"/>
                <a:cs typeface="Calibri" pitchFamily="34" charset="-120"/>
              </a:rPr>
              <a:t>Phone face unlock, voice assistants</a:t>
            </a:r>
            <a:endParaRPr lang="en-US" sz="1300" dirty="0"/>
          </a:p>
        </p:txBody>
      </p:sp>
      <p:sp>
        <p:nvSpPr>
          <p:cNvPr id="11" name="Text 9"/>
          <p:cNvSpPr txBox="1"/>
          <p:nvPr/>
        </p:nvSpPr>
        <p:spPr>
          <a:xfrm>
            <a:off x="5120640" y="3017520"/>
            <a:ext cx="6309360" cy="1005840"/>
          </a:xfrm>
          <a:prstGeom prst="rect">
            <a:avLst/>
          </a:prstGeom>
          <a:noFill/>
          <a:ln/>
        </p:spPr>
        <p:txBody>
          <a:bodyPr wrap="square" lIns="0" tIns="0" rIns="0" bIns="0" rtlCol="0" anchor="ctr"/>
          <a:lstStyle/>
          <a:p>
            <a:pPr algn="l" indent="0" marL="0">
              <a:lnSpc>
                <a:spcPct val="125000"/>
              </a:lnSpc>
              <a:buNone/>
            </a:pPr>
            <a:r>
              <a:rPr lang="en-US" sz="1250" i="1" dirty="0">
                <a:solidFill>
                  <a:srgbClr val="5B6B87"/>
                </a:solidFill>
                <a:latin typeface="Calibri" pitchFamily="34" charset="0"/>
                <a:ea typeface="Calibri" pitchFamily="34" charset="-122"/>
                <a:cs typeface="Calibri" pitchFamily="34" charset="-120"/>
              </a:rPr>
              <a:t>Day 3 territory — narrow, recognizes patterns</a:t>
            </a:r>
            <a:endParaRPr lang="en-US" sz="1250" dirty="0"/>
          </a:p>
        </p:txBody>
      </p:sp>
      <p:sp>
        <p:nvSpPr>
          <p:cNvPr id="12" name="Shape 10"/>
          <p:cNvSpPr/>
          <p:nvPr/>
        </p:nvSpPr>
        <p:spPr>
          <a:xfrm>
            <a:off x="548640" y="4160520"/>
            <a:ext cx="11091672" cy="1005840"/>
          </a:xfrm>
          <a:prstGeom prst="roundRect">
            <a:avLst>
              <a:gd name="adj" fmla="val 5455"/>
            </a:avLst>
          </a:prstGeom>
          <a:solidFill>
            <a:srgbClr val="FFFFFF"/>
          </a:solidFill>
          <a:ln w="19050">
            <a:solidFill>
              <a:srgbClr val="1B2A4A"/>
            </a:solidFill>
            <a:prstDash val="solid"/>
          </a:ln>
          <a:effectLst>
            <a:outerShdw sx="100000" sy="100000" kx="0" ky="0" algn="bl" rotWithShape="0" blurRad="50800" dist="19050" dir="5400000">
              <a:srgbClr val="1B2A4A">
                <a:alpha val="12000"/>
              </a:srgbClr>
            </a:outerShdw>
          </a:effectLst>
        </p:spPr>
      </p:sp>
      <p:sp>
        <p:nvSpPr>
          <p:cNvPr id="13" name="Text 11"/>
          <p:cNvSpPr txBox="1"/>
          <p:nvPr/>
        </p:nvSpPr>
        <p:spPr>
          <a:xfrm>
            <a:off x="822960" y="4270248"/>
            <a:ext cx="4114800" cy="320040"/>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Conversational / Generative AI</a:t>
            </a:r>
            <a:endParaRPr lang="en-US" sz="1400" dirty="0"/>
          </a:p>
        </p:txBody>
      </p:sp>
      <p:sp>
        <p:nvSpPr>
          <p:cNvPr id="14" name="Text 12"/>
          <p:cNvSpPr txBox="1"/>
          <p:nvPr/>
        </p:nvSpPr>
        <p:spPr>
          <a:xfrm>
            <a:off x="822960" y="4617720"/>
            <a:ext cx="4114800" cy="457200"/>
          </a:xfrm>
          <a:prstGeom prst="rect">
            <a:avLst/>
          </a:prstGeom>
          <a:noFill/>
          <a:ln/>
        </p:spPr>
        <p:txBody>
          <a:bodyPr wrap="square" lIns="0" tIns="0" rIns="0" bIns="0" rtlCol="0" anchor="t"/>
          <a:lstStyle/>
          <a:p>
            <a:pPr algn="l" indent="0" marL="0">
              <a:lnSpc>
                <a:spcPct val="125000"/>
              </a:lnSpc>
              <a:buNone/>
            </a:pPr>
            <a:r>
              <a:rPr lang="en-US" sz="1300" b="1" dirty="0">
                <a:solidFill>
                  <a:srgbClr val="1B2A4A"/>
                </a:solidFill>
                <a:latin typeface="Calibri" pitchFamily="34" charset="0"/>
                <a:ea typeface="Calibri" pitchFamily="34" charset="-122"/>
                <a:cs typeface="Calibri" pitchFamily="34" charset="-120"/>
              </a:rPr>
              <a:t>ChatGPT, Claude, Gemini</a:t>
            </a:r>
            <a:endParaRPr lang="en-US" sz="1300" dirty="0"/>
          </a:p>
        </p:txBody>
      </p:sp>
      <p:sp>
        <p:nvSpPr>
          <p:cNvPr id="15" name="Text 13"/>
          <p:cNvSpPr txBox="1"/>
          <p:nvPr/>
        </p:nvSpPr>
        <p:spPr>
          <a:xfrm>
            <a:off x="5120640" y="4160520"/>
            <a:ext cx="6309360" cy="1005840"/>
          </a:xfrm>
          <a:prstGeom prst="rect">
            <a:avLst/>
          </a:prstGeom>
          <a:noFill/>
          <a:ln/>
        </p:spPr>
        <p:txBody>
          <a:bodyPr wrap="square" lIns="0" tIns="0" rIns="0" bIns="0" rtlCol="0" anchor="ctr"/>
          <a:lstStyle/>
          <a:p>
            <a:pPr algn="l" indent="0" marL="0">
              <a:lnSpc>
                <a:spcPct val="125000"/>
              </a:lnSpc>
              <a:buNone/>
            </a:pPr>
            <a:r>
              <a:rPr lang="en-US" sz="1250" i="1" dirty="0">
                <a:solidFill>
                  <a:srgbClr val="5B6B87"/>
                </a:solidFill>
                <a:latin typeface="Calibri" pitchFamily="34" charset="0"/>
                <a:ea typeface="Calibri" pitchFamily="34" charset="-122"/>
                <a:cs typeface="Calibri" pitchFamily="34" charset="-120"/>
              </a:rPr>
              <a:t>Today — generates new text, word by word</a:t>
            </a:r>
            <a:endParaRPr lang="en-US" sz="1250" dirty="0"/>
          </a:p>
        </p:txBody>
      </p:sp>
      <p:sp>
        <p:nvSpPr>
          <p:cNvPr id="16" name="Shape 14"/>
          <p:cNvSpPr/>
          <p:nvPr/>
        </p:nvSpPr>
        <p:spPr>
          <a:xfrm>
            <a:off x="548640" y="5303520"/>
            <a:ext cx="11091672" cy="1005840"/>
          </a:xfrm>
          <a:prstGeom prst="roundRect">
            <a:avLst>
              <a:gd name="adj" fmla="val 5455"/>
            </a:avLst>
          </a:prstGeom>
          <a:solidFill>
            <a:srgbClr val="FFFFFF"/>
          </a:solidFill>
          <a:ln w="19050">
            <a:solidFill>
              <a:srgbClr val="D64545"/>
            </a:solidFill>
            <a:prstDash val="solid"/>
          </a:ln>
          <a:effectLst>
            <a:outerShdw sx="100000" sy="100000" kx="0" ky="0" algn="bl" rotWithShape="0" blurRad="50800" dist="19050" dir="5400000">
              <a:srgbClr val="1B2A4A">
                <a:alpha val="12000"/>
              </a:srgbClr>
            </a:outerShdw>
          </a:effectLst>
        </p:spPr>
      </p:sp>
      <p:sp>
        <p:nvSpPr>
          <p:cNvPr id="17" name="Text 15"/>
          <p:cNvSpPr txBox="1"/>
          <p:nvPr/>
        </p:nvSpPr>
        <p:spPr>
          <a:xfrm>
            <a:off x="822960" y="5413248"/>
            <a:ext cx="4114800" cy="320040"/>
          </a:xfrm>
          <a:prstGeom prst="rect">
            <a:avLst/>
          </a:prstGeom>
          <a:noFill/>
          <a:ln/>
        </p:spPr>
        <p:txBody>
          <a:bodyPr wrap="square" lIns="0" tIns="0" rIns="0" bIns="0" rtlCol="0" anchor="ctr"/>
          <a:lstStyle/>
          <a:p>
            <a:pPr indent="0" marL="0">
              <a:buNone/>
            </a:pPr>
            <a:r>
              <a:rPr lang="en-US" sz="1400" b="1" dirty="0">
                <a:solidFill>
                  <a:srgbClr val="D64545"/>
                </a:solidFill>
                <a:latin typeface="Calibri" pitchFamily="34" charset="0"/>
                <a:ea typeface="Calibri" pitchFamily="34" charset="-122"/>
                <a:cs typeface="Calibri" pitchFamily="34" charset="-120"/>
              </a:rPr>
              <a:t>AI-Assisted Coding Tools</a:t>
            </a:r>
            <a:endParaRPr lang="en-US" sz="1400" dirty="0"/>
          </a:p>
        </p:txBody>
      </p:sp>
      <p:sp>
        <p:nvSpPr>
          <p:cNvPr id="18" name="Text 16"/>
          <p:cNvSpPr txBox="1"/>
          <p:nvPr/>
        </p:nvSpPr>
        <p:spPr>
          <a:xfrm>
            <a:off x="822960" y="5760720"/>
            <a:ext cx="4114800" cy="457200"/>
          </a:xfrm>
          <a:prstGeom prst="rect">
            <a:avLst/>
          </a:prstGeom>
          <a:noFill/>
          <a:ln/>
        </p:spPr>
        <p:txBody>
          <a:bodyPr wrap="square" lIns="0" tIns="0" rIns="0" bIns="0" rtlCol="0" anchor="t"/>
          <a:lstStyle/>
          <a:p>
            <a:pPr algn="l" indent="0" marL="0">
              <a:lnSpc>
                <a:spcPct val="125000"/>
              </a:lnSpc>
              <a:buNone/>
            </a:pPr>
            <a:r>
              <a:rPr lang="en-US" sz="1300" b="1" dirty="0">
                <a:solidFill>
                  <a:srgbClr val="1B2A4A"/>
                </a:solidFill>
                <a:latin typeface="Calibri" pitchFamily="34" charset="0"/>
                <a:ea typeface="Calibri" pitchFamily="34" charset="-122"/>
                <a:cs typeface="Calibri" pitchFamily="34" charset="-120"/>
              </a:rPr>
              <a:t>GitHub Copilot, Claude Code</a:t>
            </a:r>
            <a:endParaRPr lang="en-US" sz="1300" dirty="0"/>
          </a:p>
        </p:txBody>
      </p:sp>
      <p:sp>
        <p:nvSpPr>
          <p:cNvPr id="19" name="Text 17"/>
          <p:cNvSpPr txBox="1"/>
          <p:nvPr/>
        </p:nvSpPr>
        <p:spPr>
          <a:xfrm>
            <a:off x="5120640" y="5303520"/>
            <a:ext cx="6309360" cy="1005840"/>
          </a:xfrm>
          <a:prstGeom prst="rect">
            <a:avLst/>
          </a:prstGeom>
          <a:noFill/>
          <a:ln/>
        </p:spPr>
        <p:txBody>
          <a:bodyPr wrap="square" lIns="0" tIns="0" rIns="0" bIns="0" rtlCol="0" anchor="ctr"/>
          <a:lstStyle/>
          <a:p>
            <a:pPr algn="l" indent="0" marL="0">
              <a:lnSpc>
                <a:spcPct val="125000"/>
              </a:lnSpc>
              <a:buNone/>
            </a:pPr>
            <a:r>
              <a:rPr lang="en-US" sz="1250" i="1" dirty="0">
                <a:solidFill>
                  <a:srgbClr val="5B6B87"/>
                </a:solidFill>
                <a:latin typeface="Calibri" pitchFamily="34" charset="0"/>
                <a:ea typeface="Calibri" pitchFamily="34" charset="-122"/>
                <a:cs typeface="Calibri" pitchFamily="34" charset="-120"/>
              </a:rPr>
              <a:t>Days 20–25 — full depth later</a:t>
            </a:r>
            <a:endParaRPr lang="en-US" sz="1250" dirty="0"/>
          </a:p>
        </p:txBody>
      </p:sp>
      <p:sp>
        <p:nvSpPr>
          <p:cNvPr id="20" name="Text 18"/>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3</a:t>
            </a:r>
            <a:endParaRPr lang="en-US" sz="900" dirty="0"/>
          </a:p>
        </p:txBody>
      </p:sp>
      <p:sp>
        <p:nvSpPr>
          <p:cNvPr id="21" name="Text 19"/>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SAME IDEAS, A REAL PRODUCT</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How A Support Chatbot Actually Works</a:t>
            </a:r>
            <a:endParaRPr lang="en-US" sz="3000" dirty="0"/>
          </a:p>
        </p:txBody>
      </p:sp>
      <p:sp>
        <p:nvSpPr>
          <p:cNvPr id="4" name="Shape 2"/>
          <p:cNvSpPr/>
          <p:nvPr/>
        </p:nvSpPr>
        <p:spPr>
          <a:xfrm>
            <a:off x="548640" y="1965960"/>
            <a:ext cx="1965960" cy="1371600"/>
          </a:xfrm>
          <a:prstGeom prst="roundRect">
            <a:avLst>
              <a:gd name="adj" fmla="val 5333"/>
            </a:avLst>
          </a:prstGeom>
          <a:solidFill>
            <a:srgbClr val="FFFFFF"/>
          </a:solidFill>
          <a:ln w="25400">
            <a:solidFill>
              <a:srgbClr val="1B2A4A"/>
            </a:solidFill>
            <a:prstDash val="solid"/>
          </a:ln>
          <a:effectLst>
            <a:outerShdw sx="100000" sy="100000" kx="0" ky="0" algn="bl" rotWithShape="0" blurRad="50800" dist="19050" dir="5400000">
              <a:srgbClr val="1B2A4A">
                <a:alpha val="12000"/>
              </a:srgbClr>
            </a:outerShdw>
          </a:effectLst>
        </p:spPr>
      </p:sp>
      <p:sp>
        <p:nvSpPr>
          <p:cNvPr id="5" name="Text 3"/>
          <p:cNvSpPr txBox="1"/>
          <p:nvPr/>
        </p:nvSpPr>
        <p:spPr>
          <a:xfrm>
            <a:off x="548640" y="1965960"/>
            <a:ext cx="1965960" cy="1371600"/>
          </a:xfrm>
          <a:prstGeom prst="rect">
            <a:avLst/>
          </a:prstGeom>
          <a:noFill/>
          <a:ln/>
        </p:spPr>
        <p:txBody>
          <a:bodyPr wrap="square" lIns="0" tIns="0" rIns="0" bIns="0" rtlCol="0" anchor="ctr"/>
          <a:lstStyle/>
          <a:p>
            <a:pPr algn="ctr" indent="0" marL="0">
              <a:buNone/>
            </a:pPr>
            <a:r>
              <a:rPr lang="en-US" sz="1250" b="1" dirty="0">
                <a:solidFill>
                  <a:srgbClr val="1B2A4A"/>
                </a:solidFill>
                <a:latin typeface="Cambria" pitchFamily="34" charset="0"/>
                <a:ea typeface="Cambria" pitchFamily="34" charset="-122"/>
                <a:cs typeface="Cambria" pitchFamily="34" charset="-120"/>
              </a:rPr>
              <a:t>You Ask</a:t>
            </a:r>
            <a:endParaRPr lang="en-US" sz="1250" dirty="0"/>
          </a:p>
          <a:p>
            <a:pPr algn="ctr" indent="0" marL="0">
              <a:buNone/>
            </a:pPr>
            <a:r>
              <a:rPr lang="en-US" sz="1250" b="1" dirty="0">
                <a:solidFill>
                  <a:srgbClr val="1B2A4A"/>
                </a:solidFill>
                <a:latin typeface="Cambria" pitchFamily="34" charset="0"/>
                <a:ea typeface="Cambria" pitchFamily="34" charset="-122"/>
                <a:cs typeface="Cambria" pitchFamily="34" charset="-120"/>
              </a:rPr>
              <a:t>A Question</a:t>
            </a:r>
            <a:endParaRPr lang="en-US" sz="1250" dirty="0"/>
          </a:p>
        </p:txBody>
      </p:sp>
      <p:sp>
        <p:nvSpPr>
          <p:cNvPr id="6" name="Text 4"/>
          <p:cNvSpPr txBox="1"/>
          <p:nvPr/>
        </p:nvSpPr>
        <p:spPr>
          <a:xfrm>
            <a:off x="2514600" y="1965960"/>
            <a:ext cx="310896" cy="1371600"/>
          </a:xfrm>
          <a:prstGeom prst="rect">
            <a:avLst/>
          </a:prstGeom>
          <a:noFill/>
          <a:ln/>
        </p:spPr>
        <p:txBody>
          <a:bodyPr wrap="square" lIns="0" tIns="0" rIns="0" bIns="0" rtlCol="0" anchor="ctr"/>
          <a:lstStyle/>
          <a:p>
            <a:pPr algn="ctr" indent="0" marL="0">
              <a:buNone/>
            </a:pPr>
            <a:r>
              <a:rPr lang="en-US" sz="2000" b="1" dirty="0">
                <a:solidFill>
                  <a:srgbClr val="5B6B87"/>
                </a:solidFill>
              </a:rPr>
              <a:t>→</a:t>
            </a:r>
            <a:endParaRPr lang="en-US" sz="2000" dirty="0"/>
          </a:p>
        </p:txBody>
      </p:sp>
      <p:sp>
        <p:nvSpPr>
          <p:cNvPr id="7" name="Shape 5"/>
          <p:cNvSpPr/>
          <p:nvPr/>
        </p:nvSpPr>
        <p:spPr>
          <a:xfrm>
            <a:off x="2825496" y="1965960"/>
            <a:ext cx="1965960" cy="1371600"/>
          </a:xfrm>
          <a:prstGeom prst="roundRect">
            <a:avLst>
              <a:gd name="adj" fmla="val 5333"/>
            </a:avLst>
          </a:prstGeom>
          <a:solidFill>
            <a:srgbClr val="FFFFFF"/>
          </a:solidFill>
          <a:ln w="25400">
            <a:solidFill>
              <a:srgbClr val="5B6B87"/>
            </a:solidFill>
            <a:prstDash val="solid"/>
          </a:ln>
          <a:effectLst>
            <a:outerShdw sx="100000" sy="100000" kx="0" ky="0" algn="bl" rotWithShape="0" blurRad="50800" dist="19050" dir="5400000">
              <a:srgbClr val="1B2A4A">
                <a:alpha val="12000"/>
              </a:srgbClr>
            </a:outerShdw>
          </a:effectLst>
        </p:spPr>
      </p:sp>
      <p:sp>
        <p:nvSpPr>
          <p:cNvPr id="8" name="Text 6"/>
          <p:cNvSpPr txBox="1"/>
          <p:nvPr/>
        </p:nvSpPr>
        <p:spPr>
          <a:xfrm>
            <a:off x="2825496" y="1965960"/>
            <a:ext cx="1965960" cy="1371600"/>
          </a:xfrm>
          <a:prstGeom prst="rect">
            <a:avLst/>
          </a:prstGeom>
          <a:noFill/>
          <a:ln/>
        </p:spPr>
        <p:txBody>
          <a:bodyPr wrap="square" lIns="0" tIns="0" rIns="0" bIns="0" rtlCol="0" anchor="ctr"/>
          <a:lstStyle/>
          <a:p>
            <a:pPr algn="ctr" indent="0" marL="0">
              <a:buNone/>
            </a:pPr>
            <a:r>
              <a:rPr lang="en-US" sz="1250" b="1" dirty="0">
                <a:solidFill>
                  <a:srgbClr val="1B2A4A"/>
                </a:solidFill>
                <a:latin typeface="Cambria" pitchFamily="34" charset="0"/>
                <a:ea typeface="Cambria" pitchFamily="34" charset="-122"/>
                <a:cs typeface="Cambria" pitchFamily="34" charset="-120"/>
              </a:rPr>
              <a:t>AI Reads It</a:t>
            </a:r>
            <a:endParaRPr lang="en-US" sz="1250" dirty="0"/>
          </a:p>
        </p:txBody>
      </p:sp>
      <p:sp>
        <p:nvSpPr>
          <p:cNvPr id="9" name="Text 7"/>
          <p:cNvSpPr txBox="1"/>
          <p:nvPr/>
        </p:nvSpPr>
        <p:spPr>
          <a:xfrm>
            <a:off x="4791456" y="1965960"/>
            <a:ext cx="310896" cy="1371600"/>
          </a:xfrm>
          <a:prstGeom prst="rect">
            <a:avLst/>
          </a:prstGeom>
          <a:noFill/>
          <a:ln/>
        </p:spPr>
        <p:txBody>
          <a:bodyPr wrap="square" lIns="0" tIns="0" rIns="0" bIns="0" rtlCol="0" anchor="ctr"/>
          <a:lstStyle/>
          <a:p>
            <a:pPr algn="ctr" indent="0" marL="0">
              <a:buNone/>
            </a:pPr>
            <a:r>
              <a:rPr lang="en-US" sz="2000" b="1" dirty="0">
                <a:solidFill>
                  <a:srgbClr val="5B6B87"/>
                </a:solidFill>
              </a:rPr>
              <a:t>→</a:t>
            </a:r>
            <a:endParaRPr lang="en-US" sz="2000" dirty="0"/>
          </a:p>
        </p:txBody>
      </p:sp>
      <p:sp>
        <p:nvSpPr>
          <p:cNvPr id="10" name="Shape 8"/>
          <p:cNvSpPr/>
          <p:nvPr/>
        </p:nvSpPr>
        <p:spPr>
          <a:xfrm>
            <a:off x="5102352" y="1965960"/>
            <a:ext cx="1965960" cy="1371600"/>
          </a:xfrm>
          <a:prstGeom prst="roundRect">
            <a:avLst>
              <a:gd name="adj" fmla="val 5333"/>
            </a:avLst>
          </a:prstGeom>
          <a:solidFill>
            <a:srgbClr val="FFFFFF"/>
          </a:solidFill>
          <a:ln w="25400">
            <a:solidFill>
              <a:srgbClr val="FFB627"/>
            </a:solidFill>
            <a:prstDash val="solid"/>
          </a:ln>
          <a:effectLst>
            <a:outerShdw sx="100000" sy="100000" kx="0" ky="0" algn="bl" rotWithShape="0" blurRad="50800" dist="19050" dir="5400000">
              <a:srgbClr val="1B2A4A">
                <a:alpha val="12000"/>
              </a:srgbClr>
            </a:outerShdw>
          </a:effectLst>
        </p:spPr>
      </p:sp>
      <p:sp>
        <p:nvSpPr>
          <p:cNvPr id="11" name="Text 9"/>
          <p:cNvSpPr txBox="1"/>
          <p:nvPr/>
        </p:nvSpPr>
        <p:spPr>
          <a:xfrm>
            <a:off x="5102352" y="1965960"/>
            <a:ext cx="1965960" cy="1371600"/>
          </a:xfrm>
          <a:prstGeom prst="rect">
            <a:avLst/>
          </a:prstGeom>
          <a:noFill/>
          <a:ln/>
        </p:spPr>
        <p:txBody>
          <a:bodyPr wrap="square" lIns="0" tIns="0" rIns="0" bIns="0" rtlCol="0" anchor="ctr"/>
          <a:lstStyle/>
          <a:p>
            <a:pPr algn="ctr" indent="0" marL="0">
              <a:buNone/>
            </a:pPr>
            <a:r>
              <a:rPr lang="en-US" sz="1250" b="1" dirty="0">
                <a:solidFill>
                  <a:srgbClr val="1B2A4A"/>
                </a:solidFill>
                <a:latin typeface="Cambria" pitchFamily="34" charset="0"/>
                <a:ea typeface="Cambria" pitchFamily="34" charset="-122"/>
                <a:cs typeface="Cambria" pitchFamily="34" charset="-120"/>
              </a:rPr>
              <a:t>Guesses The</a:t>
            </a:r>
            <a:endParaRPr lang="en-US" sz="1250" dirty="0"/>
          </a:p>
          <a:p>
            <a:pPr algn="ctr" indent="0" marL="0">
              <a:buNone/>
            </a:pPr>
            <a:r>
              <a:rPr lang="en-US" sz="1250" b="1" dirty="0">
                <a:solidFill>
                  <a:srgbClr val="1B2A4A"/>
                </a:solidFill>
                <a:latin typeface="Cambria" pitchFamily="34" charset="0"/>
                <a:ea typeface="Cambria" pitchFamily="34" charset="-122"/>
                <a:cs typeface="Cambria" pitchFamily="34" charset="-120"/>
              </a:rPr>
              <a:t>Reply, Word</a:t>
            </a:r>
            <a:endParaRPr lang="en-US" sz="1250" dirty="0"/>
          </a:p>
          <a:p>
            <a:pPr algn="ctr" indent="0" marL="0">
              <a:buNone/>
            </a:pPr>
            <a:r>
              <a:rPr lang="en-US" sz="1250" b="1" dirty="0">
                <a:solidFill>
                  <a:srgbClr val="1B2A4A"/>
                </a:solidFill>
                <a:latin typeface="Cambria" pitchFamily="34" charset="0"/>
                <a:ea typeface="Cambria" pitchFamily="34" charset="-122"/>
                <a:cs typeface="Cambria" pitchFamily="34" charset="-120"/>
              </a:rPr>
              <a:t>By Word</a:t>
            </a:r>
            <a:endParaRPr lang="en-US" sz="1250" dirty="0"/>
          </a:p>
        </p:txBody>
      </p:sp>
      <p:sp>
        <p:nvSpPr>
          <p:cNvPr id="12" name="Text 10"/>
          <p:cNvSpPr txBox="1"/>
          <p:nvPr/>
        </p:nvSpPr>
        <p:spPr>
          <a:xfrm>
            <a:off x="7068312" y="1965960"/>
            <a:ext cx="310896" cy="1371600"/>
          </a:xfrm>
          <a:prstGeom prst="rect">
            <a:avLst/>
          </a:prstGeom>
          <a:noFill/>
          <a:ln/>
        </p:spPr>
        <p:txBody>
          <a:bodyPr wrap="square" lIns="0" tIns="0" rIns="0" bIns="0" rtlCol="0" anchor="ctr"/>
          <a:lstStyle/>
          <a:p>
            <a:pPr algn="ctr" indent="0" marL="0">
              <a:buNone/>
            </a:pPr>
            <a:r>
              <a:rPr lang="en-US" sz="2000" b="1" dirty="0">
                <a:solidFill>
                  <a:srgbClr val="5B6B87"/>
                </a:solidFill>
              </a:rPr>
              <a:t>→</a:t>
            </a:r>
            <a:endParaRPr lang="en-US" sz="2000" dirty="0"/>
          </a:p>
        </p:txBody>
      </p:sp>
      <p:sp>
        <p:nvSpPr>
          <p:cNvPr id="13" name="Shape 11"/>
          <p:cNvSpPr/>
          <p:nvPr/>
        </p:nvSpPr>
        <p:spPr>
          <a:xfrm>
            <a:off x="7379208" y="1965960"/>
            <a:ext cx="1965960" cy="1371600"/>
          </a:xfrm>
          <a:prstGeom prst="roundRect">
            <a:avLst>
              <a:gd name="adj" fmla="val 5333"/>
            </a:avLst>
          </a:prstGeom>
          <a:solidFill>
            <a:srgbClr val="FFFFFF"/>
          </a:solidFill>
          <a:ln w="25400">
            <a:solidFill>
              <a:srgbClr val="1FAB65"/>
            </a:solidFill>
            <a:prstDash val="solid"/>
          </a:ln>
          <a:effectLst>
            <a:outerShdw sx="100000" sy="100000" kx="0" ky="0" algn="bl" rotWithShape="0" blurRad="50800" dist="19050" dir="5400000">
              <a:srgbClr val="1B2A4A">
                <a:alpha val="12000"/>
              </a:srgbClr>
            </a:outerShdw>
          </a:effectLst>
        </p:spPr>
      </p:sp>
      <p:sp>
        <p:nvSpPr>
          <p:cNvPr id="14" name="Text 12"/>
          <p:cNvSpPr txBox="1"/>
          <p:nvPr/>
        </p:nvSpPr>
        <p:spPr>
          <a:xfrm>
            <a:off x="7379208" y="1965960"/>
            <a:ext cx="1965960" cy="1371600"/>
          </a:xfrm>
          <a:prstGeom prst="rect">
            <a:avLst/>
          </a:prstGeom>
          <a:noFill/>
          <a:ln/>
        </p:spPr>
        <p:txBody>
          <a:bodyPr wrap="square" lIns="0" tIns="0" rIns="0" bIns="0" rtlCol="0" anchor="ctr"/>
          <a:lstStyle/>
          <a:p>
            <a:pPr algn="ctr" indent="0" marL="0">
              <a:buNone/>
            </a:pPr>
            <a:r>
              <a:rPr lang="en-US" sz="1250" b="1" dirty="0">
                <a:solidFill>
                  <a:srgbClr val="1B2A4A"/>
                </a:solidFill>
                <a:latin typeface="Cambria" pitchFamily="34" charset="0"/>
                <a:ea typeface="Cambria" pitchFamily="34" charset="-122"/>
                <a:cs typeface="Cambria" pitchFamily="34" charset="-120"/>
              </a:rPr>
              <a:t>Only Uses What's</a:t>
            </a:r>
            <a:endParaRPr lang="en-US" sz="1250" dirty="0"/>
          </a:p>
          <a:p>
            <a:pPr algn="ctr" indent="0" marL="0">
              <a:buNone/>
            </a:pPr>
            <a:r>
              <a:rPr lang="en-US" sz="1250" b="1" dirty="0">
                <a:solidFill>
                  <a:srgbClr val="1B2A4A"/>
                </a:solidFill>
                <a:latin typeface="Cambria" pitchFamily="34" charset="0"/>
                <a:ea typeface="Cambria" pitchFamily="34" charset="-122"/>
                <a:cs typeface="Cambria" pitchFamily="34" charset="-120"/>
              </a:rPr>
              <a:t>Still On The</a:t>
            </a:r>
            <a:endParaRPr lang="en-US" sz="1250" dirty="0"/>
          </a:p>
          <a:p>
            <a:pPr algn="ctr" indent="0" marL="0">
              <a:buNone/>
            </a:pPr>
            <a:r>
              <a:rPr lang="en-US" sz="1250" b="1" dirty="0">
                <a:solidFill>
                  <a:srgbClr val="1B2A4A"/>
                </a:solidFill>
                <a:latin typeface="Cambria" pitchFamily="34" charset="0"/>
                <a:ea typeface="Cambria" pitchFamily="34" charset="-122"/>
                <a:cs typeface="Cambria" pitchFamily="34" charset="-120"/>
              </a:rPr>
              <a:t>Board</a:t>
            </a:r>
            <a:endParaRPr lang="en-US" sz="1250" dirty="0"/>
          </a:p>
        </p:txBody>
      </p:sp>
      <p:sp>
        <p:nvSpPr>
          <p:cNvPr id="15" name="Text 13"/>
          <p:cNvSpPr txBox="1"/>
          <p:nvPr/>
        </p:nvSpPr>
        <p:spPr>
          <a:xfrm>
            <a:off x="9345168" y="1965960"/>
            <a:ext cx="310896" cy="1371600"/>
          </a:xfrm>
          <a:prstGeom prst="rect">
            <a:avLst/>
          </a:prstGeom>
          <a:noFill/>
          <a:ln/>
        </p:spPr>
        <p:txBody>
          <a:bodyPr wrap="square" lIns="0" tIns="0" rIns="0" bIns="0" rtlCol="0" anchor="ctr"/>
          <a:lstStyle/>
          <a:p>
            <a:pPr algn="ctr" indent="0" marL="0">
              <a:buNone/>
            </a:pPr>
            <a:r>
              <a:rPr lang="en-US" sz="2000" b="1" dirty="0">
                <a:solidFill>
                  <a:srgbClr val="5B6B87"/>
                </a:solidFill>
              </a:rPr>
              <a:t>→</a:t>
            </a:r>
            <a:endParaRPr lang="en-US" sz="2000" dirty="0"/>
          </a:p>
        </p:txBody>
      </p:sp>
      <p:sp>
        <p:nvSpPr>
          <p:cNvPr id="16" name="Shape 14"/>
          <p:cNvSpPr/>
          <p:nvPr/>
        </p:nvSpPr>
        <p:spPr>
          <a:xfrm>
            <a:off x="9656064" y="1965960"/>
            <a:ext cx="1965960" cy="1371600"/>
          </a:xfrm>
          <a:prstGeom prst="roundRect">
            <a:avLst>
              <a:gd name="adj" fmla="val 5333"/>
            </a:avLst>
          </a:prstGeom>
          <a:solidFill>
            <a:srgbClr val="FFFFFF"/>
          </a:solidFill>
          <a:ln w="25400">
            <a:solidFill>
              <a:srgbClr val="D64545"/>
            </a:solidFill>
            <a:prstDash val="solid"/>
          </a:ln>
          <a:effectLst>
            <a:outerShdw sx="100000" sy="100000" kx="0" ky="0" algn="bl" rotWithShape="0" blurRad="50800" dist="19050" dir="5400000">
              <a:srgbClr val="1B2A4A">
                <a:alpha val="12000"/>
              </a:srgbClr>
            </a:outerShdw>
          </a:effectLst>
        </p:spPr>
      </p:sp>
      <p:sp>
        <p:nvSpPr>
          <p:cNvPr id="17" name="Text 15"/>
          <p:cNvSpPr txBox="1"/>
          <p:nvPr/>
        </p:nvSpPr>
        <p:spPr>
          <a:xfrm>
            <a:off x="9656064" y="1965960"/>
            <a:ext cx="1965960" cy="1371600"/>
          </a:xfrm>
          <a:prstGeom prst="rect">
            <a:avLst/>
          </a:prstGeom>
          <a:noFill/>
          <a:ln/>
        </p:spPr>
        <p:txBody>
          <a:bodyPr wrap="square" lIns="0" tIns="0" rIns="0" bIns="0" rtlCol="0" anchor="ctr"/>
          <a:lstStyle/>
          <a:p>
            <a:pPr algn="ctr" indent="0" marL="0">
              <a:buNone/>
            </a:pPr>
            <a:r>
              <a:rPr lang="en-US" sz="1250" b="1" dirty="0">
                <a:solidFill>
                  <a:srgbClr val="1B2A4A"/>
                </a:solidFill>
                <a:latin typeface="Cambria" pitchFamily="34" charset="0"/>
                <a:ea typeface="Cambria" pitchFamily="34" charset="-122"/>
                <a:cs typeface="Cambria" pitchFamily="34" charset="-120"/>
              </a:rPr>
              <a:t>Sends The</a:t>
            </a:r>
            <a:endParaRPr lang="en-US" sz="1250" dirty="0"/>
          </a:p>
          <a:p>
            <a:pPr algn="ctr" indent="0" marL="0">
              <a:buNone/>
            </a:pPr>
            <a:r>
              <a:rPr lang="en-US" sz="1250" b="1" dirty="0">
                <a:solidFill>
                  <a:srgbClr val="1B2A4A"/>
                </a:solidFill>
                <a:latin typeface="Cambria" pitchFamily="34" charset="0"/>
                <a:ea typeface="Cambria" pitchFamily="34" charset="-122"/>
                <a:cs typeface="Cambria" pitchFamily="34" charset="-120"/>
              </a:rPr>
              <a:t>Reply</a:t>
            </a:r>
            <a:endParaRPr lang="en-US" sz="1250" dirty="0"/>
          </a:p>
        </p:txBody>
      </p:sp>
      <p:sp>
        <p:nvSpPr>
          <p:cNvPr id="18" name="Shape 16"/>
          <p:cNvSpPr/>
          <p:nvPr/>
        </p:nvSpPr>
        <p:spPr>
          <a:xfrm>
            <a:off x="548640" y="3611880"/>
            <a:ext cx="11091672" cy="1051560"/>
          </a:xfrm>
          <a:prstGeom prst="roundRect">
            <a:avLst>
              <a:gd name="adj" fmla="val 5217"/>
            </a:avLst>
          </a:prstGeom>
          <a:solidFill>
            <a:srgbClr val="FFFFFF"/>
          </a:solidFill>
          <a:ln w="19050">
            <a:solidFill>
              <a:srgbClr val="FFB627"/>
            </a:solidFill>
            <a:prstDash val="solid"/>
          </a:ln>
          <a:effectLst>
            <a:outerShdw sx="100000" sy="100000" kx="0" ky="0" algn="bl" rotWithShape="0" blurRad="50800" dist="19050" dir="5400000">
              <a:srgbClr val="1B2A4A">
                <a:alpha val="12000"/>
              </a:srgbClr>
            </a:outerShdw>
          </a:effectLst>
        </p:spPr>
      </p:sp>
      <p:sp>
        <p:nvSpPr>
          <p:cNvPr id="19" name="Text 17"/>
          <p:cNvSpPr txBox="1"/>
          <p:nvPr/>
        </p:nvSpPr>
        <p:spPr>
          <a:xfrm>
            <a:off x="822960" y="3611880"/>
            <a:ext cx="10607040" cy="1051560"/>
          </a:xfrm>
          <a:prstGeom prst="rect">
            <a:avLst/>
          </a:prstGeom>
          <a:noFill/>
          <a:ln/>
        </p:spPr>
        <p:txBody>
          <a:bodyPr wrap="square" lIns="0" tIns="0" rIns="0" bIns="0" rtlCol="0" anchor="ctr"/>
          <a:lstStyle/>
          <a:p>
            <a:pPr algn="l" indent="0" marL="0">
              <a:lnSpc>
                <a:spcPct val="125000"/>
              </a:lnSpc>
              <a:buNone/>
            </a:pPr>
            <a:r>
              <a:rPr lang="en-US" sz="1350" dirty="0">
                <a:solidFill>
                  <a:srgbClr val="1B2A4A"/>
                </a:solidFill>
                <a:latin typeface="Calibri" pitchFamily="34" charset="0"/>
                <a:ea typeface="Calibri" pitchFamily="34" charset="-122"/>
                <a:cs typeface="Calibri" pitchFamily="34" charset="-120"/>
              </a:rPr>
              <a:t>If the answer needs live info — like “where's my order” — the system looks that up FIRST, then hands it to the AI just to turn into a nice sentence.</a:t>
            </a:r>
            <a:endParaRPr lang="en-US" sz="1350" dirty="0"/>
          </a:p>
        </p:txBody>
      </p:sp>
      <p:sp>
        <p:nvSpPr>
          <p:cNvPr id="20" name="Shape 18"/>
          <p:cNvSpPr/>
          <p:nvPr/>
        </p:nvSpPr>
        <p:spPr>
          <a:xfrm>
            <a:off x="548640" y="4892040"/>
            <a:ext cx="11091672" cy="1417320"/>
          </a:xfrm>
          <a:prstGeom prst="roundRect">
            <a:avLst>
              <a:gd name="adj" fmla="val 3226"/>
            </a:avLst>
          </a:prstGeom>
          <a:solidFill>
            <a:srgbClr val="142850"/>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21" name="Text 19"/>
          <p:cNvSpPr txBox="1"/>
          <p:nvPr/>
        </p:nvSpPr>
        <p:spPr>
          <a:xfrm>
            <a:off x="822960" y="4892040"/>
            <a:ext cx="10543032" cy="1417320"/>
          </a:xfrm>
          <a:prstGeom prst="rect">
            <a:avLst/>
          </a:prstGeom>
          <a:noFill/>
          <a:ln/>
        </p:spPr>
        <p:txBody>
          <a:bodyPr wrap="square" lIns="0" tIns="0" rIns="0" bIns="0" rtlCol="0" anchor="ctr"/>
          <a:lstStyle/>
          <a:p>
            <a:pPr indent="0" marL="0">
              <a:lnSpc>
                <a:spcPct val="125000"/>
              </a:lnSpc>
              <a:buNone/>
            </a:pPr>
            <a:r>
              <a:rPr lang="en-US" sz="1400" i="1" dirty="0">
                <a:solidFill>
                  <a:srgbClr val="FFFFFF"/>
                </a:solidFill>
                <a:latin typeface="Calibri" pitchFamily="34" charset="0"/>
                <a:ea typeface="Calibri" pitchFamily="34" charset="-122"/>
                <a:cs typeface="Calibri" pitchFamily="34" charset="-120"/>
              </a:rPr>
              <a:t>Nothing new here — it's the same word-by-word guessing from Session 1, and the same whiteboard from Session 2, just wired into a real product. That's what “company uses AI” usually means underneath.</a:t>
            </a:r>
            <a:endParaRPr lang="en-US" sz="1400" dirty="0"/>
          </a:p>
        </p:txBody>
      </p:sp>
      <p:sp>
        <p:nvSpPr>
          <p:cNvPr id="22" name="Text 20"/>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3</a:t>
            </a:r>
            <a:endParaRPr lang="en-US" sz="900" dirty="0"/>
          </a:p>
        </p:txBody>
      </p:sp>
      <p:sp>
        <p:nvSpPr>
          <p:cNvPr id="23" name="Text 21"/>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WHAT'S NEXT</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From How It Works To How You Talk To It</a:t>
            </a:r>
            <a:endParaRPr lang="en-US" sz="3000" dirty="0"/>
          </a:p>
        </p:txBody>
      </p:sp>
      <p:sp>
        <p:nvSpPr>
          <p:cNvPr id="4" name="Shape 2"/>
          <p:cNvSpPr/>
          <p:nvPr/>
        </p:nvSpPr>
        <p:spPr>
          <a:xfrm>
            <a:off x="548640" y="1965960"/>
            <a:ext cx="5349240" cy="2377440"/>
          </a:xfrm>
          <a:prstGeom prst="roundRect">
            <a:avLst>
              <a:gd name="adj" fmla="val 2308"/>
            </a:avLst>
          </a:prstGeom>
          <a:solidFill>
            <a:srgbClr val="FFFFFF"/>
          </a:solidFill>
          <a:ln w="19050">
            <a:solidFill>
              <a:srgbClr val="5B6B87"/>
            </a:solidFill>
            <a:prstDash val="solid"/>
          </a:ln>
          <a:effectLst>
            <a:outerShdw sx="100000" sy="100000" kx="0" ky="0" algn="bl" rotWithShape="0" blurRad="50800" dist="19050" dir="5400000">
              <a:srgbClr val="1B2A4A">
                <a:alpha val="12000"/>
              </a:srgbClr>
            </a:outerShdw>
          </a:effectLst>
        </p:spPr>
      </p:sp>
      <p:sp>
        <p:nvSpPr>
          <p:cNvPr id="5" name="Text 3"/>
          <p:cNvSpPr txBox="1"/>
          <p:nvPr/>
        </p:nvSpPr>
        <p:spPr>
          <a:xfrm>
            <a:off x="868680" y="2194560"/>
            <a:ext cx="4572000" cy="320040"/>
          </a:xfrm>
          <a:prstGeom prst="rect">
            <a:avLst/>
          </a:prstGeom>
          <a:noFill/>
          <a:ln/>
        </p:spPr>
        <p:txBody>
          <a:bodyPr wrap="square" lIns="0" tIns="0" rIns="0" bIns="0" rtlCol="0" anchor="ctr"/>
          <a:lstStyle/>
          <a:p>
            <a:pPr indent="0" marL="0">
              <a:buNone/>
            </a:pPr>
            <a:r>
              <a:rPr lang="en-US" sz="1400" b="1" dirty="0">
                <a:solidFill>
                  <a:srgbClr val="5B6B87"/>
                </a:solidFill>
                <a:latin typeface="Calibri" pitchFamily="34" charset="0"/>
                <a:ea typeface="Calibri" pitchFamily="34" charset="-122"/>
                <a:cs typeface="Calibri" pitchFamily="34" charset="-120"/>
              </a:rPr>
              <a:t>TODAY (DAY 5)</a:t>
            </a:r>
            <a:endParaRPr lang="en-US" sz="1400" dirty="0"/>
          </a:p>
        </p:txBody>
      </p:sp>
      <p:sp>
        <p:nvSpPr>
          <p:cNvPr id="6" name="Text 4"/>
          <p:cNvSpPr txBox="1"/>
          <p:nvPr/>
        </p:nvSpPr>
        <p:spPr>
          <a:xfrm>
            <a:off x="868680" y="2606040"/>
            <a:ext cx="4754880" cy="457200"/>
          </a:xfrm>
          <a:prstGeom prst="rect">
            <a:avLst/>
          </a:prstGeom>
          <a:noFill/>
          <a:ln/>
        </p:spPr>
        <p:txBody>
          <a:bodyPr wrap="square" lIns="0" tIns="0" rIns="0" bIns="0" rtlCol="0" anchor="t"/>
          <a:lstStyle/>
          <a:p>
            <a:pPr algn="l" indent="0" marL="0">
              <a:lnSpc>
                <a:spcPct val="125000"/>
              </a:lnSpc>
              <a:buNone/>
            </a:pPr>
            <a:r>
              <a:rPr lang="en-US" sz="2000" b="1" dirty="0">
                <a:solidFill>
                  <a:srgbClr val="1B2A4A"/>
                </a:solidFill>
                <a:latin typeface="Calibri" pitchFamily="34" charset="0"/>
                <a:ea typeface="Calibri" pitchFamily="34" charset="-122"/>
                <a:cs typeface="Calibri" pitchFamily="34" charset="-120"/>
              </a:rPr>
              <a:t>HOW it works</a:t>
            </a:r>
            <a:endParaRPr lang="en-US" sz="2000" dirty="0"/>
          </a:p>
        </p:txBody>
      </p:sp>
      <p:sp>
        <p:nvSpPr>
          <p:cNvPr id="7" name="Text 5"/>
          <p:cNvSpPr txBox="1"/>
          <p:nvPr/>
        </p:nvSpPr>
        <p:spPr>
          <a:xfrm>
            <a:off x="868680" y="3154680"/>
            <a:ext cx="4754880" cy="1005840"/>
          </a:xfrm>
          <a:prstGeom prst="rect">
            <a:avLst/>
          </a:prstGeom>
          <a:noFill/>
          <a:ln/>
        </p:spPr>
        <p:txBody>
          <a:bodyPr wrap="square" lIns="0" tIns="0" rIns="0" bIns="0" rtlCol="0" anchor="t"/>
          <a:lstStyle/>
          <a:p>
            <a:pPr algn="l" indent="0" marL="0">
              <a:lnSpc>
                <a:spcPct val="135000"/>
              </a:lnSpc>
              <a:buNone/>
            </a:pPr>
            <a:r>
              <a:rPr lang="en-US" sz="1250" dirty="0">
                <a:solidFill>
                  <a:srgbClr val="5B6B87"/>
                </a:solidFill>
                <a:latin typeface="Calibri" pitchFamily="34" charset="0"/>
                <a:ea typeface="Calibri" pitchFamily="34" charset="-122"/>
                <a:cs typeface="Calibri" pitchFamily="34" charset="-120"/>
              </a:rPr>
              <a:t>Next-word prediction, training data, the context window, hallucination</a:t>
            </a:r>
            <a:endParaRPr lang="en-US" sz="1250" dirty="0"/>
          </a:p>
        </p:txBody>
      </p:sp>
      <p:sp>
        <p:nvSpPr>
          <p:cNvPr id="8" name="Text 6"/>
          <p:cNvSpPr txBox="1"/>
          <p:nvPr/>
        </p:nvSpPr>
        <p:spPr>
          <a:xfrm>
            <a:off x="6035040" y="1965960"/>
            <a:ext cx="502920" cy="2377440"/>
          </a:xfrm>
          <a:prstGeom prst="rect">
            <a:avLst/>
          </a:prstGeom>
          <a:noFill/>
          <a:ln/>
        </p:spPr>
        <p:txBody>
          <a:bodyPr wrap="square" lIns="0" tIns="0" rIns="0" bIns="0" rtlCol="0" anchor="ctr"/>
          <a:lstStyle/>
          <a:p>
            <a:pPr algn="ctr" indent="0" marL="0">
              <a:buNone/>
            </a:pPr>
            <a:r>
              <a:rPr lang="en-US" sz="3000" b="1" dirty="0">
                <a:solidFill>
                  <a:srgbClr val="FFB627"/>
                </a:solidFill>
              </a:rPr>
              <a:t>→</a:t>
            </a:r>
            <a:endParaRPr lang="en-US" sz="3000" dirty="0"/>
          </a:p>
        </p:txBody>
      </p:sp>
      <p:sp>
        <p:nvSpPr>
          <p:cNvPr id="9" name="Shape 7"/>
          <p:cNvSpPr/>
          <p:nvPr/>
        </p:nvSpPr>
        <p:spPr>
          <a:xfrm>
            <a:off x="6675120" y="1965960"/>
            <a:ext cx="4782312" cy="2377440"/>
          </a:xfrm>
          <a:prstGeom prst="roundRect">
            <a:avLst>
              <a:gd name="adj" fmla="val 2308"/>
            </a:avLst>
          </a:prstGeom>
          <a:solidFill>
            <a:srgbClr val="FFFFFF"/>
          </a:solidFill>
          <a:ln w="19050">
            <a:solidFill>
              <a:srgbClr val="FFB627"/>
            </a:solidFill>
            <a:prstDash val="solid"/>
          </a:ln>
          <a:effectLst>
            <a:outerShdw sx="100000" sy="100000" kx="0" ky="0" algn="bl" rotWithShape="0" blurRad="50800" dist="19050" dir="5400000">
              <a:srgbClr val="1B2A4A">
                <a:alpha val="12000"/>
              </a:srgbClr>
            </a:outerShdw>
          </a:effectLst>
        </p:spPr>
      </p:sp>
      <p:sp>
        <p:nvSpPr>
          <p:cNvPr id="10" name="Text 8"/>
          <p:cNvSpPr txBox="1"/>
          <p:nvPr/>
        </p:nvSpPr>
        <p:spPr>
          <a:xfrm>
            <a:off x="6995160" y="2194560"/>
            <a:ext cx="4572000" cy="320040"/>
          </a:xfrm>
          <a:prstGeom prst="rect">
            <a:avLst/>
          </a:prstGeom>
          <a:noFill/>
          <a:ln/>
        </p:spPr>
        <p:txBody>
          <a:bodyPr wrap="square" lIns="0" tIns="0" rIns="0" bIns="0" rtlCol="0" anchor="ctr"/>
          <a:lstStyle/>
          <a:p>
            <a:pPr indent="0" marL="0">
              <a:buNone/>
            </a:pPr>
            <a:r>
              <a:rPr lang="en-US" sz="1400" b="1" dirty="0">
                <a:solidFill>
                  <a:srgbClr val="FFB627"/>
                </a:solidFill>
                <a:latin typeface="Calibri" pitchFamily="34" charset="0"/>
                <a:ea typeface="Calibri" pitchFamily="34" charset="-122"/>
                <a:cs typeface="Calibri" pitchFamily="34" charset="-120"/>
              </a:rPr>
              <a:t>TOMORROW (DAY 6)</a:t>
            </a:r>
            <a:endParaRPr lang="en-US" sz="1400" dirty="0"/>
          </a:p>
        </p:txBody>
      </p:sp>
      <p:sp>
        <p:nvSpPr>
          <p:cNvPr id="11" name="Text 9"/>
          <p:cNvSpPr txBox="1"/>
          <p:nvPr/>
        </p:nvSpPr>
        <p:spPr>
          <a:xfrm>
            <a:off x="6995160" y="2606040"/>
            <a:ext cx="4206240" cy="457200"/>
          </a:xfrm>
          <a:prstGeom prst="rect">
            <a:avLst/>
          </a:prstGeom>
          <a:noFill/>
          <a:ln/>
        </p:spPr>
        <p:txBody>
          <a:bodyPr wrap="square" lIns="0" tIns="0" rIns="0" bIns="0" rtlCol="0" anchor="t"/>
          <a:lstStyle/>
          <a:p>
            <a:pPr algn="l" indent="0" marL="0">
              <a:lnSpc>
                <a:spcPct val="125000"/>
              </a:lnSpc>
              <a:buNone/>
            </a:pPr>
            <a:r>
              <a:rPr lang="en-US" sz="2000" b="1" dirty="0">
                <a:solidFill>
                  <a:srgbClr val="1B2A4A"/>
                </a:solidFill>
                <a:latin typeface="Calibri" pitchFamily="34" charset="0"/>
                <a:ea typeface="Calibri" pitchFamily="34" charset="-122"/>
                <a:cs typeface="Calibri" pitchFamily="34" charset="-120"/>
              </a:rPr>
              <a:t>HOW you talk to it</a:t>
            </a:r>
            <a:endParaRPr lang="en-US" sz="2000" dirty="0"/>
          </a:p>
        </p:txBody>
      </p:sp>
      <p:sp>
        <p:nvSpPr>
          <p:cNvPr id="12" name="Text 10"/>
          <p:cNvSpPr txBox="1"/>
          <p:nvPr/>
        </p:nvSpPr>
        <p:spPr>
          <a:xfrm>
            <a:off x="6995160" y="3154680"/>
            <a:ext cx="4206240" cy="1005840"/>
          </a:xfrm>
          <a:prstGeom prst="rect">
            <a:avLst/>
          </a:prstGeom>
          <a:noFill/>
          <a:ln/>
        </p:spPr>
        <p:txBody>
          <a:bodyPr wrap="square" lIns="0" tIns="0" rIns="0" bIns="0" rtlCol="0" anchor="t"/>
          <a:lstStyle/>
          <a:p>
            <a:pPr algn="l" indent="0" marL="0">
              <a:lnSpc>
                <a:spcPct val="135000"/>
              </a:lnSpc>
              <a:buNone/>
            </a:pPr>
            <a:r>
              <a:rPr lang="en-US" sz="1250" dirty="0">
                <a:solidFill>
                  <a:srgbClr val="5B6B87"/>
                </a:solidFill>
                <a:latin typeface="Calibri" pitchFamily="34" charset="0"/>
                <a:ea typeface="Calibri" pitchFamily="34" charset="-122"/>
                <a:cs typeface="Calibri" pitchFamily="34" charset="-120"/>
              </a:rPr>
              <a:t>Same model, poor prompt vs. great prompt — that's Prompt Engineering</a:t>
            </a:r>
            <a:endParaRPr lang="en-US" sz="1250" dirty="0"/>
          </a:p>
        </p:txBody>
      </p:sp>
      <p:sp>
        <p:nvSpPr>
          <p:cNvPr id="13" name="Shape 11"/>
          <p:cNvSpPr/>
          <p:nvPr/>
        </p:nvSpPr>
        <p:spPr>
          <a:xfrm>
            <a:off x="548640" y="4617720"/>
            <a:ext cx="11091672" cy="1554480"/>
          </a:xfrm>
          <a:prstGeom prst="roundRect">
            <a:avLst>
              <a:gd name="adj" fmla="val 2941"/>
            </a:avLst>
          </a:prstGeom>
          <a:solidFill>
            <a:srgbClr val="142850"/>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14" name="Text 12"/>
          <p:cNvSpPr txBox="1"/>
          <p:nvPr/>
        </p:nvSpPr>
        <p:spPr>
          <a:xfrm>
            <a:off x="822960" y="4617720"/>
            <a:ext cx="10543032" cy="1554480"/>
          </a:xfrm>
          <a:prstGeom prst="rect">
            <a:avLst/>
          </a:prstGeom>
          <a:noFill/>
          <a:ln/>
        </p:spPr>
        <p:txBody>
          <a:bodyPr wrap="square" lIns="0" tIns="0" rIns="0" bIns="0" rtlCol="0" anchor="ctr"/>
          <a:lstStyle/>
          <a:p>
            <a:pPr indent="0" marL="0">
              <a:lnSpc>
                <a:spcPct val="125000"/>
              </a:lnSpc>
              <a:buNone/>
            </a:pPr>
            <a:r>
              <a:rPr lang="en-US" sz="1400" i="1" dirty="0">
                <a:solidFill>
                  <a:srgbClr val="FFFFFF"/>
                </a:solidFill>
                <a:latin typeface="Calibri" pitchFamily="34" charset="0"/>
                <a:ea typeface="Calibri" pitchFamily="34" charset="-122"/>
                <a:cs typeface="Calibri" pitchFamily="34" charset="-120"/>
              </a:rPr>
              <a:t>Everything from today still applies — a good prompt works WITH the token-by-token loop and the context window, not against them. Tomorrow builds directly on today.</a:t>
            </a:r>
            <a:endParaRPr lang="en-US" sz="1400" dirty="0"/>
          </a:p>
        </p:txBody>
      </p:sp>
      <p:sp>
        <p:nvSpPr>
          <p:cNvPr id="15" name="Text 13"/>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3</a:t>
            </a:r>
            <a:endParaRPr lang="en-US" sz="900" dirty="0"/>
          </a:p>
        </p:txBody>
      </p:sp>
      <p:sp>
        <p:nvSpPr>
          <p:cNvPr id="16" name="Text 14"/>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PRACTICE ROUND</a:t>
            </a:r>
            <a:endParaRPr lang="en-US" sz="1200" dirty="0"/>
          </a:p>
        </p:txBody>
      </p:sp>
      <p:sp>
        <p:nvSpPr>
          <p:cNvPr id="3" name="Text 1"/>
          <p:cNvSpPr txBox="1"/>
          <p:nvPr/>
        </p:nvSpPr>
        <p:spPr>
          <a:xfrm>
            <a:off x="548640" y="777240"/>
            <a:ext cx="10058400" cy="73152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Assessment-Style Questions</a:t>
            </a:r>
            <a:endParaRPr lang="en-US" sz="3000" dirty="0"/>
          </a:p>
        </p:txBody>
      </p:sp>
      <p:sp>
        <p:nvSpPr>
          <p:cNvPr id="4" name="Shape 2"/>
          <p:cNvSpPr/>
          <p:nvPr/>
        </p:nvSpPr>
        <p:spPr>
          <a:xfrm>
            <a:off x="548640" y="1828800"/>
            <a:ext cx="11091672" cy="1463040"/>
          </a:xfrm>
          <a:prstGeom prst="roundRect">
            <a:avLst>
              <a:gd name="adj" fmla="val 3750"/>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5" name="Shape 3"/>
          <p:cNvSpPr/>
          <p:nvPr/>
        </p:nvSpPr>
        <p:spPr>
          <a:xfrm>
            <a:off x="822960" y="2011680"/>
            <a:ext cx="548640" cy="548640"/>
          </a:xfrm>
          <a:prstGeom prst="roundRect">
            <a:avLst>
              <a:gd name="adj" fmla="val 50000"/>
            </a:avLst>
          </a:prstGeom>
          <a:solidFill>
            <a:srgbClr val="FFB627"/>
          </a:solidFill>
          <a:ln/>
        </p:spPr>
      </p:sp>
      <p:sp>
        <p:nvSpPr>
          <p:cNvPr id="6" name="Text 4"/>
          <p:cNvSpPr txBox="1"/>
          <p:nvPr/>
        </p:nvSpPr>
        <p:spPr>
          <a:xfrm>
            <a:off x="822960" y="2011680"/>
            <a:ext cx="5486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508760" y="1920240"/>
            <a:ext cx="9966960" cy="594360"/>
          </a:xfrm>
          <a:prstGeom prst="rect">
            <a:avLst/>
          </a:prstGeom>
          <a:noFill/>
          <a:ln/>
        </p:spPr>
        <p:txBody>
          <a:bodyPr wrap="square" lIns="0" tIns="0" rIns="0" bIns="0" rtlCol="0" anchor="t"/>
          <a:lstStyle/>
          <a:p>
            <a:pPr algn="l" indent="0" marL="0">
              <a:lnSpc>
                <a:spcPct val="125000"/>
              </a:lnSpc>
              <a:buNone/>
            </a:pPr>
            <a:r>
              <a:rPr lang="en-US" sz="1250" b="1" dirty="0">
                <a:solidFill>
                  <a:srgbClr val="1B2A4A"/>
                </a:solidFill>
                <a:latin typeface="Calibri" pitchFamily="34" charset="0"/>
                <a:ea typeface="Calibri" pitchFamily="34" charset="-122"/>
                <a:cs typeface="Calibri" pitchFamily="34" charset="-120"/>
              </a:rPr>
              <a:t>A model gives a fluent, specific-sounding answer that turns out to be completely made up. What is this called, and why does it happen?</a:t>
            </a:r>
            <a:endParaRPr lang="en-US" sz="1250" dirty="0"/>
          </a:p>
        </p:txBody>
      </p:sp>
      <p:sp>
        <p:nvSpPr>
          <p:cNvPr id="8" name="Text 6"/>
          <p:cNvSpPr txBox="1"/>
          <p:nvPr/>
        </p:nvSpPr>
        <p:spPr>
          <a:xfrm>
            <a:off x="1508760" y="2578608"/>
            <a:ext cx="9966960" cy="640080"/>
          </a:xfrm>
          <a:prstGeom prst="rect">
            <a:avLst/>
          </a:prstGeom>
          <a:noFill/>
          <a:ln/>
        </p:spPr>
        <p:txBody>
          <a:bodyPr wrap="square" lIns="0" tIns="0" rIns="0" bIns="0" rtlCol="0" anchor="t"/>
          <a:lstStyle/>
          <a:p>
            <a:pPr algn="l" indent="0" marL="0">
              <a:lnSpc>
                <a:spcPct val="125000"/>
              </a:lnSpc>
              <a:buNone/>
            </a:pPr>
            <a:r>
              <a:rPr lang="en-US" sz="1150" i="1" dirty="0">
                <a:solidFill>
                  <a:srgbClr val="5B6B87"/>
                </a:solidFill>
                <a:latin typeface="Calibri" pitchFamily="34" charset="0"/>
                <a:ea typeface="Calibri" pitchFamily="34" charset="-122"/>
                <a:cs typeface="Calibri" pitchFamily="34" charset="-120"/>
              </a:rPr>
              <a:t>Hallucination — the model predicted a plausible next sequence of words; it wasn't retrieving a verified fact.</a:t>
            </a:r>
            <a:endParaRPr lang="en-US" sz="1150" dirty="0"/>
          </a:p>
        </p:txBody>
      </p:sp>
      <p:sp>
        <p:nvSpPr>
          <p:cNvPr id="9" name="Shape 7"/>
          <p:cNvSpPr/>
          <p:nvPr/>
        </p:nvSpPr>
        <p:spPr>
          <a:xfrm>
            <a:off x="548640" y="3429000"/>
            <a:ext cx="11091672" cy="1463040"/>
          </a:xfrm>
          <a:prstGeom prst="roundRect">
            <a:avLst>
              <a:gd name="adj" fmla="val 3750"/>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10" name="Shape 8"/>
          <p:cNvSpPr/>
          <p:nvPr/>
        </p:nvSpPr>
        <p:spPr>
          <a:xfrm>
            <a:off x="822960" y="3611880"/>
            <a:ext cx="548640" cy="548640"/>
          </a:xfrm>
          <a:prstGeom prst="roundRect">
            <a:avLst>
              <a:gd name="adj" fmla="val 50000"/>
            </a:avLst>
          </a:prstGeom>
          <a:solidFill>
            <a:srgbClr val="FFB627"/>
          </a:solidFill>
          <a:ln/>
        </p:spPr>
      </p:sp>
      <p:sp>
        <p:nvSpPr>
          <p:cNvPr id="11" name="Text 9"/>
          <p:cNvSpPr txBox="1"/>
          <p:nvPr/>
        </p:nvSpPr>
        <p:spPr>
          <a:xfrm>
            <a:off x="822960" y="3611880"/>
            <a:ext cx="5486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1508760" y="3520440"/>
            <a:ext cx="9966960" cy="594360"/>
          </a:xfrm>
          <a:prstGeom prst="rect">
            <a:avLst/>
          </a:prstGeom>
          <a:noFill/>
          <a:ln/>
        </p:spPr>
        <p:txBody>
          <a:bodyPr wrap="square" lIns="0" tIns="0" rIns="0" bIns="0" rtlCol="0" anchor="t"/>
          <a:lstStyle/>
          <a:p>
            <a:pPr algn="l" indent="0" marL="0">
              <a:lnSpc>
                <a:spcPct val="125000"/>
              </a:lnSpc>
              <a:buNone/>
            </a:pPr>
            <a:r>
              <a:rPr lang="en-US" sz="1250" b="1" dirty="0">
                <a:solidFill>
                  <a:srgbClr val="1B2A4A"/>
                </a:solidFill>
                <a:latin typeface="Calibri" pitchFamily="34" charset="0"/>
                <a:ea typeface="Calibri" pitchFamily="34" charset="-122"/>
                <a:cs typeface="Calibri" pitchFamily="34" charset="-120"/>
              </a:rPr>
              <a:t>You ask a model about something from earlier in a very long chat and it seems to have forgotten. What's the most likely mechanical reason?</a:t>
            </a:r>
            <a:endParaRPr lang="en-US" sz="1250" dirty="0"/>
          </a:p>
        </p:txBody>
      </p:sp>
      <p:sp>
        <p:nvSpPr>
          <p:cNvPr id="13" name="Text 11"/>
          <p:cNvSpPr txBox="1"/>
          <p:nvPr/>
        </p:nvSpPr>
        <p:spPr>
          <a:xfrm>
            <a:off x="1508760" y="4178808"/>
            <a:ext cx="9966960" cy="640080"/>
          </a:xfrm>
          <a:prstGeom prst="rect">
            <a:avLst/>
          </a:prstGeom>
          <a:noFill/>
          <a:ln/>
        </p:spPr>
        <p:txBody>
          <a:bodyPr wrap="square" lIns="0" tIns="0" rIns="0" bIns="0" rtlCol="0" anchor="t"/>
          <a:lstStyle/>
          <a:p>
            <a:pPr algn="l" indent="0" marL="0">
              <a:lnSpc>
                <a:spcPct val="125000"/>
              </a:lnSpc>
              <a:buNone/>
            </a:pPr>
            <a:r>
              <a:rPr lang="en-US" sz="1150" i="1" dirty="0">
                <a:solidFill>
                  <a:srgbClr val="5B6B87"/>
                </a:solidFill>
                <a:latin typeface="Calibri" pitchFamily="34" charset="0"/>
                <a:ea typeface="Calibri" pitchFamily="34" charset="-122"/>
                <a:cs typeface="Calibri" pitchFamily="34" charset="-120"/>
              </a:rPr>
              <a:t>That part of the conversation fell outside the context window — not memory loss in the human sense.</a:t>
            </a:r>
            <a:endParaRPr lang="en-US" sz="1150" dirty="0"/>
          </a:p>
        </p:txBody>
      </p:sp>
      <p:sp>
        <p:nvSpPr>
          <p:cNvPr id="14" name="Shape 12"/>
          <p:cNvSpPr/>
          <p:nvPr/>
        </p:nvSpPr>
        <p:spPr>
          <a:xfrm>
            <a:off x="548640" y="5029200"/>
            <a:ext cx="11091672" cy="1463040"/>
          </a:xfrm>
          <a:prstGeom prst="roundRect">
            <a:avLst>
              <a:gd name="adj" fmla="val 3750"/>
            </a:avLst>
          </a:prstGeom>
          <a:solidFill>
            <a:srgbClr val="FFFFFF"/>
          </a:solidFill>
          <a:ln w="19050">
            <a:solidFill>
              <a:srgbClr val="D8DEEA"/>
            </a:solidFill>
            <a:prstDash val="solid"/>
          </a:ln>
          <a:effectLst>
            <a:outerShdw sx="100000" sy="100000" kx="0" ky="0" algn="bl" rotWithShape="0" blurRad="50800" dist="19050" dir="5400000">
              <a:srgbClr val="1B2A4A">
                <a:alpha val="12000"/>
              </a:srgbClr>
            </a:outerShdw>
          </a:effectLst>
        </p:spPr>
      </p:sp>
      <p:sp>
        <p:nvSpPr>
          <p:cNvPr id="15" name="Shape 13"/>
          <p:cNvSpPr/>
          <p:nvPr/>
        </p:nvSpPr>
        <p:spPr>
          <a:xfrm>
            <a:off x="822960" y="5212080"/>
            <a:ext cx="548640" cy="548640"/>
          </a:xfrm>
          <a:prstGeom prst="roundRect">
            <a:avLst>
              <a:gd name="adj" fmla="val 50000"/>
            </a:avLst>
          </a:prstGeom>
          <a:solidFill>
            <a:srgbClr val="FFB627"/>
          </a:solidFill>
          <a:ln/>
        </p:spPr>
      </p:sp>
      <p:sp>
        <p:nvSpPr>
          <p:cNvPr id="16" name="Text 14"/>
          <p:cNvSpPr txBox="1"/>
          <p:nvPr/>
        </p:nvSpPr>
        <p:spPr>
          <a:xfrm>
            <a:off x="822960" y="5212080"/>
            <a:ext cx="5486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1508760" y="5120640"/>
            <a:ext cx="9966960" cy="594360"/>
          </a:xfrm>
          <a:prstGeom prst="rect">
            <a:avLst/>
          </a:prstGeom>
          <a:noFill/>
          <a:ln/>
        </p:spPr>
        <p:txBody>
          <a:bodyPr wrap="square" lIns="0" tIns="0" rIns="0" bIns="0" rtlCol="0" anchor="t"/>
          <a:lstStyle/>
          <a:p>
            <a:pPr algn="l" indent="0" marL="0">
              <a:lnSpc>
                <a:spcPct val="125000"/>
              </a:lnSpc>
              <a:buNone/>
            </a:pPr>
            <a:r>
              <a:rPr lang="en-US" sz="1250" b="1" dirty="0">
                <a:solidFill>
                  <a:srgbClr val="1B2A4A"/>
                </a:solidFill>
                <a:latin typeface="Calibri" pitchFamily="34" charset="0"/>
                <a:ea typeface="Calibri" pitchFamily="34" charset="-122"/>
                <a:cs typeface="Calibri" pitchFamily="34" charset="-120"/>
              </a:rPr>
              <a:t>Is a spam filter (Day 4) and a chatbot that drafts email replies (today) doing the same kind of task? Why or why not?</a:t>
            </a:r>
            <a:endParaRPr lang="en-US" sz="1250" dirty="0"/>
          </a:p>
        </p:txBody>
      </p:sp>
      <p:sp>
        <p:nvSpPr>
          <p:cNvPr id="18" name="Text 16"/>
          <p:cNvSpPr txBox="1"/>
          <p:nvPr/>
        </p:nvSpPr>
        <p:spPr>
          <a:xfrm>
            <a:off x="1508760" y="5779008"/>
            <a:ext cx="9966960" cy="640080"/>
          </a:xfrm>
          <a:prstGeom prst="rect">
            <a:avLst/>
          </a:prstGeom>
          <a:noFill/>
          <a:ln/>
        </p:spPr>
        <p:txBody>
          <a:bodyPr wrap="square" lIns="0" tIns="0" rIns="0" bIns="0" rtlCol="0" anchor="t"/>
          <a:lstStyle/>
          <a:p>
            <a:pPr algn="l" indent="0" marL="0">
              <a:lnSpc>
                <a:spcPct val="125000"/>
              </a:lnSpc>
              <a:buNone/>
            </a:pPr>
            <a:r>
              <a:rPr lang="en-US" sz="1150" i="1" dirty="0">
                <a:solidFill>
                  <a:srgbClr val="5B6B87"/>
                </a:solidFill>
                <a:latin typeface="Calibri" pitchFamily="34" charset="0"/>
                <a:ea typeface="Calibri" pitchFamily="34" charset="-122"/>
                <a:cs typeface="Calibri" pitchFamily="34" charset="-120"/>
              </a:rPr>
              <a:t>No — the spam filter predicts ONE label from a fixed set; the chatbot generates NEW text, word by word, that never existed before.</a:t>
            </a:r>
            <a:endParaRPr lang="en-US" sz="1150" dirty="0"/>
          </a:p>
        </p:txBody>
      </p:sp>
      <p:sp>
        <p:nvSpPr>
          <p:cNvPr id="19" name="Text 17"/>
          <p:cNvSpPr txBox="1"/>
          <p:nvPr/>
        </p:nvSpPr>
        <p:spPr>
          <a:xfrm>
            <a:off x="548640" y="6492240"/>
            <a:ext cx="5852160" cy="274320"/>
          </a:xfrm>
          <a:prstGeom prst="rect">
            <a:avLst/>
          </a:prstGeom>
          <a:noFill/>
          <a:ln/>
        </p:spPr>
        <p:txBody>
          <a:bodyPr wrap="square" lIns="0" tIns="0" rIns="0" bIns="0" rtlCol="0" anchor="ctr"/>
          <a:lstStyle/>
          <a:p>
            <a:pPr algn="l" indent="0" marL="0">
              <a:buNone/>
            </a:pPr>
            <a:r>
              <a:rPr lang="en-US" sz="900" dirty="0">
                <a:solidFill>
                  <a:srgbClr val="5B6B87"/>
                </a:solidFill>
                <a:latin typeface="Calibri" pitchFamily="34" charset="0"/>
                <a:ea typeface="Calibri" pitchFamily="34" charset="-122"/>
                <a:cs typeface="Calibri" pitchFamily="34" charset="-120"/>
              </a:rPr>
              <a:t>Day 5 · Session 3</a:t>
            </a:r>
            <a:endParaRPr lang="en-US" sz="900" dirty="0"/>
          </a:p>
        </p:txBody>
      </p:sp>
      <p:sp>
        <p:nvSpPr>
          <p:cNvPr id="20" name="Text 18"/>
          <p:cNvSpPr txBox="1"/>
          <p:nvPr/>
        </p:nvSpPr>
        <p:spPr>
          <a:xfrm>
            <a:off x="11521440" y="6492240"/>
            <a:ext cx="365760" cy="274320"/>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731520" y="2286000"/>
            <a:ext cx="10515600" cy="365760"/>
          </a:xfrm>
          <a:prstGeom prst="rect">
            <a:avLst/>
          </a:prstGeom>
          <a:noFill/>
          <a:ln/>
        </p:spPr>
        <p:txBody>
          <a:bodyPr wrap="square" lIns="0" tIns="0" rIns="0" bIns="0" rtlCol="0" anchor="ctr"/>
          <a:lstStyle/>
          <a:p>
            <a:pPr indent="0" marL="0">
              <a:buNone/>
            </a:pPr>
            <a:r>
              <a:rPr lang="en-US" sz="1400" b="1" spc="300" kern="0" dirty="0">
                <a:solidFill>
                  <a:srgbClr val="FFB627"/>
                </a:solidFill>
                <a:latin typeface="Calibri" pitchFamily="34" charset="0"/>
                <a:ea typeface="Calibri" pitchFamily="34" charset="-122"/>
                <a:cs typeface="Calibri" pitchFamily="34" charset="-120"/>
              </a:rPr>
              <a:t>DAY 5 COMPLETE</a:t>
            </a:r>
            <a:endParaRPr lang="en-US" sz="1400" dirty="0"/>
          </a:p>
        </p:txBody>
      </p:sp>
      <p:sp>
        <p:nvSpPr>
          <p:cNvPr id="3" name="Text 1"/>
          <p:cNvSpPr txBox="1"/>
          <p:nvPr/>
        </p:nvSpPr>
        <p:spPr>
          <a:xfrm>
            <a:off x="731520" y="2697480"/>
            <a:ext cx="10515600" cy="10058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You Now Understand How GenAI Actually Works</a:t>
            </a:r>
            <a:endParaRPr lang="en-US" sz="3200" dirty="0"/>
          </a:p>
        </p:txBody>
      </p:sp>
      <p:sp>
        <p:nvSpPr>
          <p:cNvPr id="4" name="Text 2"/>
          <p:cNvSpPr txBox="1"/>
          <p:nvPr/>
        </p:nvSpPr>
        <p:spPr>
          <a:xfrm>
            <a:off x="731520" y="3840480"/>
            <a:ext cx="8961120" cy="1463040"/>
          </a:xfrm>
          <a:prstGeom prst="rect">
            <a:avLst/>
          </a:prstGeom>
          <a:noFill/>
          <a:ln/>
        </p:spPr>
        <p:txBody>
          <a:bodyPr wrap="square" lIns="0" tIns="0" rIns="0" bIns="0" rtlCol="0" anchor="ctr"/>
          <a:lstStyle/>
          <a:p>
            <a:pPr indent="0" marL="0">
              <a:lnSpc>
                <a:spcPct val="140000"/>
              </a:lnSpc>
              <a:buNone/>
            </a:pPr>
            <a:r>
              <a:rPr lang="en-US" sz="1500" i="1" dirty="0">
                <a:solidFill>
                  <a:srgbClr val="D8DEEA"/>
                </a:solidFill>
                <a:latin typeface="Calibri" pitchFamily="34" charset="0"/>
                <a:ea typeface="Calibri" pitchFamily="34" charset="-122"/>
                <a:cs typeface="Calibri" pitchFamily="34" charset="-120"/>
              </a:rPr>
              <a:t>Today you learned WHAT makes GenAI different from Day 4's ML, HOW text is generated one word at a time, WHY hallucination happens, and WHAT the context window really means. Tomorrow we build on this: Prompt Engineering — how to talk to these models well.</a:t>
            </a:r>
            <a:endParaRPr lang="en-US" sz="1500" dirty="0"/>
          </a:p>
        </p:txBody>
      </p:sp>
      <p:sp>
        <p:nvSpPr>
          <p:cNvPr id="5" name="Text 3"/>
          <p:cNvSpPr txBox="1"/>
          <p:nvPr/>
        </p:nvSpPr>
        <p:spPr>
          <a:xfrm>
            <a:off x="731520" y="6309360"/>
            <a:ext cx="7315200" cy="365760"/>
          </a:xfrm>
          <a:prstGeom prst="rect">
            <a:avLst/>
          </a:prstGeom>
          <a:noFill/>
          <a:ln/>
        </p:spPr>
        <p:txBody>
          <a:bodyPr wrap="square" lIns="0" tIns="0" rIns="0" bIns="0" rtlCol="0" anchor="ctr"/>
          <a:lstStyle/>
          <a:p>
            <a:pPr indent="0" marL="0">
              <a:buNone/>
            </a:pPr>
            <a:r>
              <a:rPr lang="en-US" sz="1100" dirty="0">
                <a:solidFill>
                  <a:srgbClr val="D8DEEA"/>
                </a:solidFill>
                <a:latin typeface="Calibri" pitchFamily="34" charset="0"/>
                <a:ea typeface="Calibri" pitchFamily="34" charset="-122"/>
                <a:cs typeface="Calibri" pitchFamily="34" charset="-120"/>
              </a:rPr>
              <a:t>Day 5 · AI Literacy — GenAI &amp; LLMs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2026-09-08T10:54:42Z</dcterms:created>
  <dcterms:modified xsi:type="dcterms:W3CDTF">2026-09-08T10:54:42Z</dcterms:modified>
</cp:coreProperties>
</file>